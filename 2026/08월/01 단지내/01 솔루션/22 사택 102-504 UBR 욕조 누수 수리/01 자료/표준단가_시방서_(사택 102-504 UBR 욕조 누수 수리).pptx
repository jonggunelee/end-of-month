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56" r:id="rId2"/>
    <p:sldId id="266" r:id="rId3"/>
    <p:sldId id="267" r:id="rId4"/>
    <p:sldId id="269" r:id="rId5"/>
  </p:sldIdLst>
  <p:sldSz cx="6858000" cy="9144000" type="screen4x3"/>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4859" autoAdjust="0"/>
    <p:restoredTop sz="94660"/>
  </p:normalViewPr>
  <p:slideViewPr>
    <p:cSldViewPr>
      <p:cViewPr varScale="1">
        <p:scale>
          <a:sx n="75" d="100"/>
          <a:sy n="75" d="100"/>
        </p:scale>
        <p:origin x="1002" y="78"/>
      </p:cViewPr>
      <p:guideLst>
        <p:guide orient="horz" pos="2880"/>
        <p:guide pos="216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BB19F07-D06E-4D7D-9620-D53EFD68A149}" type="datetimeFigureOut">
              <a:rPr lang="ko-KR" altLang="en-US" smtClean="0"/>
              <a:t>2026-07-06</a:t>
            </a:fld>
            <a:endParaRPr lang="ko-KR" altLang="en-US"/>
          </a:p>
        </p:txBody>
      </p:sp>
      <p:sp>
        <p:nvSpPr>
          <p:cNvPr id="4" name="슬라이드 이미지 개체 틀 3"/>
          <p:cNvSpPr>
            <a:spLocks noGrp="1" noRot="1" noChangeAspect="1"/>
          </p:cNvSpPr>
          <p:nvPr>
            <p:ph type="sldImg" idx="2"/>
          </p:nvPr>
        </p:nvSpPr>
        <p:spPr>
          <a:xfrm>
            <a:off x="2143125" y="685800"/>
            <a:ext cx="2571750" cy="34290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266A5FE-0FDC-4011-B4F9-598B584BD968}" type="slidenum">
              <a:rPr lang="ko-KR" altLang="en-US" smtClean="0"/>
              <a:t>‹#›</a:t>
            </a:fld>
            <a:endParaRPr lang="ko-KR" altLang="en-US"/>
          </a:p>
        </p:txBody>
      </p:sp>
    </p:spTree>
    <p:extLst>
      <p:ext uri="{BB962C8B-B14F-4D97-AF65-F5344CB8AC3E}">
        <p14:creationId xmlns:p14="http://schemas.microsoft.com/office/powerpoint/2010/main" val="416000132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2266A5FE-0FDC-4011-B4F9-598B584BD968}" type="slidenum">
              <a:rPr lang="ko-KR" altLang="en-US" smtClean="0"/>
              <a:t>1</a:t>
            </a:fld>
            <a:endParaRPr lang="ko-KR" altLang="en-US"/>
          </a:p>
        </p:txBody>
      </p:sp>
    </p:spTree>
    <p:extLst>
      <p:ext uri="{BB962C8B-B14F-4D97-AF65-F5344CB8AC3E}">
        <p14:creationId xmlns:p14="http://schemas.microsoft.com/office/powerpoint/2010/main" val="32770761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2266A5FE-0FDC-4011-B4F9-598B584BD968}" type="slidenum">
              <a:rPr lang="ko-KR" altLang="en-US" smtClean="0"/>
              <a:t>4</a:t>
            </a:fld>
            <a:endParaRPr lang="ko-KR" altLang="en-US"/>
          </a:p>
        </p:txBody>
      </p:sp>
    </p:spTree>
    <p:extLst>
      <p:ext uri="{BB962C8B-B14F-4D97-AF65-F5344CB8AC3E}">
        <p14:creationId xmlns:p14="http://schemas.microsoft.com/office/powerpoint/2010/main" val="29033558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514350" y="2840568"/>
            <a:ext cx="5829300" cy="1960033"/>
          </a:xfrm>
        </p:spPr>
        <p:txBody>
          <a:bodyPr/>
          <a:lstStyle/>
          <a:p>
            <a:r>
              <a:rPr lang="ko-KR" altLang="en-US"/>
              <a:t>마스터 제목 스타일 편집</a:t>
            </a:r>
          </a:p>
        </p:txBody>
      </p:sp>
      <p:sp>
        <p:nvSpPr>
          <p:cNvPr id="3" name="부제목 2"/>
          <p:cNvSpPr>
            <a:spLocks noGrp="1"/>
          </p:cNvSpPr>
          <p:nvPr>
            <p:ph type="subTitle" idx="1"/>
          </p:nvPr>
        </p:nvSpPr>
        <p:spPr>
          <a:xfrm>
            <a:off x="1028700" y="5181600"/>
            <a:ext cx="4800600" cy="23368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a:t>마스터 부제목 스타일 편집</a:t>
            </a:r>
          </a:p>
        </p:txBody>
      </p:sp>
      <p:sp>
        <p:nvSpPr>
          <p:cNvPr id="4" name="날짜 개체 틀 3"/>
          <p:cNvSpPr>
            <a:spLocks noGrp="1"/>
          </p:cNvSpPr>
          <p:nvPr>
            <p:ph type="dt" sz="half" idx="10"/>
          </p:nvPr>
        </p:nvSpPr>
        <p:spPr/>
        <p:txBody>
          <a:bodyPr/>
          <a:lstStyle/>
          <a:p>
            <a:fld id="{4C6A6E02-CA3A-4E70-87B7-E5B70C79C6FC}" type="datetimeFigureOut">
              <a:rPr lang="ko-KR" altLang="en-US" smtClean="0"/>
              <a:pPr/>
              <a:t>2026-07-06</a:t>
            </a:fld>
            <a:endParaRPr lang="ko-KR" altLang="en-US" dirty="0"/>
          </a:p>
        </p:txBody>
      </p:sp>
      <p:sp>
        <p:nvSpPr>
          <p:cNvPr id="5" name="바닥글 개체 틀 4"/>
          <p:cNvSpPr>
            <a:spLocks noGrp="1"/>
          </p:cNvSpPr>
          <p:nvPr>
            <p:ph type="ftr" sz="quarter" idx="11"/>
          </p:nvPr>
        </p:nvSpPr>
        <p:spPr/>
        <p:txBody>
          <a:bodyPr/>
          <a:lstStyle/>
          <a:p>
            <a:endParaRPr lang="ko-KR" altLang="en-US" dirty="0"/>
          </a:p>
        </p:txBody>
      </p:sp>
      <p:sp>
        <p:nvSpPr>
          <p:cNvPr id="6" name="슬라이드 번호 개체 틀 5"/>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4C6A6E02-CA3A-4E70-87B7-E5B70C79C6FC}" type="datetimeFigureOut">
              <a:rPr lang="ko-KR" altLang="en-US" smtClean="0"/>
              <a:pPr/>
              <a:t>2026-07-06</a:t>
            </a:fld>
            <a:endParaRPr lang="ko-KR" altLang="en-US" dirty="0"/>
          </a:p>
        </p:txBody>
      </p:sp>
      <p:sp>
        <p:nvSpPr>
          <p:cNvPr id="5" name="바닥글 개체 틀 4"/>
          <p:cNvSpPr>
            <a:spLocks noGrp="1"/>
          </p:cNvSpPr>
          <p:nvPr>
            <p:ph type="ftr" sz="quarter" idx="11"/>
          </p:nvPr>
        </p:nvSpPr>
        <p:spPr/>
        <p:txBody>
          <a:bodyPr/>
          <a:lstStyle/>
          <a:p>
            <a:endParaRPr lang="ko-KR" altLang="en-US" dirty="0"/>
          </a:p>
        </p:txBody>
      </p:sp>
      <p:sp>
        <p:nvSpPr>
          <p:cNvPr id="6" name="슬라이드 번호 개체 틀 5"/>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541735" y="5875867"/>
            <a:ext cx="5829300" cy="1816100"/>
          </a:xfrm>
        </p:spPr>
        <p:txBody>
          <a:bodyPr anchor="t"/>
          <a:lstStyle>
            <a:lvl1pPr algn="l">
              <a:defRPr sz="4000" b="1" cap="all"/>
            </a:lvl1pPr>
          </a:lstStyle>
          <a:p>
            <a:r>
              <a:rPr lang="ko-KR" altLang="en-US"/>
              <a:t>마스터 제목 스타일 편집</a:t>
            </a:r>
          </a:p>
        </p:txBody>
      </p:sp>
      <p:sp>
        <p:nvSpPr>
          <p:cNvPr id="3" name="텍스트 개체 틀 2"/>
          <p:cNvSpPr>
            <a:spLocks noGrp="1"/>
          </p:cNvSpPr>
          <p:nvPr>
            <p:ph type="body" idx="1"/>
          </p:nvPr>
        </p:nvSpPr>
        <p:spPr>
          <a:xfrm>
            <a:off x="541735" y="3875618"/>
            <a:ext cx="5829300" cy="2000249"/>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ko-KR" altLang="en-US"/>
              <a:t>마스터 텍스트 스타일을 편집합니다</a:t>
            </a:r>
          </a:p>
        </p:txBody>
      </p:sp>
      <p:sp>
        <p:nvSpPr>
          <p:cNvPr id="4" name="날짜 개체 틀 3"/>
          <p:cNvSpPr>
            <a:spLocks noGrp="1"/>
          </p:cNvSpPr>
          <p:nvPr>
            <p:ph type="dt" sz="half" idx="10"/>
          </p:nvPr>
        </p:nvSpPr>
        <p:spPr/>
        <p:txBody>
          <a:bodyPr/>
          <a:lstStyle/>
          <a:p>
            <a:fld id="{4C6A6E02-CA3A-4E70-87B7-E5B70C79C6FC}" type="datetimeFigureOut">
              <a:rPr lang="ko-KR" altLang="en-US" smtClean="0"/>
              <a:pPr/>
              <a:t>2026-07-06</a:t>
            </a:fld>
            <a:endParaRPr lang="ko-KR" altLang="en-US" dirty="0"/>
          </a:p>
        </p:txBody>
      </p:sp>
      <p:sp>
        <p:nvSpPr>
          <p:cNvPr id="5" name="바닥글 개체 틀 4"/>
          <p:cNvSpPr>
            <a:spLocks noGrp="1"/>
          </p:cNvSpPr>
          <p:nvPr>
            <p:ph type="ftr" sz="quarter" idx="11"/>
          </p:nvPr>
        </p:nvSpPr>
        <p:spPr/>
        <p:txBody>
          <a:bodyPr/>
          <a:lstStyle/>
          <a:p>
            <a:endParaRPr lang="ko-KR" altLang="en-US" dirty="0"/>
          </a:p>
        </p:txBody>
      </p:sp>
      <p:sp>
        <p:nvSpPr>
          <p:cNvPr id="6" name="슬라이드 번호 개체 틀 5"/>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257175"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2628900"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p:cNvSpPr>
            <a:spLocks noGrp="1"/>
          </p:cNvSpPr>
          <p:nvPr>
            <p:ph type="dt" sz="half" idx="10"/>
          </p:nvPr>
        </p:nvSpPr>
        <p:spPr/>
        <p:txBody>
          <a:bodyPr/>
          <a:lstStyle/>
          <a:p>
            <a:fld id="{4C6A6E02-CA3A-4E70-87B7-E5B70C79C6FC}" type="datetimeFigureOut">
              <a:rPr lang="ko-KR" altLang="en-US" smtClean="0"/>
              <a:pPr/>
              <a:t>2026-07-06</a:t>
            </a:fld>
            <a:endParaRPr lang="ko-KR" altLang="en-US" dirty="0"/>
          </a:p>
        </p:txBody>
      </p:sp>
      <p:sp>
        <p:nvSpPr>
          <p:cNvPr id="6" name="바닥글 개체 틀 5"/>
          <p:cNvSpPr>
            <a:spLocks noGrp="1"/>
          </p:cNvSpPr>
          <p:nvPr>
            <p:ph type="ftr" sz="quarter" idx="11"/>
          </p:nvPr>
        </p:nvSpPr>
        <p:spPr/>
        <p:txBody>
          <a:bodyPr/>
          <a:lstStyle/>
          <a:p>
            <a:endParaRPr lang="ko-KR" altLang="en-US" dirty="0"/>
          </a:p>
        </p:txBody>
      </p:sp>
      <p:sp>
        <p:nvSpPr>
          <p:cNvPr id="7" name="슬라이드 번호 개체 틀 6"/>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342900" y="366184"/>
            <a:ext cx="6172200" cy="1524000"/>
          </a:xfrm>
        </p:spPr>
        <p:txBody>
          <a:bodyPr/>
          <a:lstStyle>
            <a:lvl1pPr>
              <a:defRPr/>
            </a:lvl1pPr>
          </a:lstStyle>
          <a:p>
            <a:r>
              <a:rPr lang="ko-KR" altLang="en-US"/>
              <a:t>마스터 제목 스타일 편집</a:t>
            </a:r>
          </a:p>
        </p:txBody>
      </p:sp>
      <p:sp>
        <p:nvSpPr>
          <p:cNvPr id="3" name="텍스트 개체 틀 2"/>
          <p:cNvSpPr>
            <a:spLocks noGrp="1"/>
          </p:cNvSpPr>
          <p:nvPr>
            <p:ph type="body" idx="1"/>
          </p:nvPr>
        </p:nvSpPr>
        <p:spPr>
          <a:xfrm>
            <a:off x="342900" y="2046817"/>
            <a:ext cx="303014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4" name="내용 개체 틀 3"/>
          <p:cNvSpPr>
            <a:spLocks noGrp="1"/>
          </p:cNvSpPr>
          <p:nvPr>
            <p:ph sz="half" idx="2"/>
          </p:nvPr>
        </p:nvSpPr>
        <p:spPr>
          <a:xfrm>
            <a:off x="342900" y="2899833"/>
            <a:ext cx="303014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3483769" y="2046817"/>
            <a:ext cx="303133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6" name="내용 개체 틀 5"/>
          <p:cNvSpPr>
            <a:spLocks noGrp="1"/>
          </p:cNvSpPr>
          <p:nvPr>
            <p:ph sz="quarter" idx="4"/>
          </p:nvPr>
        </p:nvSpPr>
        <p:spPr>
          <a:xfrm>
            <a:off x="3483769" y="2899833"/>
            <a:ext cx="303133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p:cNvSpPr>
            <a:spLocks noGrp="1"/>
          </p:cNvSpPr>
          <p:nvPr>
            <p:ph type="dt" sz="half" idx="10"/>
          </p:nvPr>
        </p:nvSpPr>
        <p:spPr/>
        <p:txBody>
          <a:bodyPr/>
          <a:lstStyle/>
          <a:p>
            <a:fld id="{4C6A6E02-CA3A-4E70-87B7-E5B70C79C6FC}" type="datetimeFigureOut">
              <a:rPr lang="ko-KR" altLang="en-US" smtClean="0"/>
              <a:pPr/>
              <a:t>2026-07-06</a:t>
            </a:fld>
            <a:endParaRPr lang="ko-KR" altLang="en-US" dirty="0"/>
          </a:p>
        </p:txBody>
      </p:sp>
      <p:sp>
        <p:nvSpPr>
          <p:cNvPr id="8" name="바닥글 개체 틀 7"/>
          <p:cNvSpPr>
            <a:spLocks noGrp="1"/>
          </p:cNvSpPr>
          <p:nvPr>
            <p:ph type="ftr" sz="quarter" idx="11"/>
          </p:nvPr>
        </p:nvSpPr>
        <p:spPr/>
        <p:txBody>
          <a:bodyPr/>
          <a:lstStyle/>
          <a:p>
            <a:endParaRPr lang="ko-KR" altLang="en-US" dirty="0"/>
          </a:p>
        </p:txBody>
      </p:sp>
      <p:sp>
        <p:nvSpPr>
          <p:cNvPr id="9" name="슬라이드 번호 개체 틀 8"/>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2"/>
          <p:cNvSpPr>
            <a:spLocks noGrp="1"/>
          </p:cNvSpPr>
          <p:nvPr>
            <p:ph type="dt" sz="half" idx="10"/>
          </p:nvPr>
        </p:nvSpPr>
        <p:spPr/>
        <p:txBody>
          <a:bodyPr/>
          <a:lstStyle/>
          <a:p>
            <a:fld id="{4C6A6E02-CA3A-4E70-87B7-E5B70C79C6FC}" type="datetimeFigureOut">
              <a:rPr lang="ko-KR" altLang="en-US" smtClean="0"/>
              <a:pPr/>
              <a:t>2026-07-06</a:t>
            </a:fld>
            <a:endParaRPr lang="ko-KR" altLang="en-US" dirty="0"/>
          </a:p>
        </p:txBody>
      </p:sp>
      <p:sp>
        <p:nvSpPr>
          <p:cNvPr id="4" name="바닥글 개체 틀 3"/>
          <p:cNvSpPr>
            <a:spLocks noGrp="1"/>
          </p:cNvSpPr>
          <p:nvPr>
            <p:ph type="ftr" sz="quarter" idx="11"/>
          </p:nvPr>
        </p:nvSpPr>
        <p:spPr/>
        <p:txBody>
          <a:bodyPr/>
          <a:lstStyle/>
          <a:p>
            <a:endParaRPr lang="ko-KR" altLang="en-US" dirty="0"/>
          </a:p>
        </p:txBody>
      </p:sp>
      <p:sp>
        <p:nvSpPr>
          <p:cNvPr id="5" name="슬라이드 번호 개체 틀 4"/>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4C6A6E02-CA3A-4E70-87B7-E5B70C79C6FC}" type="datetimeFigureOut">
              <a:rPr lang="ko-KR" altLang="en-US" smtClean="0"/>
              <a:pPr/>
              <a:t>2026-07-06</a:t>
            </a:fld>
            <a:endParaRPr lang="ko-KR" altLang="en-US" dirty="0"/>
          </a:p>
        </p:txBody>
      </p:sp>
      <p:sp>
        <p:nvSpPr>
          <p:cNvPr id="3" name="바닥글 개체 틀 2"/>
          <p:cNvSpPr>
            <a:spLocks noGrp="1"/>
          </p:cNvSpPr>
          <p:nvPr>
            <p:ph type="ftr" sz="quarter" idx="11"/>
          </p:nvPr>
        </p:nvSpPr>
        <p:spPr/>
        <p:txBody>
          <a:bodyPr/>
          <a:lstStyle/>
          <a:p>
            <a:endParaRPr lang="ko-KR" altLang="en-US" dirty="0"/>
          </a:p>
        </p:txBody>
      </p:sp>
      <p:sp>
        <p:nvSpPr>
          <p:cNvPr id="4" name="슬라이드 번호 개체 틀 3"/>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342900" y="364067"/>
            <a:ext cx="2256235" cy="1549400"/>
          </a:xfrm>
        </p:spPr>
        <p:txBody>
          <a:bodyPr anchor="b"/>
          <a:lstStyle>
            <a:lvl1pPr algn="l">
              <a:defRPr sz="2000" b="1"/>
            </a:lvl1pPr>
          </a:lstStyle>
          <a:p>
            <a:r>
              <a:rPr lang="ko-KR" altLang="en-US"/>
              <a:t>마스터 제목 스타일 편집</a:t>
            </a:r>
          </a:p>
        </p:txBody>
      </p:sp>
      <p:sp>
        <p:nvSpPr>
          <p:cNvPr id="3" name="내용 개체 틀 2"/>
          <p:cNvSpPr>
            <a:spLocks noGrp="1"/>
          </p:cNvSpPr>
          <p:nvPr>
            <p:ph idx="1"/>
          </p:nvPr>
        </p:nvSpPr>
        <p:spPr>
          <a:xfrm>
            <a:off x="2681287" y="364067"/>
            <a:ext cx="3833813" cy="78041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342900" y="1913467"/>
            <a:ext cx="2256235" cy="62547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4C6A6E02-CA3A-4E70-87B7-E5B70C79C6FC}" type="datetimeFigureOut">
              <a:rPr lang="ko-KR" altLang="en-US" smtClean="0"/>
              <a:pPr/>
              <a:t>2026-07-06</a:t>
            </a:fld>
            <a:endParaRPr lang="ko-KR" altLang="en-US" dirty="0"/>
          </a:p>
        </p:txBody>
      </p:sp>
      <p:sp>
        <p:nvSpPr>
          <p:cNvPr id="6" name="바닥글 개체 틀 5"/>
          <p:cNvSpPr>
            <a:spLocks noGrp="1"/>
          </p:cNvSpPr>
          <p:nvPr>
            <p:ph type="ftr" sz="quarter" idx="11"/>
          </p:nvPr>
        </p:nvSpPr>
        <p:spPr/>
        <p:txBody>
          <a:bodyPr/>
          <a:lstStyle/>
          <a:p>
            <a:endParaRPr lang="ko-KR" altLang="en-US" dirty="0"/>
          </a:p>
        </p:txBody>
      </p:sp>
      <p:sp>
        <p:nvSpPr>
          <p:cNvPr id="7" name="슬라이드 번호 개체 틀 6"/>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344216" y="6400800"/>
            <a:ext cx="4114800" cy="755651"/>
          </a:xfrm>
        </p:spPr>
        <p:txBody>
          <a:bodyPr anchor="b"/>
          <a:lstStyle>
            <a:lvl1pPr algn="l">
              <a:defRPr sz="2000" b="1"/>
            </a:lvl1pPr>
          </a:lstStyle>
          <a:p>
            <a:r>
              <a:rPr lang="ko-KR" altLang="en-US"/>
              <a:t>마스터 제목 스타일 편집</a:t>
            </a:r>
          </a:p>
        </p:txBody>
      </p:sp>
      <p:sp>
        <p:nvSpPr>
          <p:cNvPr id="3" name="그림 개체 틀 2"/>
          <p:cNvSpPr>
            <a:spLocks noGrp="1"/>
          </p:cNvSpPr>
          <p:nvPr>
            <p:ph type="pic" idx="1"/>
          </p:nvPr>
        </p:nvSpPr>
        <p:spPr>
          <a:xfrm>
            <a:off x="1344216" y="81703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dirty="0"/>
          </a:p>
        </p:txBody>
      </p:sp>
      <p:sp>
        <p:nvSpPr>
          <p:cNvPr id="4" name="텍스트 개체 틀 3"/>
          <p:cNvSpPr>
            <a:spLocks noGrp="1"/>
          </p:cNvSpPr>
          <p:nvPr>
            <p:ph type="body" sz="half" idx="2"/>
          </p:nvPr>
        </p:nvSpPr>
        <p:spPr>
          <a:xfrm>
            <a:off x="1344216" y="7156451"/>
            <a:ext cx="4114800" cy="107314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4C6A6E02-CA3A-4E70-87B7-E5B70C79C6FC}" type="datetimeFigureOut">
              <a:rPr lang="ko-KR" altLang="en-US" smtClean="0"/>
              <a:pPr/>
              <a:t>2026-07-06</a:t>
            </a:fld>
            <a:endParaRPr lang="ko-KR" altLang="en-US" dirty="0"/>
          </a:p>
        </p:txBody>
      </p:sp>
      <p:sp>
        <p:nvSpPr>
          <p:cNvPr id="6" name="바닥글 개체 틀 5"/>
          <p:cNvSpPr>
            <a:spLocks noGrp="1"/>
          </p:cNvSpPr>
          <p:nvPr>
            <p:ph type="ftr" sz="quarter" idx="11"/>
          </p:nvPr>
        </p:nvSpPr>
        <p:spPr/>
        <p:txBody>
          <a:bodyPr/>
          <a:lstStyle/>
          <a:p>
            <a:endParaRPr lang="ko-KR" altLang="en-US" dirty="0"/>
          </a:p>
        </p:txBody>
      </p:sp>
      <p:sp>
        <p:nvSpPr>
          <p:cNvPr id="7" name="슬라이드 번호 개체 틀 6"/>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4C6A6E02-CA3A-4E70-87B7-E5B70C79C6FC}" type="datetimeFigureOut">
              <a:rPr lang="ko-KR" altLang="en-US" smtClean="0"/>
              <a:pPr/>
              <a:t>2026-07-06</a:t>
            </a:fld>
            <a:endParaRPr lang="ko-KR" altLang="en-US" dirty="0"/>
          </a:p>
        </p:txBody>
      </p:sp>
      <p:sp>
        <p:nvSpPr>
          <p:cNvPr id="5" name="바닥글 개체 틀 4"/>
          <p:cNvSpPr>
            <a:spLocks noGrp="1"/>
          </p:cNvSpPr>
          <p:nvPr>
            <p:ph type="ftr" sz="quarter" idx="11"/>
          </p:nvPr>
        </p:nvSpPr>
        <p:spPr/>
        <p:txBody>
          <a:bodyPr/>
          <a:lstStyle/>
          <a:p>
            <a:endParaRPr lang="ko-KR" altLang="en-US" dirty="0"/>
          </a:p>
        </p:txBody>
      </p:sp>
      <p:sp>
        <p:nvSpPr>
          <p:cNvPr id="6" name="슬라이드 번호 개체 틀 5"/>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3729037" y="488951"/>
            <a:ext cx="1157288" cy="10401300"/>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257175" y="488951"/>
            <a:ext cx="3357563" cy="10401300"/>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4C6A6E02-CA3A-4E70-87B7-E5B70C79C6FC}" type="datetimeFigureOut">
              <a:rPr lang="ko-KR" altLang="en-US" smtClean="0"/>
              <a:pPr/>
              <a:t>2026-07-06</a:t>
            </a:fld>
            <a:endParaRPr lang="ko-KR" altLang="en-US" dirty="0"/>
          </a:p>
        </p:txBody>
      </p:sp>
      <p:sp>
        <p:nvSpPr>
          <p:cNvPr id="5" name="바닥글 개체 틀 4"/>
          <p:cNvSpPr>
            <a:spLocks noGrp="1"/>
          </p:cNvSpPr>
          <p:nvPr>
            <p:ph type="ftr" sz="quarter" idx="11"/>
          </p:nvPr>
        </p:nvSpPr>
        <p:spPr/>
        <p:txBody>
          <a:bodyPr/>
          <a:lstStyle/>
          <a:p>
            <a:endParaRPr lang="ko-KR" altLang="en-US" dirty="0"/>
          </a:p>
        </p:txBody>
      </p:sp>
      <p:sp>
        <p:nvSpPr>
          <p:cNvPr id="6" name="슬라이드 번호 개체 틀 5"/>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342900" y="366184"/>
            <a:ext cx="6172200" cy="1524000"/>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342900" y="2133601"/>
            <a:ext cx="6172200" cy="6034617"/>
          </a:xfrm>
          <a:prstGeom prst="rect">
            <a:avLst/>
          </a:prstGeom>
        </p:spPr>
        <p:txBody>
          <a:bodyPr vert="horz" lIns="91440" tIns="45720" rIns="91440" bIns="45720"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342900" y="8475134"/>
            <a:ext cx="1600200" cy="486833"/>
          </a:xfrm>
          <a:prstGeom prst="rect">
            <a:avLst/>
          </a:prstGeom>
        </p:spPr>
        <p:txBody>
          <a:bodyPr vert="horz" lIns="91440" tIns="45720" rIns="91440" bIns="45720" rtlCol="0" anchor="ctr"/>
          <a:lstStyle>
            <a:lvl1pPr algn="l">
              <a:defRPr sz="1200">
                <a:solidFill>
                  <a:schemeClr val="tx1">
                    <a:tint val="75000"/>
                  </a:schemeClr>
                </a:solidFill>
              </a:defRPr>
            </a:lvl1pPr>
          </a:lstStyle>
          <a:p>
            <a:fld id="{4C6A6E02-CA3A-4E70-87B7-E5B70C79C6FC}" type="datetimeFigureOut">
              <a:rPr lang="ko-KR" altLang="en-US" smtClean="0"/>
              <a:pPr/>
              <a:t>2026-07-06</a:t>
            </a:fld>
            <a:endParaRPr lang="ko-KR" altLang="en-US" dirty="0"/>
          </a:p>
        </p:txBody>
      </p:sp>
      <p:sp>
        <p:nvSpPr>
          <p:cNvPr id="5" name="바닥글 개체 틀 4"/>
          <p:cNvSpPr>
            <a:spLocks noGrp="1"/>
          </p:cNvSpPr>
          <p:nvPr>
            <p:ph type="ftr" sz="quarter" idx="3"/>
          </p:nvPr>
        </p:nvSpPr>
        <p:spPr>
          <a:xfrm>
            <a:off x="2343150" y="8475134"/>
            <a:ext cx="2171700" cy="48683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dirty="0"/>
          </a:p>
        </p:txBody>
      </p:sp>
      <p:sp>
        <p:nvSpPr>
          <p:cNvPr id="6" name="슬라이드 번호 개체 틀 5"/>
          <p:cNvSpPr>
            <a:spLocks noGrp="1"/>
          </p:cNvSpPr>
          <p:nvPr>
            <p:ph type="sldNum" sz="quarter" idx="4"/>
          </p:nvPr>
        </p:nvSpPr>
        <p:spPr>
          <a:xfrm>
            <a:off x="4914900" y="8475134"/>
            <a:ext cx="1600200" cy="486833"/>
          </a:xfrm>
          <a:prstGeom prst="rect">
            <a:avLst/>
          </a:prstGeom>
        </p:spPr>
        <p:txBody>
          <a:bodyPr vert="horz" lIns="91440" tIns="45720" rIns="91440" bIns="45720" rtlCol="0" anchor="ctr"/>
          <a:lstStyle>
            <a:lvl1pPr algn="r">
              <a:defRPr sz="1200">
                <a:solidFill>
                  <a:schemeClr val="tx1">
                    <a:tint val="75000"/>
                  </a:schemeClr>
                </a:solidFill>
              </a:defRPr>
            </a:lvl1pPr>
          </a:lstStyle>
          <a:p>
            <a:fld id="{52FF23F3-BB53-4004-B3FF-ACE97EF4025E}" type="slidenum">
              <a:rPr lang="ko-KR" altLang="en-US" smtClean="0"/>
              <a:pPr/>
              <a:t>‹#›</a:t>
            </a:fld>
            <a:endParaRPr lang="ko-KR"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332656" y="1337616"/>
            <a:ext cx="6192688" cy="850160"/>
          </a:xfrm>
          <a:prstGeom prst="rect">
            <a:avLst/>
          </a:prstGeom>
          <a:ln>
            <a:solidFill>
              <a:schemeClr val="tx1"/>
            </a:solidFill>
          </a:ln>
        </p:spPr>
        <p:txBody>
          <a:bodyPr wrap="square" tIns="36000" bIns="36000" anchor="ctr">
            <a:spAutoFit/>
          </a:bodyPr>
          <a:lstStyle/>
          <a:p>
            <a:pPr algn="ctr">
              <a:lnSpc>
                <a:spcPct val="150000"/>
              </a:lnSpc>
            </a:pPr>
            <a:r>
              <a:rPr lang="ko-KR" altLang="en-US" b="1" dirty="0">
                <a:latin typeface="+mn-ea"/>
              </a:rPr>
              <a:t>사택 </a:t>
            </a:r>
            <a:r>
              <a:rPr lang="en-US" altLang="ko-KR" b="1" dirty="0">
                <a:latin typeface="+mn-ea"/>
              </a:rPr>
              <a:t>102-504 UBR </a:t>
            </a:r>
            <a:r>
              <a:rPr lang="ko-KR" altLang="en-US" b="1" dirty="0">
                <a:latin typeface="+mn-ea"/>
              </a:rPr>
              <a:t>욕조 누수 수리 件</a:t>
            </a:r>
            <a:endParaRPr lang="en-US" altLang="ko-KR" b="1" dirty="0">
              <a:latin typeface="+mn-ea"/>
            </a:endParaRPr>
          </a:p>
          <a:p>
            <a:pPr algn="ctr">
              <a:lnSpc>
                <a:spcPct val="150000"/>
              </a:lnSpc>
            </a:pPr>
            <a:r>
              <a:rPr lang="en-US" altLang="ko-KR" b="1" dirty="0">
                <a:latin typeface="+mn-ea"/>
              </a:rPr>
              <a:t>- </a:t>
            </a:r>
            <a:r>
              <a:rPr lang="ko-KR" altLang="en-US" b="1" dirty="0">
                <a:latin typeface="+mn-ea"/>
              </a:rPr>
              <a:t>시 방 서 </a:t>
            </a:r>
            <a:r>
              <a:rPr lang="en-US" altLang="ko-KR" b="1" dirty="0">
                <a:latin typeface="+mn-ea"/>
              </a:rPr>
              <a:t>-</a:t>
            </a:r>
            <a:endParaRPr lang="ko-KR" altLang="en-US" b="1" dirty="0">
              <a:latin typeface="+mn-ea"/>
            </a:endParaRPr>
          </a:p>
        </p:txBody>
      </p:sp>
      <p:grpSp>
        <p:nvGrpSpPr>
          <p:cNvPr id="10" name="그룹 9"/>
          <p:cNvGrpSpPr/>
          <p:nvPr/>
        </p:nvGrpSpPr>
        <p:grpSpPr>
          <a:xfrm>
            <a:off x="2214554" y="3571868"/>
            <a:ext cx="2428892" cy="1815446"/>
            <a:chOff x="2357430" y="4399628"/>
            <a:chExt cx="2428892" cy="1815446"/>
          </a:xfrm>
        </p:grpSpPr>
        <p:sp>
          <p:nvSpPr>
            <p:cNvPr id="11" name="TextBox 10"/>
            <p:cNvSpPr txBox="1"/>
            <p:nvPr/>
          </p:nvSpPr>
          <p:spPr>
            <a:xfrm>
              <a:off x="2357430" y="4714876"/>
              <a:ext cx="2428892" cy="1500198"/>
            </a:xfrm>
            <a:prstGeom prst="rect">
              <a:avLst/>
            </a:prstGeom>
            <a:noFill/>
            <a:ln>
              <a:solidFill>
                <a:schemeClr val="tx1"/>
              </a:solidFill>
            </a:ln>
          </p:spPr>
          <p:txBody>
            <a:bodyPr wrap="square" bIns="82800" rtlCol="0" anchor="b">
              <a:noAutofit/>
            </a:bodyPr>
            <a:lstStyle/>
            <a:p>
              <a:pPr marL="342900" indent="-342900" algn="ctr">
                <a:lnSpc>
                  <a:spcPct val="150000"/>
                </a:lnSpc>
              </a:pPr>
              <a:r>
                <a:rPr lang="en-US" altLang="ko-KR" dirty="0">
                  <a:latin typeface="+mn-ea"/>
                </a:rPr>
                <a:t>1</a:t>
              </a:r>
              <a:r>
                <a:rPr lang="ko-KR" altLang="en-US" dirty="0">
                  <a:latin typeface="+mn-ea"/>
                </a:rPr>
                <a:t>장</a:t>
              </a:r>
              <a:r>
                <a:rPr lang="en-US" altLang="ko-KR" dirty="0">
                  <a:latin typeface="+mn-ea"/>
                </a:rPr>
                <a:t>. </a:t>
              </a:r>
              <a:r>
                <a:rPr lang="ko-KR" altLang="en-US" dirty="0">
                  <a:latin typeface="+mn-ea"/>
                </a:rPr>
                <a:t>공 사 개 요</a:t>
              </a:r>
            </a:p>
            <a:p>
              <a:pPr marL="342900" indent="-342900" algn="ctr">
                <a:lnSpc>
                  <a:spcPct val="150000"/>
                </a:lnSpc>
              </a:pPr>
              <a:r>
                <a:rPr lang="en-US" altLang="ko-KR" dirty="0">
                  <a:latin typeface="+mn-ea"/>
                </a:rPr>
                <a:t>2</a:t>
              </a:r>
              <a:r>
                <a:rPr lang="ko-KR" altLang="en-US" dirty="0">
                  <a:latin typeface="+mn-ea"/>
                </a:rPr>
                <a:t>장</a:t>
              </a:r>
              <a:r>
                <a:rPr lang="en-US" altLang="ko-KR" dirty="0">
                  <a:latin typeface="+mn-ea"/>
                </a:rPr>
                <a:t>. </a:t>
              </a:r>
              <a:r>
                <a:rPr lang="ko-KR" altLang="en-US" dirty="0">
                  <a:latin typeface="+mn-ea"/>
                </a:rPr>
                <a:t>일 반 사 항</a:t>
              </a:r>
            </a:p>
            <a:p>
              <a:pPr marL="342900" indent="-342900" algn="ctr">
                <a:lnSpc>
                  <a:spcPct val="150000"/>
                </a:lnSpc>
              </a:pPr>
              <a:r>
                <a:rPr lang="en-US" altLang="ko-KR" dirty="0">
                  <a:latin typeface="+mn-ea"/>
                </a:rPr>
                <a:t>3</a:t>
              </a:r>
              <a:r>
                <a:rPr lang="ko-KR" altLang="en-US" dirty="0">
                  <a:latin typeface="+mn-ea"/>
                </a:rPr>
                <a:t>장</a:t>
              </a:r>
              <a:r>
                <a:rPr lang="en-US" altLang="ko-KR" dirty="0">
                  <a:latin typeface="+mn-ea"/>
                </a:rPr>
                <a:t>. </a:t>
              </a:r>
              <a:r>
                <a:rPr lang="ko-KR" altLang="en-US" dirty="0" err="1">
                  <a:latin typeface="+mn-ea"/>
                </a:rPr>
                <a:t>특</a:t>
              </a:r>
              <a:r>
                <a:rPr lang="ko-KR" altLang="en-US" dirty="0">
                  <a:latin typeface="+mn-ea"/>
                </a:rPr>
                <a:t> 기 사 항</a:t>
              </a:r>
            </a:p>
          </p:txBody>
        </p:sp>
        <p:sp>
          <p:nvSpPr>
            <p:cNvPr id="12" name="TextBox 11"/>
            <p:cNvSpPr txBox="1"/>
            <p:nvPr/>
          </p:nvSpPr>
          <p:spPr>
            <a:xfrm>
              <a:off x="2958430" y="4399628"/>
              <a:ext cx="1214446" cy="428628"/>
            </a:xfrm>
            <a:prstGeom prst="rect">
              <a:avLst/>
            </a:prstGeom>
            <a:solidFill>
              <a:schemeClr val="bg1"/>
            </a:solidFill>
            <a:ln>
              <a:solidFill>
                <a:schemeClr val="tx1"/>
              </a:solidFill>
            </a:ln>
          </p:spPr>
          <p:txBody>
            <a:bodyPr wrap="square" rtlCol="0" anchor="ctr">
              <a:noAutofit/>
            </a:bodyPr>
            <a:lstStyle/>
            <a:p>
              <a:pPr algn="ctr"/>
              <a:r>
                <a:rPr lang="ko-KR" altLang="en-US">
                  <a:latin typeface="+mn-ea"/>
                </a:rPr>
                <a:t>목   차</a:t>
              </a:r>
              <a:endParaRPr lang="ko-KR" altLang="en-US" dirty="0">
                <a:latin typeface="+mn-ea"/>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p:cNvSpPr/>
          <p:nvPr/>
        </p:nvSpPr>
        <p:spPr>
          <a:xfrm>
            <a:off x="299110" y="432782"/>
            <a:ext cx="2857520" cy="307777"/>
          </a:xfrm>
          <a:prstGeom prst="rect">
            <a:avLst/>
          </a:prstGeom>
        </p:spPr>
        <p:txBody>
          <a:bodyPr wrap="square">
            <a:spAutoFit/>
          </a:bodyPr>
          <a:lstStyle/>
          <a:p>
            <a:r>
              <a:rPr lang="ko-KR" altLang="en-US" sz="1400" b="1" dirty="0">
                <a:latin typeface="+mn-ea"/>
              </a:rPr>
              <a:t>제 </a:t>
            </a:r>
            <a:r>
              <a:rPr lang="en-US" altLang="ko-KR" sz="1400" b="1" dirty="0">
                <a:latin typeface="+mn-ea"/>
              </a:rPr>
              <a:t>1 </a:t>
            </a:r>
            <a:r>
              <a:rPr lang="ko-KR" altLang="en-US" sz="1400" b="1" dirty="0">
                <a:latin typeface="+mn-ea"/>
              </a:rPr>
              <a:t>장 </a:t>
            </a:r>
            <a:r>
              <a:rPr lang="en-US" altLang="ko-KR" sz="1400" b="1" dirty="0">
                <a:latin typeface="+mn-ea"/>
              </a:rPr>
              <a:t>. </a:t>
            </a:r>
            <a:r>
              <a:rPr lang="ko-KR" altLang="en-US" sz="1400" b="1" dirty="0">
                <a:latin typeface="+mn-ea"/>
              </a:rPr>
              <a:t>공사개요</a:t>
            </a:r>
            <a:endParaRPr lang="ko-KR" altLang="en-US" sz="1400" dirty="0">
              <a:latin typeface="+mn-ea"/>
            </a:endParaRPr>
          </a:p>
        </p:txBody>
      </p:sp>
      <p:sp>
        <p:nvSpPr>
          <p:cNvPr id="7" name="직사각형 6"/>
          <p:cNvSpPr/>
          <p:nvPr/>
        </p:nvSpPr>
        <p:spPr>
          <a:xfrm>
            <a:off x="357166" y="700026"/>
            <a:ext cx="6215106" cy="246221"/>
          </a:xfrm>
          <a:prstGeom prst="rect">
            <a:avLst/>
          </a:prstGeom>
        </p:spPr>
        <p:txBody>
          <a:bodyPr wrap="square">
            <a:spAutoFit/>
          </a:bodyPr>
          <a:lstStyle/>
          <a:p>
            <a:r>
              <a:rPr lang="ko-KR" altLang="en-US" sz="1000" dirty="0">
                <a:latin typeface="+mn-ea"/>
              </a:rPr>
              <a:t> ○ 공 사 명 </a:t>
            </a:r>
            <a:r>
              <a:rPr lang="en-US" altLang="ko-KR" sz="1000" dirty="0">
                <a:latin typeface="+mn-ea"/>
              </a:rPr>
              <a:t>: </a:t>
            </a:r>
            <a:r>
              <a:rPr lang="ko-KR" altLang="en-US" sz="1000" b="1" dirty="0">
                <a:latin typeface="+mn-ea"/>
              </a:rPr>
              <a:t>사택 </a:t>
            </a:r>
            <a:r>
              <a:rPr lang="en-US" altLang="ko-KR" sz="1000" b="1" dirty="0">
                <a:latin typeface="+mn-ea"/>
              </a:rPr>
              <a:t>102-504 UBR </a:t>
            </a:r>
            <a:r>
              <a:rPr lang="ko-KR" altLang="en-US" sz="1000" b="1" dirty="0">
                <a:latin typeface="+mn-ea"/>
              </a:rPr>
              <a:t>욕조 누수 수리</a:t>
            </a:r>
            <a:endParaRPr lang="ko-KR" altLang="en-US" sz="1000" dirty="0">
              <a:latin typeface="+mn-ea"/>
            </a:endParaRPr>
          </a:p>
        </p:txBody>
      </p:sp>
      <p:sp>
        <p:nvSpPr>
          <p:cNvPr id="13" name="직사각형 12"/>
          <p:cNvSpPr/>
          <p:nvPr/>
        </p:nvSpPr>
        <p:spPr>
          <a:xfrm>
            <a:off x="285728" y="428596"/>
            <a:ext cx="6286544" cy="850112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sp>
        <p:nvSpPr>
          <p:cNvPr id="14" name="직사각형 13"/>
          <p:cNvSpPr/>
          <p:nvPr/>
        </p:nvSpPr>
        <p:spPr>
          <a:xfrm>
            <a:off x="354958" y="941479"/>
            <a:ext cx="6217314" cy="246221"/>
          </a:xfrm>
          <a:prstGeom prst="rect">
            <a:avLst/>
          </a:prstGeom>
        </p:spPr>
        <p:txBody>
          <a:bodyPr wrap="square">
            <a:spAutoFit/>
          </a:bodyPr>
          <a:lstStyle/>
          <a:p>
            <a:r>
              <a:rPr lang="ko-KR" altLang="en-US" sz="1000" dirty="0">
                <a:latin typeface="+mn-ea"/>
              </a:rPr>
              <a:t> ○ 공사 위치 </a:t>
            </a:r>
            <a:r>
              <a:rPr lang="en-US" altLang="ko-KR" sz="1000" dirty="0">
                <a:latin typeface="+mn-ea"/>
              </a:rPr>
              <a:t>: </a:t>
            </a:r>
            <a:r>
              <a:rPr lang="ko-KR" altLang="en-US" sz="1000" dirty="0">
                <a:latin typeface="+mn-ea"/>
              </a:rPr>
              <a:t>대전 유성구 </a:t>
            </a:r>
            <a:r>
              <a:rPr lang="ko-KR" altLang="en-US" sz="1000" dirty="0" err="1">
                <a:latin typeface="+mn-ea"/>
              </a:rPr>
              <a:t>도룡동</a:t>
            </a:r>
            <a:r>
              <a:rPr lang="ko-KR" altLang="en-US" sz="1000" dirty="0">
                <a:latin typeface="+mn-ea"/>
              </a:rPr>
              <a:t> </a:t>
            </a:r>
            <a:r>
              <a:rPr lang="en-US" altLang="ko-KR" sz="1000" dirty="0">
                <a:latin typeface="+mn-ea"/>
              </a:rPr>
              <a:t>LG</a:t>
            </a:r>
            <a:r>
              <a:rPr lang="ko-KR" altLang="en-US" sz="1000">
                <a:latin typeface="+mn-ea"/>
              </a:rPr>
              <a:t>기술연구원 사택 </a:t>
            </a:r>
            <a:r>
              <a:rPr lang="en-US" altLang="ko-KR" sz="1000">
                <a:latin typeface="+mn-ea"/>
              </a:rPr>
              <a:t>102</a:t>
            </a:r>
            <a:r>
              <a:rPr lang="ko-KR" altLang="en-US" sz="1000">
                <a:latin typeface="+mn-ea"/>
              </a:rPr>
              <a:t>동</a:t>
            </a:r>
            <a:endParaRPr lang="en-US" altLang="ko-KR" sz="1000" dirty="0">
              <a:latin typeface="+mn-ea"/>
            </a:endParaRPr>
          </a:p>
        </p:txBody>
      </p:sp>
      <p:sp>
        <p:nvSpPr>
          <p:cNvPr id="15" name="직사각형 14"/>
          <p:cNvSpPr/>
          <p:nvPr/>
        </p:nvSpPr>
        <p:spPr>
          <a:xfrm>
            <a:off x="357166" y="1180252"/>
            <a:ext cx="6215106" cy="246221"/>
          </a:xfrm>
          <a:prstGeom prst="rect">
            <a:avLst/>
          </a:prstGeom>
        </p:spPr>
        <p:txBody>
          <a:bodyPr wrap="square">
            <a:spAutoFit/>
          </a:bodyPr>
          <a:lstStyle/>
          <a:p>
            <a:r>
              <a:rPr lang="ko-KR" altLang="en-US" sz="1000" dirty="0">
                <a:latin typeface="+mn-ea"/>
              </a:rPr>
              <a:t> ○ 공사 내용 </a:t>
            </a:r>
            <a:r>
              <a:rPr lang="en-US" altLang="ko-KR" sz="1000" dirty="0">
                <a:latin typeface="+mn-ea"/>
              </a:rPr>
              <a:t>:</a:t>
            </a:r>
            <a:endParaRPr lang="ko-KR" altLang="en-US" sz="1000" dirty="0">
              <a:latin typeface="+mn-ea"/>
            </a:endParaRPr>
          </a:p>
        </p:txBody>
      </p:sp>
      <p:sp>
        <p:nvSpPr>
          <p:cNvPr id="29" name="직사각형 28"/>
          <p:cNvSpPr/>
          <p:nvPr/>
        </p:nvSpPr>
        <p:spPr>
          <a:xfrm>
            <a:off x="571480" y="1306349"/>
            <a:ext cx="6000792" cy="2197781"/>
          </a:xfrm>
          <a:prstGeom prst="rect">
            <a:avLst/>
          </a:prstGeom>
        </p:spPr>
        <p:txBody>
          <a:bodyPr wrap="square">
            <a:spAutoFit/>
          </a:bodyPr>
          <a:lstStyle/>
          <a:p>
            <a:pPr marL="228600" indent="-228600">
              <a:lnSpc>
                <a:spcPct val="200000"/>
              </a:lnSpc>
              <a:buFontTx/>
              <a:buAutoNum type="arabicParenR"/>
            </a:pPr>
            <a:r>
              <a:rPr lang="ko-KR" altLang="en-US" sz="1000"/>
              <a:t>거실 화장실 기존 욕조 실리콘 제거 작업
거실 화장실 기존 욕조 철거 작업
거실 화장실 욕조 배수 고정금구 교체
거실 화장실 욕조 배수 고정금구 배수관 연결 작업
거실 화장실 기존 욕조 재설치 작업
거실 화장실 기존 욕조 실리콘 설치 작업
작업 완료후 주변 청소 작업</a:t>
            </a:r>
            <a:endParaRPr lang="en-US" altLang="ko-KR" sz="1000" dirty="0"/>
          </a:p>
        </p:txBody>
      </p:sp>
      <p:sp>
        <p:nvSpPr>
          <p:cNvPr id="30" name="직사각형 29"/>
          <p:cNvSpPr/>
          <p:nvPr/>
        </p:nvSpPr>
        <p:spPr>
          <a:xfrm>
            <a:off x="383386" y="3505535"/>
            <a:ext cx="5853926" cy="246221"/>
          </a:xfrm>
          <a:prstGeom prst="rect">
            <a:avLst/>
          </a:prstGeom>
        </p:spPr>
        <p:txBody>
          <a:bodyPr wrap="square">
            <a:spAutoFit/>
          </a:bodyPr>
          <a:lstStyle/>
          <a:p>
            <a:r>
              <a:rPr lang="ko-KR" altLang="en-US" sz="1000" dirty="0">
                <a:latin typeface="+mn-ea"/>
              </a:rPr>
              <a:t> ○ 작업기간 </a:t>
            </a:r>
            <a:r>
              <a:rPr lang="en-US" altLang="ko-KR" sz="1000" dirty="0">
                <a:latin typeface="+mn-ea"/>
              </a:rPr>
              <a:t>: </a:t>
            </a:r>
            <a:r>
              <a:rPr lang="ko-KR" altLang="en-US" sz="1000" dirty="0">
                <a:latin typeface="+mn-ea"/>
              </a:rPr>
              <a:t>계약서에 준함 </a:t>
            </a:r>
            <a:r>
              <a:rPr lang="en-US" altLang="ko-KR" sz="1000" dirty="0">
                <a:latin typeface="+mn-ea"/>
              </a:rPr>
              <a:t>[</a:t>
            </a:r>
            <a:r>
              <a:rPr lang="ko-KR" altLang="en-US" sz="1000" dirty="0">
                <a:latin typeface="+mn-ea"/>
              </a:rPr>
              <a:t>작업시간 </a:t>
            </a:r>
            <a:r>
              <a:rPr lang="en-US" altLang="ko-KR" sz="1000" dirty="0">
                <a:latin typeface="+mn-ea"/>
              </a:rPr>
              <a:t>: 09:00 ~ 18:00]</a:t>
            </a:r>
            <a:endParaRPr lang="ko-KR" altLang="en-US" sz="1000" dirty="0">
              <a:latin typeface="+mn-ea"/>
            </a:endParaRPr>
          </a:p>
        </p:txBody>
      </p:sp>
      <p:sp>
        <p:nvSpPr>
          <p:cNvPr id="36" name="직사각형 35"/>
          <p:cNvSpPr/>
          <p:nvPr/>
        </p:nvSpPr>
        <p:spPr>
          <a:xfrm>
            <a:off x="285728" y="3760658"/>
            <a:ext cx="2857520" cy="307777"/>
          </a:xfrm>
          <a:prstGeom prst="rect">
            <a:avLst/>
          </a:prstGeom>
        </p:spPr>
        <p:txBody>
          <a:bodyPr wrap="square">
            <a:spAutoFit/>
          </a:bodyPr>
          <a:lstStyle/>
          <a:p>
            <a:r>
              <a:rPr lang="ko-KR" altLang="en-US" sz="1400" b="1" dirty="0">
                <a:latin typeface="+mn-ea"/>
              </a:rPr>
              <a:t>제 </a:t>
            </a:r>
            <a:r>
              <a:rPr lang="en-US" altLang="ko-KR" sz="1400" b="1" dirty="0">
                <a:latin typeface="+mn-ea"/>
              </a:rPr>
              <a:t>2 </a:t>
            </a:r>
            <a:r>
              <a:rPr lang="ko-KR" altLang="en-US" sz="1400" b="1" dirty="0">
                <a:latin typeface="+mn-ea"/>
              </a:rPr>
              <a:t>장 </a:t>
            </a:r>
            <a:r>
              <a:rPr lang="en-US" altLang="ko-KR" sz="1400" b="1" dirty="0">
                <a:latin typeface="+mn-ea"/>
              </a:rPr>
              <a:t>. </a:t>
            </a:r>
            <a:r>
              <a:rPr lang="ko-KR" altLang="en-US" sz="1400" b="1" dirty="0">
                <a:latin typeface="+mn-ea"/>
              </a:rPr>
              <a:t>일반사항</a:t>
            </a:r>
            <a:endParaRPr lang="ko-KR" altLang="en-US" sz="1400" dirty="0">
              <a:latin typeface="+mn-ea"/>
            </a:endParaRPr>
          </a:p>
        </p:txBody>
      </p:sp>
      <p:sp>
        <p:nvSpPr>
          <p:cNvPr id="37" name="직사각형 36"/>
          <p:cNvSpPr/>
          <p:nvPr/>
        </p:nvSpPr>
        <p:spPr>
          <a:xfrm>
            <a:off x="357166" y="4033274"/>
            <a:ext cx="6428603" cy="246221"/>
          </a:xfrm>
          <a:prstGeom prst="rect">
            <a:avLst/>
          </a:prstGeom>
        </p:spPr>
        <p:txBody>
          <a:bodyPr wrap="square">
            <a:spAutoFit/>
          </a:bodyPr>
          <a:lstStyle/>
          <a:p>
            <a:r>
              <a:rPr lang="ko-KR" altLang="en-US" sz="1000" dirty="0">
                <a:latin typeface="+mn-ea"/>
              </a:rPr>
              <a:t> </a:t>
            </a:r>
            <a:r>
              <a:rPr lang="en-US" altLang="ko-KR" sz="1000" dirty="0">
                <a:latin typeface="+mn-ea"/>
              </a:rPr>
              <a:t>1. LG </a:t>
            </a:r>
            <a:r>
              <a:rPr lang="ko-KR" altLang="en-US" sz="1000" dirty="0">
                <a:latin typeface="+mn-ea"/>
              </a:rPr>
              <a:t>기술연구원 기숙사 및 사택 </a:t>
            </a:r>
            <a:r>
              <a:rPr lang="ko-KR" altLang="en-US" sz="1000" dirty="0" err="1">
                <a:latin typeface="+mn-ea"/>
              </a:rPr>
              <a:t>시설총칙</a:t>
            </a:r>
            <a:endParaRPr lang="ko-KR" altLang="en-US" sz="1000" dirty="0">
              <a:latin typeface="+mn-ea"/>
            </a:endParaRPr>
          </a:p>
        </p:txBody>
      </p:sp>
      <p:sp>
        <p:nvSpPr>
          <p:cNvPr id="38" name="직사각형 37"/>
          <p:cNvSpPr/>
          <p:nvPr/>
        </p:nvSpPr>
        <p:spPr>
          <a:xfrm>
            <a:off x="349546" y="7050192"/>
            <a:ext cx="6357982" cy="246221"/>
          </a:xfrm>
          <a:prstGeom prst="rect">
            <a:avLst/>
          </a:prstGeom>
        </p:spPr>
        <p:txBody>
          <a:bodyPr wrap="square">
            <a:spAutoFit/>
          </a:bodyPr>
          <a:lstStyle/>
          <a:p>
            <a:r>
              <a:rPr lang="ko-KR" altLang="en-US" sz="1000" dirty="0">
                <a:latin typeface="+mn-ea"/>
              </a:rPr>
              <a:t> </a:t>
            </a:r>
            <a:r>
              <a:rPr lang="en-US" altLang="ko-KR" sz="1000" dirty="0">
                <a:latin typeface="+mn-ea"/>
              </a:rPr>
              <a:t>2. </a:t>
            </a:r>
            <a:r>
              <a:rPr lang="ko-KR" altLang="en-US" sz="1000" dirty="0">
                <a:latin typeface="+mn-ea"/>
              </a:rPr>
              <a:t>일반적용</a:t>
            </a:r>
          </a:p>
        </p:txBody>
      </p:sp>
      <p:sp>
        <p:nvSpPr>
          <p:cNvPr id="39" name="직사각형 38"/>
          <p:cNvSpPr/>
          <p:nvPr/>
        </p:nvSpPr>
        <p:spPr>
          <a:xfrm>
            <a:off x="428604" y="7263075"/>
            <a:ext cx="6143668" cy="246221"/>
          </a:xfrm>
          <a:prstGeom prst="rect">
            <a:avLst/>
          </a:prstGeom>
        </p:spPr>
        <p:txBody>
          <a:bodyPr wrap="square">
            <a:spAutoFit/>
          </a:bodyPr>
          <a:lstStyle/>
          <a:p>
            <a:r>
              <a:rPr lang="en-US" altLang="ko-KR" sz="1000" dirty="0">
                <a:latin typeface="+mn-ea"/>
              </a:rPr>
              <a:t>1) </a:t>
            </a:r>
            <a:r>
              <a:rPr lang="ko-KR" altLang="en-US" sz="1000" dirty="0">
                <a:latin typeface="+mn-ea"/>
              </a:rPr>
              <a:t>적 용 범 위</a:t>
            </a:r>
          </a:p>
        </p:txBody>
      </p:sp>
      <p:sp>
        <p:nvSpPr>
          <p:cNvPr id="40" name="직사각형 39"/>
          <p:cNvSpPr/>
          <p:nvPr/>
        </p:nvSpPr>
        <p:spPr>
          <a:xfrm>
            <a:off x="428603" y="7464532"/>
            <a:ext cx="6143669" cy="628121"/>
          </a:xfrm>
          <a:prstGeom prst="rect">
            <a:avLst/>
          </a:prstGeom>
        </p:spPr>
        <p:txBody>
          <a:bodyPr wrap="square">
            <a:spAutoFit/>
          </a:bodyPr>
          <a:lstStyle/>
          <a:p>
            <a:pPr>
              <a:lnSpc>
                <a:spcPct val="120000"/>
              </a:lnSpc>
            </a:pPr>
            <a:r>
              <a:rPr lang="ko-KR" altLang="en-US" sz="1000" dirty="0">
                <a:latin typeface="+mn-ea"/>
              </a:rPr>
              <a:t> </a:t>
            </a:r>
            <a:r>
              <a:rPr lang="en-US" altLang="ko-KR" sz="1000" dirty="0">
                <a:latin typeface="+mn-ea"/>
              </a:rPr>
              <a:t>-.</a:t>
            </a:r>
            <a:r>
              <a:rPr lang="ko-KR" altLang="en-US" sz="1000" dirty="0">
                <a:latin typeface="+mn-ea"/>
              </a:rPr>
              <a:t>이 공사의 시공방법은 본 시방서에 준하여 공사한다</a:t>
            </a:r>
            <a:r>
              <a:rPr lang="en-US" altLang="ko-KR" sz="1000" dirty="0">
                <a:latin typeface="+mn-ea"/>
              </a:rPr>
              <a:t>. </a:t>
            </a:r>
            <a:r>
              <a:rPr lang="ko-KR" altLang="en-US" sz="1000" dirty="0">
                <a:latin typeface="+mn-ea"/>
              </a:rPr>
              <a:t>단</a:t>
            </a:r>
            <a:r>
              <a:rPr lang="en-US" altLang="ko-KR" sz="1000" dirty="0">
                <a:latin typeface="+mn-ea"/>
              </a:rPr>
              <a:t>, </a:t>
            </a:r>
            <a:r>
              <a:rPr lang="ko-KR" altLang="en-US" sz="1000" dirty="0">
                <a:latin typeface="+mn-ea"/>
              </a:rPr>
              <a:t>이 공사에 관계없는 사항은 적용하지 </a:t>
            </a:r>
            <a:endParaRPr lang="en-US" altLang="ko-KR" sz="1000" dirty="0">
              <a:latin typeface="+mn-ea"/>
            </a:endParaRPr>
          </a:p>
          <a:p>
            <a:pPr>
              <a:lnSpc>
                <a:spcPct val="120000"/>
              </a:lnSpc>
            </a:pPr>
            <a:r>
              <a:rPr lang="en-US" altLang="ko-KR" sz="1000" dirty="0">
                <a:latin typeface="+mn-ea"/>
              </a:rPr>
              <a:t>   </a:t>
            </a:r>
            <a:r>
              <a:rPr lang="ko-KR" altLang="en-US" sz="1000" dirty="0">
                <a:latin typeface="+mn-ea"/>
              </a:rPr>
              <a:t>아니 하며 각 공사에 있어서 다른 공사와 </a:t>
            </a:r>
            <a:r>
              <a:rPr lang="ko-KR" altLang="en-US" sz="1000" dirty="0" err="1">
                <a:latin typeface="+mn-ea"/>
              </a:rPr>
              <a:t>관련있는</a:t>
            </a:r>
            <a:r>
              <a:rPr lang="ko-KR" altLang="en-US" sz="1000" dirty="0">
                <a:latin typeface="+mn-ea"/>
              </a:rPr>
              <a:t> 사항에 대해서는 각기 그 해당 공사의 </a:t>
            </a:r>
            <a:endParaRPr lang="en-US" altLang="ko-KR" sz="1000" dirty="0">
              <a:latin typeface="+mn-ea"/>
            </a:endParaRPr>
          </a:p>
          <a:p>
            <a:pPr>
              <a:lnSpc>
                <a:spcPct val="120000"/>
              </a:lnSpc>
            </a:pPr>
            <a:r>
              <a:rPr lang="en-US" altLang="ko-KR" sz="1000" dirty="0">
                <a:latin typeface="+mn-ea"/>
              </a:rPr>
              <a:t>   </a:t>
            </a:r>
            <a:r>
              <a:rPr lang="ko-KR" altLang="en-US" sz="1000" dirty="0">
                <a:latin typeface="+mn-ea"/>
              </a:rPr>
              <a:t>기재사항을 준용 한다</a:t>
            </a:r>
            <a:r>
              <a:rPr lang="en-US" altLang="ko-KR" sz="1000" dirty="0">
                <a:latin typeface="+mn-ea"/>
              </a:rPr>
              <a:t>.</a:t>
            </a:r>
            <a:endParaRPr lang="ko-KR" altLang="en-US" sz="1000" dirty="0">
              <a:latin typeface="+mn-ea"/>
            </a:endParaRPr>
          </a:p>
        </p:txBody>
      </p:sp>
      <p:sp>
        <p:nvSpPr>
          <p:cNvPr id="43" name="직사각형 42"/>
          <p:cNvSpPr/>
          <p:nvPr/>
        </p:nvSpPr>
        <p:spPr>
          <a:xfrm>
            <a:off x="428604" y="8060827"/>
            <a:ext cx="6143668" cy="270330"/>
          </a:xfrm>
          <a:prstGeom prst="rect">
            <a:avLst/>
          </a:prstGeom>
        </p:spPr>
        <p:txBody>
          <a:bodyPr wrap="square">
            <a:spAutoFit/>
          </a:bodyPr>
          <a:lstStyle/>
          <a:p>
            <a:pPr>
              <a:lnSpc>
                <a:spcPct val="130000"/>
              </a:lnSpc>
            </a:pPr>
            <a:r>
              <a:rPr lang="en-US" altLang="ko-KR" sz="1000" dirty="0">
                <a:latin typeface="+mn-ea"/>
              </a:rPr>
              <a:t>2) </a:t>
            </a:r>
            <a:r>
              <a:rPr lang="ko-KR" altLang="en-US" sz="1000" dirty="0">
                <a:latin typeface="+mn-ea"/>
              </a:rPr>
              <a:t>책 임 기 술 자</a:t>
            </a:r>
          </a:p>
        </p:txBody>
      </p:sp>
      <p:sp>
        <p:nvSpPr>
          <p:cNvPr id="44" name="직사각형 43"/>
          <p:cNvSpPr/>
          <p:nvPr/>
        </p:nvSpPr>
        <p:spPr>
          <a:xfrm>
            <a:off x="428604" y="8257225"/>
            <a:ext cx="6143668" cy="646331"/>
          </a:xfrm>
          <a:prstGeom prst="rect">
            <a:avLst/>
          </a:prstGeom>
        </p:spPr>
        <p:txBody>
          <a:bodyPr wrap="square">
            <a:spAutoFit/>
          </a:bodyPr>
          <a:lstStyle/>
          <a:p>
            <a:pPr>
              <a:lnSpc>
                <a:spcPct val="120000"/>
              </a:lnSpc>
            </a:pPr>
            <a:r>
              <a:rPr lang="ko-KR" altLang="en-US" sz="1000" dirty="0">
                <a:latin typeface="+mn-ea"/>
              </a:rPr>
              <a:t> </a:t>
            </a:r>
            <a:r>
              <a:rPr lang="en-US" altLang="ko-KR" sz="1000" dirty="0">
                <a:latin typeface="+mn-ea"/>
              </a:rPr>
              <a:t>-. </a:t>
            </a:r>
            <a:r>
              <a:rPr lang="ko-KR" altLang="en-US" sz="1000" dirty="0">
                <a:latin typeface="+mn-ea"/>
              </a:rPr>
              <a:t>이 시방서에서 책임기술자라 함은  운영센터 직원을 말하며</a:t>
            </a:r>
            <a:r>
              <a:rPr lang="en-US" altLang="ko-KR" sz="1000" dirty="0">
                <a:latin typeface="+mn-ea"/>
              </a:rPr>
              <a:t>, </a:t>
            </a:r>
            <a:r>
              <a:rPr lang="ko-KR" altLang="en-US" sz="1000" dirty="0">
                <a:latin typeface="+mn-ea"/>
              </a:rPr>
              <a:t>공사의 관리감독을 총괄한다</a:t>
            </a:r>
            <a:r>
              <a:rPr lang="en-US" altLang="ko-KR" sz="1000" dirty="0">
                <a:latin typeface="+mn-ea"/>
              </a:rPr>
              <a:t>. </a:t>
            </a:r>
          </a:p>
          <a:p>
            <a:pPr>
              <a:lnSpc>
                <a:spcPct val="120000"/>
              </a:lnSpc>
            </a:pPr>
            <a:r>
              <a:rPr lang="en-US" altLang="ko-KR" sz="1000" dirty="0">
                <a:latin typeface="+mn-ea"/>
              </a:rPr>
              <a:t>   </a:t>
            </a:r>
            <a:r>
              <a:rPr lang="ko-KR" altLang="en-US" sz="1000" dirty="0">
                <a:latin typeface="+mn-ea"/>
              </a:rPr>
              <a:t>시공자의 현장 대리인은 책임기술자의 지시 및 승인한 주요 사항을 문서로 하여 책임기술자의</a:t>
            </a:r>
          </a:p>
          <a:p>
            <a:pPr>
              <a:lnSpc>
                <a:spcPct val="120000"/>
              </a:lnSpc>
            </a:pPr>
            <a:r>
              <a:rPr lang="ko-KR" altLang="en-US" sz="1000" dirty="0">
                <a:latin typeface="+mn-ea"/>
              </a:rPr>
              <a:t>   날인을 받는다</a:t>
            </a:r>
            <a:r>
              <a:rPr lang="en-US" altLang="ko-KR" sz="1000" dirty="0">
                <a:latin typeface="+mn-ea"/>
              </a:rPr>
              <a:t>.</a:t>
            </a:r>
            <a:endParaRPr lang="ko-KR" altLang="en-US" sz="1000" dirty="0">
              <a:latin typeface="+mn-ea"/>
            </a:endParaRPr>
          </a:p>
        </p:txBody>
      </p:sp>
      <p:grpSp>
        <p:nvGrpSpPr>
          <p:cNvPr id="47" name="그룹 46"/>
          <p:cNvGrpSpPr/>
          <p:nvPr/>
        </p:nvGrpSpPr>
        <p:grpSpPr>
          <a:xfrm>
            <a:off x="422642" y="4269110"/>
            <a:ext cx="6271101" cy="2736304"/>
            <a:chOff x="370204" y="3667834"/>
            <a:chExt cx="6271101" cy="2736304"/>
          </a:xfrm>
        </p:grpSpPr>
        <p:sp>
          <p:nvSpPr>
            <p:cNvPr id="48" name="직사각형 47"/>
            <p:cNvSpPr/>
            <p:nvPr/>
          </p:nvSpPr>
          <p:spPr>
            <a:xfrm>
              <a:off x="429397" y="3667834"/>
              <a:ext cx="6142875" cy="400110"/>
            </a:xfrm>
            <a:prstGeom prst="rect">
              <a:avLst/>
            </a:prstGeom>
          </p:spPr>
          <p:txBody>
            <a:bodyPr wrap="square">
              <a:spAutoFit/>
            </a:bodyPr>
            <a:lstStyle/>
            <a:p>
              <a:r>
                <a:rPr lang="en-US" altLang="ko-KR" sz="1000" dirty="0">
                  <a:latin typeface="+mn-ea"/>
                </a:rPr>
                <a:t>1) </a:t>
              </a:r>
              <a:r>
                <a:rPr lang="ko-KR" altLang="en-US" sz="1000" dirty="0">
                  <a:latin typeface="+mn-ea"/>
                </a:rPr>
                <a:t>사택 및 기숙사에 출입 하는 모든 작업자는 현장관리인 책임하에 관리사무소에 출입 목적을 설명하고</a:t>
              </a:r>
            </a:p>
            <a:p>
              <a:r>
                <a:rPr lang="ko-KR" altLang="en-US" sz="1000" dirty="0">
                  <a:latin typeface="+mn-ea"/>
                </a:rPr>
                <a:t>   관리소장 </a:t>
              </a:r>
              <a:r>
                <a:rPr lang="ko-KR" altLang="en-US" sz="1000" dirty="0" err="1">
                  <a:latin typeface="+mn-ea"/>
                </a:rPr>
                <a:t>합의후</a:t>
              </a:r>
              <a:r>
                <a:rPr lang="ko-KR" altLang="en-US" sz="1000" dirty="0">
                  <a:latin typeface="+mn-ea"/>
                </a:rPr>
                <a:t> 해당 작업 장소에 투입 한다</a:t>
              </a:r>
              <a:r>
                <a:rPr lang="en-US" altLang="ko-KR" sz="1000" dirty="0">
                  <a:latin typeface="+mn-ea"/>
                </a:rPr>
                <a:t>.</a:t>
              </a:r>
              <a:endParaRPr lang="ko-KR" altLang="en-US" sz="1000" dirty="0">
                <a:latin typeface="+mn-ea"/>
              </a:endParaRPr>
            </a:p>
          </p:txBody>
        </p:sp>
        <p:sp>
          <p:nvSpPr>
            <p:cNvPr id="49" name="직사각형 48"/>
            <p:cNvSpPr/>
            <p:nvPr/>
          </p:nvSpPr>
          <p:spPr>
            <a:xfrm>
              <a:off x="429397" y="4027874"/>
              <a:ext cx="6211908" cy="470385"/>
            </a:xfrm>
            <a:prstGeom prst="rect">
              <a:avLst/>
            </a:prstGeom>
          </p:spPr>
          <p:txBody>
            <a:bodyPr wrap="square">
              <a:spAutoFit/>
            </a:bodyPr>
            <a:lstStyle/>
            <a:p>
              <a:pPr>
                <a:lnSpc>
                  <a:spcPct val="130000"/>
                </a:lnSpc>
              </a:pPr>
              <a:r>
                <a:rPr lang="en-US" altLang="ko-KR" sz="1000" dirty="0">
                  <a:latin typeface="+mn-ea"/>
                </a:rPr>
                <a:t>2) </a:t>
              </a:r>
              <a:r>
                <a:rPr lang="ko-KR" altLang="en-US" sz="1000" dirty="0">
                  <a:latin typeface="+mn-ea"/>
                </a:rPr>
                <a:t>공사기간 중 당사 양식의 작업허가서를 작성하여 당일 </a:t>
              </a:r>
              <a:r>
                <a:rPr lang="en-US" altLang="ko-KR" sz="1000" dirty="0">
                  <a:latin typeface="+mn-ea"/>
                </a:rPr>
                <a:t>08:30</a:t>
              </a:r>
              <a:r>
                <a:rPr lang="ko-KR" altLang="en-US" sz="1000" dirty="0">
                  <a:latin typeface="+mn-ea"/>
                </a:rPr>
                <a:t>까지 제출하며</a:t>
              </a:r>
              <a:r>
                <a:rPr lang="en-US" altLang="ko-KR" sz="1000" dirty="0">
                  <a:latin typeface="+mn-ea"/>
                </a:rPr>
                <a:t>, </a:t>
              </a:r>
              <a:r>
                <a:rPr lang="ko-KR" altLang="en-US" sz="1000" dirty="0">
                  <a:latin typeface="+mn-ea"/>
                </a:rPr>
                <a:t>또한 작업 전 작업자 안전</a:t>
              </a:r>
            </a:p>
            <a:p>
              <a:pPr>
                <a:lnSpc>
                  <a:spcPct val="130000"/>
                </a:lnSpc>
              </a:pPr>
              <a:r>
                <a:rPr lang="ko-KR" altLang="en-US" sz="1000" dirty="0">
                  <a:latin typeface="+mn-ea"/>
                </a:rPr>
                <a:t>   교육을 수료 후 교육일지에 당사자 서명을 실시한다</a:t>
              </a:r>
              <a:r>
                <a:rPr lang="en-US" altLang="ko-KR" sz="1000" dirty="0">
                  <a:latin typeface="+mn-ea"/>
                </a:rPr>
                <a:t>.[</a:t>
              </a:r>
              <a:r>
                <a:rPr lang="ko-KR" altLang="en-US" sz="1000" dirty="0">
                  <a:latin typeface="+mn-ea"/>
                </a:rPr>
                <a:t>안전교육 </a:t>
              </a:r>
              <a:r>
                <a:rPr lang="ko-KR" altLang="en-US" sz="1000" dirty="0" err="1">
                  <a:latin typeface="+mn-ea"/>
                </a:rPr>
                <a:t>미수료자는</a:t>
              </a:r>
              <a:r>
                <a:rPr lang="ko-KR" altLang="en-US" sz="1000" dirty="0">
                  <a:latin typeface="+mn-ea"/>
                </a:rPr>
                <a:t> 현장투입 불가</a:t>
              </a:r>
              <a:r>
                <a:rPr lang="en-US" altLang="ko-KR" sz="1000" dirty="0">
                  <a:latin typeface="+mn-ea"/>
                </a:rPr>
                <a:t>]</a:t>
              </a:r>
              <a:endParaRPr lang="ko-KR" altLang="en-US" sz="1000" dirty="0">
                <a:latin typeface="+mn-ea"/>
              </a:endParaRPr>
            </a:p>
          </p:txBody>
        </p:sp>
        <p:sp>
          <p:nvSpPr>
            <p:cNvPr id="50" name="직사각형 49"/>
            <p:cNvSpPr/>
            <p:nvPr/>
          </p:nvSpPr>
          <p:spPr>
            <a:xfrm>
              <a:off x="429397" y="4471618"/>
              <a:ext cx="6211908" cy="270330"/>
            </a:xfrm>
            <a:prstGeom prst="rect">
              <a:avLst/>
            </a:prstGeom>
          </p:spPr>
          <p:txBody>
            <a:bodyPr wrap="square">
              <a:spAutoFit/>
            </a:bodyPr>
            <a:lstStyle/>
            <a:p>
              <a:pPr>
                <a:lnSpc>
                  <a:spcPct val="130000"/>
                </a:lnSpc>
              </a:pPr>
              <a:r>
                <a:rPr lang="en-US" altLang="ko-KR" sz="1000" dirty="0">
                  <a:latin typeface="+mn-ea"/>
                </a:rPr>
                <a:t>3) </a:t>
              </a:r>
              <a:r>
                <a:rPr lang="ko-KR" altLang="en-US" sz="1000" dirty="0">
                  <a:latin typeface="+mn-ea"/>
                </a:rPr>
                <a:t>작업현장에는 현장대리인을 지정</a:t>
              </a:r>
              <a:r>
                <a:rPr lang="en-US" altLang="ko-KR" sz="1000" dirty="0">
                  <a:latin typeface="+mn-ea"/>
                </a:rPr>
                <a:t>/</a:t>
              </a:r>
              <a:r>
                <a:rPr lang="ko-KR" altLang="en-US" sz="1000" dirty="0">
                  <a:latin typeface="+mn-ea"/>
                </a:rPr>
                <a:t>상주시켜 안전사고</a:t>
              </a:r>
              <a:r>
                <a:rPr lang="en-US" altLang="ko-KR" sz="1000" dirty="0">
                  <a:latin typeface="+mn-ea"/>
                </a:rPr>
                <a:t>[</a:t>
              </a:r>
              <a:r>
                <a:rPr lang="ko-KR" altLang="en-US" sz="1000" dirty="0">
                  <a:latin typeface="+mn-ea"/>
                </a:rPr>
                <a:t>화재</a:t>
              </a:r>
              <a:r>
                <a:rPr lang="en-US" altLang="ko-KR" sz="1000" dirty="0">
                  <a:latin typeface="+mn-ea"/>
                </a:rPr>
                <a:t>/</a:t>
              </a:r>
              <a:r>
                <a:rPr lang="ko-KR" altLang="en-US" sz="1000" dirty="0">
                  <a:latin typeface="+mn-ea"/>
                </a:rPr>
                <a:t>인사</a:t>
              </a:r>
              <a:r>
                <a:rPr lang="en-US" altLang="ko-KR" sz="1000" dirty="0">
                  <a:latin typeface="+mn-ea"/>
                </a:rPr>
                <a:t>/</a:t>
              </a:r>
              <a:r>
                <a:rPr lang="ko-KR" altLang="en-US" sz="1000" dirty="0">
                  <a:latin typeface="+mn-ea"/>
                </a:rPr>
                <a:t>추락 등</a:t>
              </a:r>
              <a:r>
                <a:rPr lang="en-US" altLang="ko-KR" sz="1000" dirty="0">
                  <a:latin typeface="+mn-ea"/>
                </a:rPr>
                <a:t>] </a:t>
              </a:r>
              <a:r>
                <a:rPr lang="ko-KR" altLang="en-US" sz="1000" dirty="0">
                  <a:latin typeface="+mn-ea"/>
                </a:rPr>
                <a:t>예방에 상시 감독</a:t>
              </a:r>
              <a:r>
                <a:rPr lang="en-US" altLang="ko-KR" sz="1000" dirty="0">
                  <a:latin typeface="+mn-ea"/>
                </a:rPr>
                <a:t>/</a:t>
              </a:r>
              <a:r>
                <a:rPr lang="ko-KR" altLang="en-US" sz="1000" dirty="0">
                  <a:latin typeface="+mn-ea"/>
                </a:rPr>
                <a:t>주시한다</a:t>
              </a:r>
              <a:r>
                <a:rPr lang="en-US" altLang="ko-KR" sz="1000" dirty="0">
                  <a:latin typeface="+mn-ea"/>
                </a:rPr>
                <a:t>.</a:t>
              </a:r>
              <a:endParaRPr lang="ko-KR" altLang="en-US" sz="1000" dirty="0">
                <a:latin typeface="+mn-ea"/>
              </a:endParaRPr>
            </a:p>
          </p:txBody>
        </p:sp>
        <p:sp>
          <p:nvSpPr>
            <p:cNvPr id="51" name="직사각형 50"/>
            <p:cNvSpPr/>
            <p:nvPr/>
          </p:nvSpPr>
          <p:spPr>
            <a:xfrm>
              <a:off x="429397" y="4715307"/>
              <a:ext cx="6211908" cy="270330"/>
            </a:xfrm>
            <a:prstGeom prst="rect">
              <a:avLst/>
            </a:prstGeom>
          </p:spPr>
          <p:txBody>
            <a:bodyPr wrap="square">
              <a:spAutoFit/>
            </a:bodyPr>
            <a:lstStyle/>
            <a:p>
              <a:pPr>
                <a:lnSpc>
                  <a:spcPct val="130000"/>
                </a:lnSpc>
              </a:pPr>
              <a:r>
                <a:rPr lang="en-US" altLang="ko-KR" sz="1000" dirty="0">
                  <a:latin typeface="+mn-ea"/>
                </a:rPr>
                <a:t>4) </a:t>
              </a:r>
              <a:r>
                <a:rPr lang="ko-KR" altLang="en-US" sz="1000" dirty="0">
                  <a:latin typeface="+mn-ea"/>
                </a:rPr>
                <a:t>본 공사진행 중 기존 시설물 </a:t>
              </a:r>
              <a:r>
                <a:rPr lang="ko-KR" altLang="en-US" sz="1000" dirty="0" err="1">
                  <a:latin typeface="+mn-ea"/>
                </a:rPr>
                <a:t>소손이</a:t>
              </a:r>
              <a:r>
                <a:rPr lang="ko-KR" altLang="en-US" sz="1000" dirty="0">
                  <a:latin typeface="+mn-ea"/>
                </a:rPr>
                <a:t> 발생될 경우</a:t>
              </a:r>
              <a:r>
                <a:rPr lang="en-US" altLang="ko-KR" sz="1000" dirty="0">
                  <a:latin typeface="+mn-ea"/>
                </a:rPr>
                <a:t>, </a:t>
              </a:r>
              <a:r>
                <a:rPr lang="ko-KR" altLang="en-US" sz="1000" dirty="0">
                  <a:latin typeface="+mn-ea"/>
                </a:rPr>
                <a:t>시공업체는 </a:t>
              </a:r>
              <a:r>
                <a:rPr lang="en-US" altLang="ko-KR" sz="1000" dirty="0">
                  <a:latin typeface="+mn-ea"/>
                </a:rPr>
                <a:t>3</a:t>
              </a:r>
              <a:r>
                <a:rPr lang="ko-KR" altLang="en-US" sz="1000" dirty="0">
                  <a:latin typeface="+mn-ea"/>
                </a:rPr>
                <a:t>주일 내 원상복구를 완료하여야 한다</a:t>
              </a:r>
              <a:r>
                <a:rPr lang="en-US" altLang="ko-KR" sz="1000" dirty="0">
                  <a:latin typeface="+mn-ea"/>
                </a:rPr>
                <a:t>.</a:t>
              </a:r>
              <a:endParaRPr lang="ko-KR" altLang="en-US" sz="1000" dirty="0">
                <a:latin typeface="+mn-ea"/>
              </a:endParaRPr>
            </a:p>
          </p:txBody>
        </p:sp>
        <p:sp>
          <p:nvSpPr>
            <p:cNvPr id="52" name="직사각형 51"/>
            <p:cNvSpPr/>
            <p:nvPr/>
          </p:nvSpPr>
          <p:spPr>
            <a:xfrm>
              <a:off x="429397" y="4958996"/>
              <a:ext cx="6211908" cy="470385"/>
            </a:xfrm>
            <a:prstGeom prst="rect">
              <a:avLst/>
            </a:prstGeom>
          </p:spPr>
          <p:txBody>
            <a:bodyPr wrap="square">
              <a:spAutoFit/>
            </a:bodyPr>
            <a:lstStyle/>
            <a:p>
              <a:pPr>
                <a:lnSpc>
                  <a:spcPct val="130000"/>
                </a:lnSpc>
              </a:pPr>
              <a:r>
                <a:rPr lang="en-US" altLang="ko-KR" sz="1000" dirty="0">
                  <a:latin typeface="+mn-ea"/>
                </a:rPr>
                <a:t>5) </a:t>
              </a:r>
              <a:r>
                <a:rPr lang="ko-KR" altLang="en-US" sz="1000" dirty="0">
                  <a:latin typeface="+mn-ea"/>
                </a:rPr>
                <a:t>제품의 반</a:t>
              </a:r>
              <a:r>
                <a:rPr lang="en-US" altLang="ko-KR" sz="1000" dirty="0">
                  <a:latin typeface="+mn-ea"/>
                </a:rPr>
                <a:t>.</a:t>
              </a:r>
              <a:r>
                <a:rPr lang="ko-KR" altLang="en-US" sz="1000" dirty="0" err="1">
                  <a:latin typeface="+mn-ea"/>
                </a:rPr>
                <a:t>출입시</a:t>
              </a:r>
              <a:r>
                <a:rPr lang="ko-KR" altLang="en-US" sz="1000" dirty="0">
                  <a:latin typeface="+mn-ea"/>
                </a:rPr>
                <a:t> </a:t>
              </a:r>
              <a:r>
                <a:rPr lang="en-US" altLang="ko-KR" sz="1000" dirty="0">
                  <a:latin typeface="+mn-ea"/>
                </a:rPr>
                <a:t>E/L </a:t>
              </a:r>
              <a:r>
                <a:rPr lang="ko-KR" altLang="en-US" sz="1000" dirty="0">
                  <a:latin typeface="+mn-ea"/>
                </a:rPr>
                <a:t>및 복도 등에 손상이 없도록 </a:t>
              </a:r>
              <a:r>
                <a:rPr lang="en-US" altLang="ko-KR" sz="1000" dirty="0">
                  <a:latin typeface="+mn-ea"/>
                </a:rPr>
                <a:t>PRO-</a:t>
              </a:r>
              <a:r>
                <a:rPr lang="en-US" altLang="ko-KR" sz="1000" dirty="0" err="1">
                  <a:latin typeface="+mn-ea"/>
                </a:rPr>
                <a:t>TECTION</a:t>
              </a:r>
              <a:r>
                <a:rPr lang="ko-KR" altLang="en-US" sz="1000" dirty="0">
                  <a:latin typeface="+mn-ea"/>
                </a:rPr>
                <a:t>을 철저히 하고 손상이 발생시에는</a:t>
              </a:r>
            </a:p>
            <a:p>
              <a:pPr>
                <a:lnSpc>
                  <a:spcPct val="130000"/>
                </a:lnSpc>
              </a:pPr>
              <a:r>
                <a:rPr lang="ko-KR" altLang="en-US" sz="1000" dirty="0">
                  <a:latin typeface="+mn-ea"/>
                </a:rPr>
                <a:t>  시공자가 </a:t>
              </a:r>
              <a:r>
                <a:rPr lang="ko-KR" altLang="en-US" sz="1000" dirty="0" err="1">
                  <a:latin typeface="+mn-ea"/>
                </a:rPr>
                <a:t>원상복구한다</a:t>
              </a:r>
              <a:r>
                <a:rPr lang="en-US" altLang="ko-KR" sz="1000" dirty="0">
                  <a:latin typeface="+mn-ea"/>
                </a:rPr>
                <a:t>.</a:t>
              </a:r>
              <a:endParaRPr lang="ko-KR" altLang="en-US" sz="1000" dirty="0">
                <a:latin typeface="+mn-ea"/>
              </a:endParaRPr>
            </a:p>
          </p:txBody>
        </p:sp>
        <p:sp>
          <p:nvSpPr>
            <p:cNvPr id="53" name="직사각형 52"/>
            <p:cNvSpPr/>
            <p:nvPr/>
          </p:nvSpPr>
          <p:spPr>
            <a:xfrm>
              <a:off x="429397" y="5402740"/>
              <a:ext cx="6211908" cy="270330"/>
            </a:xfrm>
            <a:prstGeom prst="rect">
              <a:avLst/>
            </a:prstGeom>
          </p:spPr>
          <p:txBody>
            <a:bodyPr wrap="square">
              <a:spAutoFit/>
            </a:bodyPr>
            <a:lstStyle/>
            <a:p>
              <a:pPr>
                <a:lnSpc>
                  <a:spcPct val="130000"/>
                </a:lnSpc>
              </a:pPr>
              <a:r>
                <a:rPr lang="en-US" altLang="ko-KR" sz="1000" dirty="0">
                  <a:latin typeface="+mn-ea"/>
                </a:rPr>
                <a:t>6) </a:t>
              </a:r>
              <a:r>
                <a:rPr lang="ko-KR" altLang="en-US" sz="1000" dirty="0">
                  <a:latin typeface="+mn-ea"/>
                </a:rPr>
                <a:t>작업진행 중 시방 및 도면이 상이 할 경우 감독자와 협의 후 지시에 따른다</a:t>
              </a:r>
              <a:r>
                <a:rPr lang="en-US" altLang="ko-KR" sz="1000" dirty="0">
                  <a:latin typeface="+mn-ea"/>
                </a:rPr>
                <a:t>.</a:t>
              </a:r>
              <a:endParaRPr lang="ko-KR" altLang="en-US" sz="1000" dirty="0">
                <a:latin typeface="+mn-ea"/>
              </a:endParaRPr>
            </a:p>
          </p:txBody>
        </p:sp>
        <p:sp>
          <p:nvSpPr>
            <p:cNvPr id="54" name="직사각형 53"/>
            <p:cNvSpPr/>
            <p:nvPr/>
          </p:nvSpPr>
          <p:spPr>
            <a:xfrm>
              <a:off x="429397" y="5646429"/>
              <a:ext cx="6211908" cy="270330"/>
            </a:xfrm>
            <a:prstGeom prst="rect">
              <a:avLst/>
            </a:prstGeom>
          </p:spPr>
          <p:txBody>
            <a:bodyPr wrap="square">
              <a:spAutoFit/>
            </a:bodyPr>
            <a:lstStyle/>
            <a:p>
              <a:pPr>
                <a:lnSpc>
                  <a:spcPct val="130000"/>
                </a:lnSpc>
              </a:pPr>
              <a:r>
                <a:rPr lang="en-US" altLang="ko-KR" sz="1000" dirty="0">
                  <a:latin typeface="+mn-ea"/>
                </a:rPr>
                <a:t>7) </a:t>
              </a:r>
              <a:r>
                <a:rPr lang="ko-KR" altLang="en-US" sz="1000" dirty="0" err="1">
                  <a:latin typeface="+mn-ea"/>
                </a:rPr>
                <a:t>준공계</a:t>
              </a:r>
              <a:r>
                <a:rPr lang="ko-KR" altLang="en-US" sz="1000" dirty="0">
                  <a:latin typeface="+mn-ea"/>
                </a:rPr>
                <a:t> 제출시 공사</a:t>
              </a:r>
              <a:r>
                <a:rPr lang="en-US" altLang="ko-KR" sz="1000" dirty="0">
                  <a:latin typeface="+mn-ea"/>
                </a:rPr>
                <a:t>/</a:t>
              </a:r>
              <a:r>
                <a:rPr lang="ko-KR" altLang="en-US" sz="1000" dirty="0">
                  <a:latin typeface="+mn-ea"/>
                </a:rPr>
                <a:t>공정별 시공 전</a:t>
              </a:r>
              <a:r>
                <a:rPr lang="en-US" altLang="ko-KR" sz="1000" dirty="0">
                  <a:latin typeface="+mn-ea"/>
                </a:rPr>
                <a:t>,</a:t>
              </a:r>
              <a:r>
                <a:rPr lang="ko-KR" altLang="en-US" sz="1000" dirty="0">
                  <a:latin typeface="+mn-ea"/>
                </a:rPr>
                <a:t>중</a:t>
              </a:r>
              <a:r>
                <a:rPr lang="en-US" altLang="ko-KR" sz="1000" dirty="0">
                  <a:latin typeface="+mn-ea"/>
                </a:rPr>
                <a:t>,</a:t>
              </a:r>
              <a:r>
                <a:rPr lang="ko-KR" altLang="en-US" sz="1000" dirty="0">
                  <a:latin typeface="+mn-ea"/>
                </a:rPr>
                <a:t>후의 촬영사진을 편집하여 첨부하도록 한다</a:t>
              </a:r>
              <a:r>
                <a:rPr lang="en-US" altLang="ko-KR" sz="1000" dirty="0">
                  <a:latin typeface="+mn-ea"/>
                </a:rPr>
                <a:t>.</a:t>
              </a:r>
              <a:endParaRPr lang="ko-KR" altLang="en-US" sz="1000" dirty="0">
                <a:latin typeface="+mn-ea"/>
              </a:endParaRPr>
            </a:p>
          </p:txBody>
        </p:sp>
        <p:sp>
          <p:nvSpPr>
            <p:cNvPr id="55" name="직사각형 54"/>
            <p:cNvSpPr/>
            <p:nvPr/>
          </p:nvSpPr>
          <p:spPr>
            <a:xfrm>
              <a:off x="429397" y="5890118"/>
              <a:ext cx="6211908" cy="270330"/>
            </a:xfrm>
            <a:prstGeom prst="rect">
              <a:avLst/>
            </a:prstGeom>
          </p:spPr>
          <p:txBody>
            <a:bodyPr wrap="square">
              <a:spAutoFit/>
            </a:bodyPr>
            <a:lstStyle/>
            <a:p>
              <a:pPr>
                <a:lnSpc>
                  <a:spcPct val="130000"/>
                </a:lnSpc>
              </a:pPr>
              <a:r>
                <a:rPr lang="en-US" altLang="ko-KR" sz="1000" dirty="0">
                  <a:latin typeface="+mn-ea"/>
                </a:rPr>
                <a:t>8) </a:t>
              </a:r>
              <a:r>
                <a:rPr lang="ko-KR" altLang="en-US" sz="1000" dirty="0">
                  <a:latin typeface="+mn-ea"/>
                </a:rPr>
                <a:t>작업자는 </a:t>
              </a:r>
              <a:r>
                <a:rPr lang="ko-KR" altLang="en-US" sz="1000" dirty="0" err="1">
                  <a:latin typeface="+mn-ea"/>
                </a:rPr>
                <a:t>안전장구류</a:t>
              </a:r>
              <a:r>
                <a:rPr lang="ko-KR" altLang="en-US" sz="1000" dirty="0">
                  <a:latin typeface="+mn-ea"/>
                </a:rPr>
                <a:t> 착용 및 바른 품행으로 입주직원에게 양질의 공사품질을 제공한다</a:t>
              </a:r>
              <a:r>
                <a:rPr lang="en-US" altLang="ko-KR" sz="1000" dirty="0">
                  <a:latin typeface="+mn-ea"/>
                </a:rPr>
                <a:t>.</a:t>
              </a:r>
              <a:endParaRPr lang="ko-KR" altLang="en-US" sz="1000" dirty="0">
                <a:latin typeface="+mn-ea"/>
              </a:endParaRPr>
            </a:p>
          </p:txBody>
        </p:sp>
        <p:sp>
          <p:nvSpPr>
            <p:cNvPr id="56" name="직사각형 55"/>
            <p:cNvSpPr/>
            <p:nvPr/>
          </p:nvSpPr>
          <p:spPr>
            <a:xfrm>
              <a:off x="370204" y="6133808"/>
              <a:ext cx="6211908" cy="270330"/>
            </a:xfrm>
            <a:prstGeom prst="rect">
              <a:avLst/>
            </a:prstGeom>
          </p:spPr>
          <p:txBody>
            <a:bodyPr wrap="square">
              <a:spAutoFit/>
            </a:bodyPr>
            <a:lstStyle/>
            <a:p>
              <a:pPr>
                <a:lnSpc>
                  <a:spcPct val="130000"/>
                </a:lnSpc>
              </a:pPr>
              <a:r>
                <a:rPr lang="en-US" altLang="ko-KR" sz="1000" dirty="0">
                  <a:latin typeface="+mn-ea"/>
                </a:rPr>
                <a:t> 9) </a:t>
              </a:r>
              <a:r>
                <a:rPr lang="ko-KR" altLang="en-US" sz="1000" dirty="0">
                  <a:latin typeface="+mn-ea"/>
                </a:rPr>
                <a:t>작업자는 작업공간 내에서는 항상 안전모를 착용한다</a:t>
              </a:r>
              <a:r>
                <a:rPr lang="en-US" altLang="ko-KR" sz="1000" dirty="0">
                  <a:latin typeface="+mn-ea"/>
                </a:rPr>
                <a:t>.</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직사각형 12"/>
          <p:cNvSpPr/>
          <p:nvPr/>
        </p:nvSpPr>
        <p:spPr>
          <a:xfrm>
            <a:off x="285728" y="428596"/>
            <a:ext cx="6286544" cy="850112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0" name="직사각형 19"/>
          <p:cNvSpPr/>
          <p:nvPr/>
        </p:nvSpPr>
        <p:spPr>
          <a:xfrm>
            <a:off x="428604" y="2458920"/>
            <a:ext cx="6357982" cy="246221"/>
          </a:xfrm>
          <a:prstGeom prst="rect">
            <a:avLst/>
          </a:prstGeom>
        </p:spPr>
        <p:txBody>
          <a:bodyPr wrap="square">
            <a:spAutoFit/>
          </a:bodyPr>
          <a:lstStyle/>
          <a:p>
            <a:r>
              <a:rPr lang="en-US" altLang="ko-KR" sz="1000">
                <a:latin typeface="+mn-ea"/>
              </a:rPr>
              <a:t>6) </a:t>
            </a:r>
            <a:r>
              <a:rPr lang="ko-KR" altLang="en-US" sz="1000">
                <a:latin typeface="+mn-ea"/>
              </a:rPr>
              <a:t>공정표 및 시공계획서 제출</a:t>
            </a:r>
            <a:endParaRPr lang="ko-KR" altLang="en-US" sz="1000" dirty="0">
              <a:latin typeface="+mn-ea"/>
            </a:endParaRPr>
          </a:p>
        </p:txBody>
      </p:sp>
      <p:sp>
        <p:nvSpPr>
          <p:cNvPr id="21" name="직사각형 20"/>
          <p:cNvSpPr/>
          <p:nvPr/>
        </p:nvSpPr>
        <p:spPr>
          <a:xfrm>
            <a:off x="447654" y="2631802"/>
            <a:ext cx="6143668" cy="443455"/>
          </a:xfrm>
          <a:prstGeom prst="rect">
            <a:avLst/>
          </a:prstGeom>
        </p:spPr>
        <p:txBody>
          <a:bodyPr wrap="square">
            <a:spAutoFit/>
          </a:bodyPr>
          <a:lstStyle/>
          <a:p>
            <a:pPr>
              <a:lnSpc>
                <a:spcPct val="120000"/>
              </a:lnSpc>
            </a:pPr>
            <a:r>
              <a:rPr lang="ko-KR" altLang="en-US" sz="1000">
                <a:latin typeface="+mn-ea"/>
              </a:rPr>
              <a:t> </a:t>
            </a:r>
            <a:r>
              <a:rPr lang="en-US" altLang="ko-KR" sz="1000">
                <a:latin typeface="+mn-ea"/>
              </a:rPr>
              <a:t>-. </a:t>
            </a:r>
            <a:r>
              <a:rPr lang="ko-KR" altLang="en-US" sz="1000">
                <a:latin typeface="+mn-ea"/>
              </a:rPr>
              <a:t>착공 전에 공정표 및 시공계획서를 작성하여 책임기술자의 승인을 받는다</a:t>
            </a:r>
            <a:r>
              <a:rPr lang="en-US" altLang="ko-KR" sz="1000">
                <a:latin typeface="+mn-ea"/>
              </a:rPr>
              <a:t>. </a:t>
            </a:r>
            <a:r>
              <a:rPr lang="ko-KR" altLang="en-US" sz="1000">
                <a:latin typeface="+mn-ea"/>
              </a:rPr>
              <a:t>그리고</a:t>
            </a:r>
            <a:r>
              <a:rPr lang="en-US" altLang="ko-KR" sz="1000">
                <a:latin typeface="+mn-ea"/>
              </a:rPr>
              <a:t>, </a:t>
            </a:r>
            <a:r>
              <a:rPr lang="ko-KR" altLang="en-US" sz="1000">
                <a:latin typeface="+mn-ea"/>
              </a:rPr>
              <a:t>필요에 따라 각 </a:t>
            </a:r>
          </a:p>
          <a:p>
            <a:pPr>
              <a:lnSpc>
                <a:spcPct val="120000"/>
              </a:lnSpc>
            </a:pPr>
            <a:r>
              <a:rPr lang="ko-KR" altLang="en-US" sz="1000">
                <a:latin typeface="+mn-ea"/>
              </a:rPr>
              <a:t>   공사의 세부 시공계획서를 작성하여 책임기술자의 승인 후 적용한다</a:t>
            </a:r>
            <a:r>
              <a:rPr lang="en-US" altLang="ko-KR" sz="1000">
                <a:latin typeface="+mn-ea"/>
              </a:rPr>
              <a:t>.</a:t>
            </a:r>
            <a:endParaRPr lang="ko-KR" altLang="en-US" sz="1000" dirty="0">
              <a:latin typeface="+mn-ea"/>
            </a:endParaRPr>
          </a:p>
        </p:txBody>
      </p:sp>
      <p:sp>
        <p:nvSpPr>
          <p:cNvPr id="22" name="직사각형 21"/>
          <p:cNvSpPr/>
          <p:nvPr/>
        </p:nvSpPr>
        <p:spPr>
          <a:xfrm>
            <a:off x="428604" y="3109481"/>
            <a:ext cx="6143668" cy="270330"/>
          </a:xfrm>
          <a:prstGeom prst="rect">
            <a:avLst/>
          </a:prstGeom>
        </p:spPr>
        <p:txBody>
          <a:bodyPr wrap="square">
            <a:spAutoFit/>
          </a:bodyPr>
          <a:lstStyle/>
          <a:p>
            <a:pPr>
              <a:lnSpc>
                <a:spcPct val="130000"/>
              </a:lnSpc>
            </a:pPr>
            <a:r>
              <a:rPr lang="en-US" altLang="ko-KR" sz="1000">
                <a:latin typeface="+mn-ea"/>
              </a:rPr>
              <a:t>7) </a:t>
            </a:r>
            <a:r>
              <a:rPr lang="ko-KR" altLang="en-US" sz="1000">
                <a:latin typeface="+mn-ea"/>
              </a:rPr>
              <a:t>시공검사 및 입회</a:t>
            </a:r>
            <a:endParaRPr lang="ko-KR" altLang="en-US" sz="1000" dirty="0">
              <a:latin typeface="+mn-ea"/>
            </a:endParaRPr>
          </a:p>
        </p:txBody>
      </p:sp>
      <p:sp>
        <p:nvSpPr>
          <p:cNvPr id="23" name="직사각형 22"/>
          <p:cNvSpPr/>
          <p:nvPr/>
        </p:nvSpPr>
        <p:spPr>
          <a:xfrm>
            <a:off x="500042" y="3334454"/>
            <a:ext cx="6143668" cy="443455"/>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각 공사부분은 미리 책임기술자가 지정한 공정에 이르렀을 때에 검사를 받고 합격 승인을 얻은 후</a:t>
            </a:r>
          </a:p>
          <a:p>
            <a:pPr>
              <a:lnSpc>
                <a:spcPct val="120000"/>
              </a:lnSpc>
            </a:pPr>
            <a:r>
              <a:rPr lang="ko-KR" altLang="en-US" sz="1000">
                <a:latin typeface="+mn-ea"/>
              </a:rPr>
              <a:t>  다음 공정에 착수한다</a:t>
            </a:r>
            <a:r>
              <a:rPr lang="en-US" altLang="ko-KR" sz="1000">
                <a:latin typeface="+mn-ea"/>
              </a:rPr>
              <a:t>.</a:t>
            </a:r>
            <a:endParaRPr lang="ko-KR" altLang="en-US" sz="1000" dirty="0">
              <a:latin typeface="+mn-ea"/>
            </a:endParaRPr>
          </a:p>
        </p:txBody>
      </p:sp>
      <p:sp>
        <p:nvSpPr>
          <p:cNvPr id="24" name="직사각형 23"/>
          <p:cNvSpPr/>
          <p:nvPr/>
        </p:nvSpPr>
        <p:spPr>
          <a:xfrm>
            <a:off x="428604" y="4163674"/>
            <a:ext cx="6143668" cy="270330"/>
          </a:xfrm>
          <a:prstGeom prst="rect">
            <a:avLst/>
          </a:prstGeom>
        </p:spPr>
        <p:txBody>
          <a:bodyPr wrap="square">
            <a:spAutoFit/>
          </a:bodyPr>
          <a:lstStyle/>
          <a:p>
            <a:pPr>
              <a:lnSpc>
                <a:spcPct val="130000"/>
              </a:lnSpc>
            </a:pPr>
            <a:r>
              <a:rPr lang="en-US" altLang="ko-KR" sz="1000">
                <a:latin typeface="+mn-ea"/>
              </a:rPr>
              <a:t>8) </a:t>
            </a:r>
            <a:r>
              <a:rPr lang="ko-KR" altLang="en-US" sz="1000">
                <a:latin typeface="+mn-ea"/>
              </a:rPr>
              <a:t>공사장 관리</a:t>
            </a:r>
            <a:endParaRPr lang="ko-KR" altLang="en-US" sz="1000" dirty="0">
              <a:latin typeface="+mn-ea"/>
            </a:endParaRPr>
          </a:p>
        </p:txBody>
      </p:sp>
      <p:sp>
        <p:nvSpPr>
          <p:cNvPr id="25" name="직사각형 24"/>
          <p:cNvSpPr/>
          <p:nvPr/>
        </p:nvSpPr>
        <p:spPr>
          <a:xfrm>
            <a:off x="500042" y="4387746"/>
            <a:ext cx="6143668" cy="258789"/>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공사장 관리는 다음 각 항을 준수한다</a:t>
            </a:r>
            <a:r>
              <a:rPr lang="en-US" altLang="ko-KR" sz="1000">
                <a:latin typeface="+mn-ea"/>
              </a:rPr>
              <a:t>.</a:t>
            </a:r>
            <a:endParaRPr lang="ko-KR" altLang="en-US" sz="1000" dirty="0">
              <a:latin typeface="+mn-ea"/>
            </a:endParaRPr>
          </a:p>
        </p:txBody>
      </p:sp>
      <p:sp>
        <p:nvSpPr>
          <p:cNvPr id="26" name="직사각형 25"/>
          <p:cNvSpPr/>
          <p:nvPr/>
        </p:nvSpPr>
        <p:spPr>
          <a:xfrm>
            <a:off x="500042" y="3720219"/>
            <a:ext cx="6143668" cy="443455"/>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시공 후 검사가 불가능 또는 난이 한 공사 및 조정을 요하는 것은 그 시공을 함에 있어서 반드시</a:t>
            </a:r>
          </a:p>
          <a:p>
            <a:pPr>
              <a:lnSpc>
                <a:spcPct val="120000"/>
              </a:lnSpc>
            </a:pPr>
            <a:r>
              <a:rPr lang="ko-KR" altLang="en-US" sz="1000">
                <a:latin typeface="+mn-ea"/>
              </a:rPr>
              <a:t>  책임기술자의 입회</a:t>
            </a:r>
            <a:r>
              <a:rPr lang="en-US" altLang="ko-KR" sz="1000">
                <a:latin typeface="+mn-ea"/>
              </a:rPr>
              <a:t>&amp;</a:t>
            </a:r>
            <a:r>
              <a:rPr lang="ko-KR" altLang="en-US" sz="1000">
                <a:latin typeface="+mn-ea"/>
              </a:rPr>
              <a:t>협의 하에 시공한다</a:t>
            </a:r>
            <a:r>
              <a:rPr lang="en-US" altLang="ko-KR" sz="1000">
                <a:latin typeface="+mn-ea"/>
              </a:rPr>
              <a:t>.</a:t>
            </a:r>
            <a:endParaRPr lang="ko-KR" altLang="en-US" sz="1000" dirty="0">
              <a:latin typeface="+mn-ea"/>
            </a:endParaRPr>
          </a:p>
        </p:txBody>
      </p:sp>
      <p:sp>
        <p:nvSpPr>
          <p:cNvPr id="27" name="직사각형 26"/>
          <p:cNvSpPr/>
          <p:nvPr/>
        </p:nvSpPr>
        <p:spPr>
          <a:xfrm>
            <a:off x="571480" y="4657967"/>
            <a:ext cx="5715040" cy="1015663"/>
          </a:xfrm>
          <a:prstGeom prst="rect">
            <a:avLst/>
          </a:prstGeom>
          <a:ln>
            <a:solidFill>
              <a:schemeClr val="tx1"/>
            </a:solidFill>
          </a:ln>
        </p:spPr>
        <p:txBody>
          <a:bodyPr wrap="square">
            <a:spAutoFit/>
          </a:bodyPr>
          <a:lstStyle/>
          <a:p>
            <a:pPr>
              <a:lnSpc>
                <a:spcPct val="120000"/>
              </a:lnSpc>
            </a:pPr>
            <a:r>
              <a:rPr lang="ko-KR" altLang="en-US" sz="1000">
                <a:latin typeface="+mn-ea"/>
              </a:rPr>
              <a:t>ㄱ</a:t>
            </a:r>
            <a:r>
              <a:rPr lang="en-US" altLang="ko-KR" sz="1000">
                <a:latin typeface="+mn-ea"/>
              </a:rPr>
              <a:t>. </a:t>
            </a:r>
            <a:r>
              <a:rPr lang="ko-KR" altLang="en-US" sz="1000">
                <a:latin typeface="+mn-ea"/>
              </a:rPr>
              <a:t>모든 작업자는 공사 중 매일 상황실에 공사인원 및 작업내용을 신고한 후 작업증을 패용한 후 </a:t>
            </a:r>
          </a:p>
          <a:p>
            <a:pPr>
              <a:lnSpc>
                <a:spcPct val="120000"/>
              </a:lnSpc>
            </a:pPr>
            <a:r>
              <a:rPr lang="ko-KR" altLang="en-US" sz="1000">
                <a:latin typeface="+mn-ea"/>
              </a:rPr>
              <a:t>    작업에 임한다</a:t>
            </a:r>
            <a:r>
              <a:rPr lang="en-US" altLang="ko-KR" sz="1000">
                <a:latin typeface="+mn-ea"/>
              </a:rPr>
              <a:t>.</a:t>
            </a:r>
          </a:p>
          <a:p>
            <a:pPr>
              <a:lnSpc>
                <a:spcPct val="120000"/>
              </a:lnSpc>
            </a:pPr>
            <a:r>
              <a:rPr lang="ko-KR" altLang="en-US" sz="1000">
                <a:latin typeface="+mn-ea"/>
              </a:rPr>
              <a:t>ㄴ</a:t>
            </a:r>
            <a:r>
              <a:rPr lang="en-US" altLang="ko-KR" sz="1000">
                <a:latin typeface="+mn-ea"/>
              </a:rPr>
              <a:t>. </a:t>
            </a:r>
            <a:r>
              <a:rPr lang="ko-KR" altLang="en-US" sz="1000">
                <a:latin typeface="+mn-ea"/>
              </a:rPr>
              <a:t>화재</a:t>
            </a:r>
            <a:r>
              <a:rPr lang="en-US" altLang="ko-KR" sz="1000">
                <a:latin typeface="+mn-ea"/>
              </a:rPr>
              <a:t>, </a:t>
            </a:r>
            <a:r>
              <a:rPr lang="ko-KR" altLang="en-US" sz="1000">
                <a:latin typeface="+mn-ea"/>
              </a:rPr>
              <a:t>도난</a:t>
            </a:r>
            <a:r>
              <a:rPr lang="en-US" altLang="ko-KR" sz="1000">
                <a:latin typeface="+mn-ea"/>
              </a:rPr>
              <a:t>, </a:t>
            </a:r>
            <a:r>
              <a:rPr lang="ko-KR" altLang="en-US" sz="1000">
                <a:latin typeface="+mn-ea"/>
              </a:rPr>
              <a:t>소음방지</a:t>
            </a:r>
            <a:r>
              <a:rPr lang="en-US" altLang="ko-KR" sz="1000">
                <a:latin typeface="+mn-ea"/>
              </a:rPr>
              <a:t>, </a:t>
            </a:r>
            <a:r>
              <a:rPr lang="ko-KR" altLang="en-US" sz="1000">
                <a:latin typeface="+mn-ea"/>
              </a:rPr>
              <a:t>위험물 및 그 위치표시 기타 사고방지에 대한 단속을 철저히 한다</a:t>
            </a:r>
            <a:r>
              <a:rPr lang="en-US" altLang="ko-KR" sz="1000">
                <a:latin typeface="+mn-ea"/>
              </a:rPr>
              <a:t>.</a:t>
            </a:r>
          </a:p>
          <a:p>
            <a:pPr>
              <a:lnSpc>
                <a:spcPct val="120000"/>
              </a:lnSpc>
            </a:pPr>
            <a:r>
              <a:rPr lang="ko-KR" altLang="en-US" sz="1000">
                <a:latin typeface="+mn-ea"/>
              </a:rPr>
              <a:t>ㄷ</a:t>
            </a:r>
            <a:r>
              <a:rPr lang="en-US" altLang="ko-KR" sz="1000">
                <a:latin typeface="+mn-ea"/>
              </a:rPr>
              <a:t>. </a:t>
            </a:r>
            <a:r>
              <a:rPr lang="ko-KR" altLang="en-US" sz="1000">
                <a:latin typeface="+mn-ea"/>
              </a:rPr>
              <a:t>시공기구 및 시공설비의 정리와 관리</a:t>
            </a:r>
            <a:r>
              <a:rPr lang="en-US" altLang="ko-KR" sz="1000">
                <a:latin typeface="+mn-ea"/>
              </a:rPr>
              <a:t>, </a:t>
            </a:r>
            <a:r>
              <a:rPr lang="ko-KR" altLang="en-US" sz="1000">
                <a:latin typeface="+mn-ea"/>
              </a:rPr>
              <a:t>작업 후 현장내의 청소 및 정리정돈을 철저히 한다</a:t>
            </a:r>
            <a:r>
              <a:rPr lang="en-US" altLang="ko-KR" sz="1000">
                <a:latin typeface="+mn-ea"/>
              </a:rPr>
              <a:t>.</a:t>
            </a:r>
          </a:p>
          <a:p>
            <a:pPr>
              <a:lnSpc>
                <a:spcPct val="120000"/>
              </a:lnSpc>
            </a:pPr>
            <a:r>
              <a:rPr lang="ko-KR" altLang="en-US" sz="1000">
                <a:latin typeface="+mn-ea"/>
              </a:rPr>
              <a:t>ㄹ</a:t>
            </a:r>
            <a:r>
              <a:rPr lang="en-US" altLang="ko-KR" sz="1000">
                <a:latin typeface="+mn-ea"/>
              </a:rPr>
              <a:t>. </a:t>
            </a:r>
            <a:r>
              <a:rPr lang="ko-KR" altLang="en-US" sz="1000">
                <a:latin typeface="+mn-ea"/>
              </a:rPr>
              <a:t>작업자는 안전관리에 관한 책임기술자의 지시사항을 철저히 준수한다</a:t>
            </a:r>
            <a:r>
              <a:rPr lang="en-US" altLang="ko-KR" sz="1000">
                <a:latin typeface="+mn-ea"/>
              </a:rPr>
              <a:t>.</a:t>
            </a:r>
            <a:endParaRPr lang="ko-KR" altLang="en-US" sz="1000" dirty="0">
              <a:latin typeface="+mn-ea"/>
            </a:endParaRPr>
          </a:p>
        </p:txBody>
      </p:sp>
      <p:sp>
        <p:nvSpPr>
          <p:cNvPr id="28" name="직사각형 27"/>
          <p:cNvSpPr/>
          <p:nvPr/>
        </p:nvSpPr>
        <p:spPr>
          <a:xfrm>
            <a:off x="428604" y="5781262"/>
            <a:ext cx="6143668" cy="270330"/>
          </a:xfrm>
          <a:prstGeom prst="rect">
            <a:avLst/>
          </a:prstGeom>
        </p:spPr>
        <p:txBody>
          <a:bodyPr wrap="square">
            <a:spAutoFit/>
          </a:bodyPr>
          <a:lstStyle/>
          <a:p>
            <a:pPr>
              <a:lnSpc>
                <a:spcPct val="130000"/>
              </a:lnSpc>
            </a:pPr>
            <a:r>
              <a:rPr lang="en-US" altLang="ko-KR" sz="1000">
                <a:latin typeface="+mn-ea"/>
              </a:rPr>
              <a:t>9) </a:t>
            </a:r>
            <a:r>
              <a:rPr lang="ko-KR" altLang="en-US" sz="1000">
                <a:latin typeface="+mn-ea"/>
              </a:rPr>
              <a:t>보상과 구조물의 손상보수</a:t>
            </a:r>
            <a:endParaRPr lang="ko-KR" altLang="en-US" sz="1000" dirty="0">
              <a:latin typeface="+mn-ea"/>
            </a:endParaRPr>
          </a:p>
        </p:txBody>
      </p:sp>
      <p:sp>
        <p:nvSpPr>
          <p:cNvPr id="29" name="직사각형 28"/>
          <p:cNvSpPr/>
          <p:nvPr/>
        </p:nvSpPr>
        <p:spPr>
          <a:xfrm>
            <a:off x="500042" y="6006235"/>
            <a:ext cx="6143668" cy="443455"/>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건물 각 분야별 시설물에 손상을 주지 않도록 주의해야 하며</a:t>
            </a:r>
            <a:r>
              <a:rPr lang="en-US" altLang="ko-KR" sz="1000">
                <a:latin typeface="+mn-ea"/>
              </a:rPr>
              <a:t>, </a:t>
            </a:r>
            <a:r>
              <a:rPr lang="ko-KR" altLang="en-US" sz="1000">
                <a:latin typeface="+mn-ea"/>
              </a:rPr>
              <a:t>손상이 발생하였을 경우에는 책임기술자</a:t>
            </a:r>
          </a:p>
          <a:p>
            <a:pPr>
              <a:lnSpc>
                <a:spcPct val="120000"/>
              </a:lnSpc>
            </a:pPr>
            <a:r>
              <a:rPr lang="ko-KR" altLang="en-US" sz="1000">
                <a:latin typeface="+mn-ea"/>
              </a:rPr>
              <a:t>  의 지시에 따라 동일한 재료 또는 동등품 이상의 재료로서 원상태로 조속히 복구한다</a:t>
            </a:r>
            <a:r>
              <a:rPr lang="en-US" altLang="ko-KR" sz="1000">
                <a:latin typeface="+mn-ea"/>
              </a:rPr>
              <a:t>.</a:t>
            </a:r>
            <a:endParaRPr lang="ko-KR" altLang="en-US" sz="1000" dirty="0">
              <a:latin typeface="+mn-ea"/>
            </a:endParaRPr>
          </a:p>
        </p:txBody>
      </p:sp>
      <p:sp>
        <p:nvSpPr>
          <p:cNvPr id="31" name="직사각형 30"/>
          <p:cNvSpPr/>
          <p:nvPr/>
        </p:nvSpPr>
        <p:spPr>
          <a:xfrm>
            <a:off x="428604" y="6467067"/>
            <a:ext cx="6143668" cy="270330"/>
          </a:xfrm>
          <a:prstGeom prst="rect">
            <a:avLst/>
          </a:prstGeom>
        </p:spPr>
        <p:txBody>
          <a:bodyPr wrap="square">
            <a:spAutoFit/>
          </a:bodyPr>
          <a:lstStyle/>
          <a:p>
            <a:pPr>
              <a:lnSpc>
                <a:spcPct val="130000"/>
              </a:lnSpc>
            </a:pPr>
            <a:r>
              <a:rPr lang="en-US" altLang="ko-KR" sz="1000" dirty="0">
                <a:latin typeface="+mn-ea"/>
              </a:rPr>
              <a:t>10) </a:t>
            </a:r>
            <a:r>
              <a:rPr lang="ko-KR" altLang="en-US" sz="1000" dirty="0">
                <a:latin typeface="+mn-ea"/>
              </a:rPr>
              <a:t>작업일지 및 공사사진 제출</a:t>
            </a:r>
          </a:p>
        </p:txBody>
      </p:sp>
      <p:sp>
        <p:nvSpPr>
          <p:cNvPr id="48" name="직사각형 47"/>
          <p:cNvSpPr/>
          <p:nvPr/>
        </p:nvSpPr>
        <p:spPr>
          <a:xfrm>
            <a:off x="500042" y="6692040"/>
            <a:ext cx="6143668" cy="443455"/>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작업 현장대리인은 금일과 명일 작업내용을 구체적으로 기재한 작업허가서를 매일 아침 책임기술자</a:t>
            </a:r>
          </a:p>
          <a:p>
            <a:pPr>
              <a:lnSpc>
                <a:spcPct val="120000"/>
              </a:lnSpc>
            </a:pPr>
            <a:r>
              <a:rPr lang="ko-KR" altLang="en-US" sz="1000">
                <a:latin typeface="+mn-ea"/>
              </a:rPr>
              <a:t>  에게 제출한다</a:t>
            </a:r>
            <a:r>
              <a:rPr lang="en-US" altLang="ko-KR" sz="1000">
                <a:latin typeface="+mn-ea"/>
              </a:rPr>
              <a:t>.</a:t>
            </a:r>
            <a:endParaRPr lang="ko-KR" altLang="en-US" sz="1000" dirty="0">
              <a:latin typeface="+mn-ea"/>
            </a:endParaRPr>
          </a:p>
        </p:txBody>
      </p:sp>
      <p:sp>
        <p:nvSpPr>
          <p:cNvPr id="49" name="직사각형 48"/>
          <p:cNvSpPr/>
          <p:nvPr/>
        </p:nvSpPr>
        <p:spPr>
          <a:xfrm>
            <a:off x="500042" y="7060450"/>
            <a:ext cx="6143668" cy="443455"/>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특기사항이 있거나 책임기술자가 필요하다고 지시하는 공정은 사진을 찍어 스크랩북을 만들어 준공과</a:t>
            </a:r>
          </a:p>
          <a:p>
            <a:pPr>
              <a:lnSpc>
                <a:spcPct val="120000"/>
              </a:lnSpc>
            </a:pPr>
            <a:r>
              <a:rPr lang="ko-KR" altLang="en-US" sz="1000">
                <a:latin typeface="+mn-ea"/>
              </a:rPr>
              <a:t>  동시에 제출한다</a:t>
            </a:r>
            <a:r>
              <a:rPr lang="en-US" altLang="ko-KR" sz="1000">
                <a:latin typeface="+mn-ea"/>
              </a:rPr>
              <a:t>.</a:t>
            </a:r>
            <a:endParaRPr lang="ko-KR" altLang="en-US" sz="1000" dirty="0">
              <a:latin typeface="+mn-ea"/>
            </a:endParaRPr>
          </a:p>
        </p:txBody>
      </p:sp>
      <p:sp>
        <p:nvSpPr>
          <p:cNvPr id="50" name="직사각형 49"/>
          <p:cNvSpPr/>
          <p:nvPr/>
        </p:nvSpPr>
        <p:spPr>
          <a:xfrm>
            <a:off x="428604" y="7495774"/>
            <a:ext cx="6143668" cy="270330"/>
          </a:xfrm>
          <a:prstGeom prst="rect">
            <a:avLst/>
          </a:prstGeom>
        </p:spPr>
        <p:txBody>
          <a:bodyPr wrap="square">
            <a:spAutoFit/>
          </a:bodyPr>
          <a:lstStyle/>
          <a:p>
            <a:pPr>
              <a:lnSpc>
                <a:spcPct val="130000"/>
              </a:lnSpc>
            </a:pPr>
            <a:r>
              <a:rPr lang="en-US" altLang="ko-KR" sz="1000" dirty="0">
                <a:latin typeface="+mn-ea"/>
              </a:rPr>
              <a:t>11) </a:t>
            </a:r>
            <a:r>
              <a:rPr lang="ko-KR" altLang="en-US" sz="1000" dirty="0">
                <a:latin typeface="+mn-ea"/>
              </a:rPr>
              <a:t>공 정 회 의</a:t>
            </a:r>
          </a:p>
        </p:txBody>
      </p:sp>
      <p:sp>
        <p:nvSpPr>
          <p:cNvPr id="51" name="직사각형 50"/>
          <p:cNvSpPr/>
          <p:nvPr/>
        </p:nvSpPr>
        <p:spPr>
          <a:xfrm>
            <a:off x="500042" y="7720747"/>
            <a:ext cx="6143668" cy="443455"/>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작업 중 공정의 지연 및 기타 사항으로 책임기술자가 공정회의를 개최할 경우 현장대리인은 반드시</a:t>
            </a:r>
          </a:p>
          <a:p>
            <a:pPr>
              <a:lnSpc>
                <a:spcPct val="120000"/>
              </a:lnSpc>
            </a:pPr>
            <a:r>
              <a:rPr lang="ko-KR" altLang="en-US" sz="1000">
                <a:latin typeface="+mn-ea"/>
              </a:rPr>
              <a:t>  참석하여야 한다</a:t>
            </a:r>
            <a:r>
              <a:rPr lang="en-US" altLang="ko-KR" sz="1000">
                <a:latin typeface="+mn-ea"/>
              </a:rPr>
              <a:t>.</a:t>
            </a:r>
            <a:endParaRPr lang="ko-KR" altLang="en-US" sz="1000" dirty="0">
              <a:latin typeface="+mn-ea"/>
            </a:endParaRPr>
          </a:p>
        </p:txBody>
      </p:sp>
      <p:sp>
        <p:nvSpPr>
          <p:cNvPr id="52" name="직사각형 51"/>
          <p:cNvSpPr/>
          <p:nvPr/>
        </p:nvSpPr>
        <p:spPr>
          <a:xfrm>
            <a:off x="428604" y="8172054"/>
            <a:ext cx="6143668" cy="270330"/>
          </a:xfrm>
          <a:prstGeom prst="rect">
            <a:avLst/>
          </a:prstGeom>
        </p:spPr>
        <p:txBody>
          <a:bodyPr wrap="square">
            <a:spAutoFit/>
          </a:bodyPr>
          <a:lstStyle/>
          <a:p>
            <a:pPr>
              <a:lnSpc>
                <a:spcPct val="130000"/>
              </a:lnSpc>
            </a:pPr>
            <a:r>
              <a:rPr lang="en-US" altLang="ko-KR" sz="1000" dirty="0">
                <a:latin typeface="+mn-ea"/>
              </a:rPr>
              <a:t>12) </a:t>
            </a:r>
            <a:r>
              <a:rPr lang="ko-KR" altLang="en-US" sz="1000" dirty="0">
                <a:latin typeface="+mn-ea"/>
              </a:rPr>
              <a:t>작업자 명단 제출</a:t>
            </a:r>
          </a:p>
        </p:txBody>
      </p:sp>
      <p:sp>
        <p:nvSpPr>
          <p:cNvPr id="53" name="직사각형 52"/>
          <p:cNvSpPr/>
          <p:nvPr/>
        </p:nvSpPr>
        <p:spPr>
          <a:xfrm>
            <a:off x="500042" y="8397027"/>
            <a:ext cx="6143668" cy="443455"/>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현장대리인은 작업 </a:t>
            </a:r>
            <a:r>
              <a:rPr lang="en-US" altLang="ko-KR" sz="1000">
                <a:latin typeface="+mn-ea"/>
              </a:rPr>
              <a:t>7</a:t>
            </a:r>
            <a:r>
              <a:rPr lang="ko-KR" altLang="en-US" sz="1000">
                <a:latin typeface="+mn-ea"/>
              </a:rPr>
              <a:t>일 전 책임기술자에게 반드시 작업자 명단을 제출하여야 한다</a:t>
            </a:r>
            <a:r>
              <a:rPr lang="en-US" altLang="ko-KR" sz="1000">
                <a:latin typeface="+mn-ea"/>
              </a:rPr>
              <a:t>.</a:t>
            </a:r>
          </a:p>
          <a:p>
            <a:pPr>
              <a:lnSpc>
                <a:spcPct val="120000"/>
              </a:lnSpc>
            </a:pPr>
            <a:r>
              <a:rPr lang="en-US" altLang="ko-KR" sz="1000">
                <a:latin typeface="+mn-ea"/>
              </a:rPr>
              <a:t>-. </a:t>
            </a:r>
            <a:r>
              <a:rPr lang="ko-KR" altLang="en-US" sz="1000">
                <a:latin typeface="+mn-ea"/>
              </a:rPr>
              <a:t>기술연구원 내 출입자 신청은 </a:t>
            </a:r>
            <a:r>
              <a:rPr lang="en-US" altLang="ko-KR" sz="1000">
                <a:latin typeface="+mn-ea"/>
              </a:rPr>
              <a:t>5</a:t>
            </a:r>
            <a:r>
              <a:rPr lang="ko-KR" altLang="en-US" sz="1000">
                <a:latin typeface="+mn-ea"/>
              </a:rPr>
              <a:t>일 전 </a:t>
            </a:r>
            <a:r>
              <a:rPr lang="en-US" altLang="ko-KR" sz="1000">
                <a:latin typeface="+mn-ea"/>
              </a:rPr>
              <a:t>LG </a:t>
            </a:r>
            <a:r>
              <a:rPr lang="ko-KR" altLang="en-US" sz="1000">
                <a:latin typeface="+mn-ea"/>
              </a:rPr>
              <a:t>안전환경팀에 허가를 받은 자만 출입이 가능하다</a:t>
            </a:r>
            <a:r>
              <a:rPr lang="en-US" altLang="ko-KR" sz="1000">
                <a:latin typeface="+mn-ea"/>
              </a:rPr>
              <a:t>. </a:t>
            </a:r>
            <a:endParaRPr lang="ko-KR" altLang="en-US" sz="1000" dirty="0">
              <a:latin typeface="+mn-ea"/>
            </a:endParaRPr>
          </a:p>
        </p:txBody>
      </p:sp>
      <p:sp>
        <p:nvSpPr>
          <p:cNvPr id="54" name="직사각형 53"/>
          <p:cNvSpPr/>
          <p:nvPr/>
        </p:nvSpPr>
        <p:spPr>
          <a:xfrm>
            <a:off x="428604" y="1386756"/>
            <a:ext cx="6143668" cy="270330"/>
          </a:xfrm>
          <a:prstGeom prst="rect">
            <a:avLst/>
          </a:prstGeom>
        </p:spPr>
        <p:txBody>
          <a:bodyPr wrap="square">
            <a:spAutoFit/>
          </a:bodyPr>
          <a:lstStyle/>
          <a:p>
            <a:pPr>
              <a:lnSpc>
                <a:spcPct val="130000"/>
              </a:lnSpc>
            </a:pPr>
            <a:r>
              <a:rPr lang="en-US" altLang="ko-KR" sz="1000">
                <a:latin typeface="+mn-ea"/>
              </a:rPr>
              <a:t>4) </a:t>
            </a:r>
            <a:r>
              <a:rPr lang="ko-KR" altLang="en-US" sz="1000">
                <a:latin typeface="+mn-ea"/>
              </a:rPr>
              <a:t>공 사 기 준</a:t>
            </a:r>
            <a:endParaRPr lang="ko-KR" altLang="en-US" sz="1000" dirty="0">
              <a:latin typeface="+mn-ea"/>
            </a:endParaRPr>
          </a:p>
        </p:txBody>
      </p:sp>
      <p:sp>
        <p:nvSpPr>
          <p:cNvPr id="55" name="직사각형 54"/>
          <p:cNvSpPr/>
          <p:nvPr/>
        </p:nvSpPr>
        <p:spPr>
          <a:xfrm>
            <a:off x="428604" y="1583154"/>
            <a:ext cx="6143668" cy="258789"/>
          </a:xfrm>
          <a:prstGeom prst="rect">
            <a:avLst/>
          </a:prstGeom>
        </p:spPr>
        <p:txBody>
          <a:bodyPr wrap="square">
            <a:spAutoFit/>
          </a:bodyPr>
          <a:lstStyle/>
          <a:p>
            <a:pPr>
              <a:lnSpc>
                <a:spcPct val="120000"/>
              </a:lnSpc>
            </a:pPr>
            <a:r>
              <a:rPr lang="ko-KR" altLang="en-US" sz="1000">
                <a:latin typeface="+mn-ea"/>
              </a:rPr>
              <a:t> </a:t>
            </a:r>
            <a:r>
              <a:rPr lang="en-US" altLang="ko-KR" sz="1000">
                <a:latin typeface="+mn-ea"/>
              </a:rPr>
              <a:t>-. </a:t>
            </a:r>
            <a:r>
              <a:rPr lang="ko-KR" altLang="en-US" sz="1000">
                <a:latin typeface="+mn-ea"/>
              </a:rPr>
              <a:t>이 공사는 시방서 및 책임기술자의 지시에 따라 완벽하게 시공한다</a:t>
            </a:r>
            <a:r>
              <a:rPr lang="en-US" altLang="ko-KR" sz="1000">
                <a:latin typeface="+mn-ea"/>
              </a:rPr>
              <a:t>.</a:t>
            </a:r>
            <a:endParaRPr lang="ko-KR" altLang="en-US" sz="1000" dirty="0">
              <a:latin typeface="+mn-ea"/>
            </a:endParaRPr>
          </a:p>
        </p:txBody>
      </p:sp>
      <p:sp>
        <p:nvSpPr>
          <p:cNvPr id="56" name="직사각형 55"/>
          <p:cNvSpPr/>
          <p:nvPr/>
        </p:nvSpPr>
        <p:spPr>
          <a:xfrm>
            <a:off x="428604" y="1800857"/>
            <a:ext cx="6143668" cy="270330"/>
          </a:xfrm>
          <a:prstGeom prst="rect">
            <a:avLst/>
          </a:prstGeom>
        </p:spPr>
        <p:txBody>
          <a:bodyPr wrap="square">
            <a:spAutoFit/>
          </a:bodyPr>
          <a:lstStyle/>
          <a:p>
            <a:pPr>
              <a:lnSpc>
                <a:spcPct val="130000"/>
              </a:lnSpc>
            </a:pPr>
            <a:r>
              <a:rPr lang="en-US" altLang="ko-KR" sz="1000">
                <a:latin typeface="+mn-ea"/>
              </a:rPr>
              <a:t>5) </a:t>
            </a:r>
            <a:r>
              <a:rPr lang="ko-KR" altLang="en-US" sz="1000">
                <a:latin typeface="+mn-ea"/>
              </a:rPr>
              <a:t>공 사 지 시</a:t>
            </a:r>
            <a:endParaRPr lang="ko-KR" altLang="en-US" sz="1000" dirty="0">
              <a:latin typeface="+mn-ea"/>
            </a:endParaRPr>
          </a:p>
        </p:txBody>
      </p:sp>
      <p:sp>
        <p:nvSpPr>
          <p:cNvPr id="57" name="직사각형 56"/>
          <p:cNvSpPr/>
          <p:nvPr/>
        </p:nvSpPr>
        <p:spPr>
          <a:xfrm>
            <a:off x="428604" y="1997255"/>
            <a:ext cx="6143668" cy="443455"/>
          </a:xfrm>
          <a:prstGeom prst="rect">
            <a:avLst/>
          </a:prstGeom>
        </p:spPr>
        <p:txBody>
          <a:bodyPr wrap="square">
            <a:spAutoFit/>
          </a:bodyPr>
          <a:lstStyle/>
          <a:p>
            <a:pPr>
              <a:lnSpc>
                <a:spcPct val="120000"/>
              </a:lnSpc>
            </a:pPr>
            <a:r>
              <a:rPr lang="ko-KR" altLang="en-US" sz="1000">
                <a:latin typeface="+mn-ea"/>
              </a:rPr>
              <a:t> </a:t>
            </a:r>
            <a:r>
              <a:rPr lang="en-US" altLang="ko-KR" sz="1000">
                <a:latin typeface="+mn-ea"/>
              </a:rPr>
              <a:t>-. </a:t>
            </a:r>
            <a:r>
              <a:rPr lang="ko-KR" altLang="en-US" sz="1000">
                <a:latin typeface="+mn-ea"/>
              </a:rPr>
              <a:t>시방서의 내용이 상이 하거나 명기가 없을 때 또는 의문이 생겼을 때에는 책임기술자와 협의 후 </a:t>
            </a:r>
          </a:p>
          <a:p>
            <a:pPr>
              <a:lnSpc>
                <a:spcPct val="120000"/>
              </a:lnSpc>
            </a:pPr>
            <a:r>
              <a:rPr lang="ko-KR" altLang="en-US" sz="1000">
                <a:latin typeface="+mn-ea"/>
              </a:rPr>
              <a:t>   지시에 따른다</a:t>
            </a:r>
            <a:r>
              <a:rPr lang="en-US" altLang="ko-KR" sz="1000">
                <a:latin typeface="+mn-ea"/>
              </a:rPr>
              <a:t>.</a:t>
            </a:r>
            <a:endParaRPr lang="ko-KR" altLang="en-US" sz="1000" dirty="0">
              <a:latin typeface="+mn-ea"/>
            </a:endParaRPr>
          </a:p>
        </p:txBody>
      </p:sp>
      <p:sp>
        <p:nvSpPr>
          <p:cNvPr id="2" name="직사각형 1">
            <a:extLst>
              <a:ext uri="{FF2B5EF4-FFF2-40B4-BE49-F238E27FC236}">
                <a16:creationId xmlns:a16="http://schemas.microsoft.com/office/drawing/2014/main" id="{5E869DD8-6100-6214-40F8-B795ED7459E6}"/>
              </a:ext>
            </a:extLst>
          </p:cNvPr>
          <p:cNvSpPr/>
          <p:nvPr/>
        </p:nvSpPr>
        <p:spPr>
          <a:xfrm>
            <a:off x="428604" y="488911"/>
            <a:ext cx="6143668" cy="270330"/>
          </a:xfrm>
          <a:prstGeom prst="rect">
            <a:avLst/>
          </a:prstGeom>
        </p:spPr>
        <p:txBody>
          <a:bodyPr wrap="square">
            <a:spAutoFit/>
          </a:bodyPr>
          <a:lstStyle/>
          <a:p>
            <a:pPr>
              <a:lnSpc>
                <a:spcPct val="130000"/>
              </a:lnSpc>
            </a:pPr>
            <a:r>
              <a:rPr lang="en-US" altLang="ko-KR" sz="1000">
                <a:latin typeface="+mn-ea"/>
              </a:rPr>
              <a:t>3) </a:t>
            </a:r>
            <a:r>
              <a:rPr lang="ko-KR" altLang="en-US" sz="1000">
                <a:latin typeface="+mn-ea"/>
              </a:rPr>
              <a:t>현 장 대 리 인</a:t>
            </a:r>
            <a:endParaRPr lang="ko-KR" altLang="en-US" sz="1000" dirty="0">
              <a:latin typeface="+mn-ea"/>
            </a:endParaRPr>
          </a:p>
        </p:txBody>
      </p:sp>
      <p:sp>
        <p:nvSpPr>
          <p:cNvPr id="3" name="직사각형 2">
            <a:extLst>
              <a:ext uri="{FF2B5EF4-FFF2-40B4-BE49-F238E27FC236}">
                <a16:creationId xmlns:a16="http://schemas.microsoft.com/office/drawing/2014/main" id="{6E8B89E1-D7B9-EEC0-B872-3AD3E0212AE1}"/>
              </a:ext>
            </a:extLst>
          </p:cNvPr>
          <p:cNvSpPr/>
          <p:nvPr/>
        </p:nvSpPr>
        <p:spPr>
          <a:xfrm>
            <a:off x="428604" y="685309"/>
            <a:ext cx="6143668" cy="646331"/>
          </a:xfrm>
          <a:prstGeom prst="rect">
            <a:avLst/>
          </a:prstGeom>
        </p:spPr>
        <p:txBody>
          <a:bodyPr wrap="square">
            <a:spAutoFit/>
          </a:bodyPr>
          <a:lstStyle/>
          <a:p>
            <a:pPr>
              <a:lnSpc>
                <a:spcPct val="120000"/>
              </a:lnSpc>
            </a:pPr>
            <a:r>
              <a:rPr lang="ko-KR" altLang="en-US" sz="1000">
                <a:latin typeface="+mn-ea"/>
              </a:rPr>
              <a:t> </a:t>
            </a:r>
            <a:r>
              <a:rPr lang="en-US" altLang="ko-KR" sz="1000">
                <a:latin typeface="+mn-ea"/>
              </a:rPr>
              <a:t>-. </a:t>
            </a:r>
            <a:r>
              <a:rPr lang="ko-KR" altLang="en-US" sz="1000">
                <a:latin typeface="+mn-ea"/>
              </a:rPr>
              <a:t>시공자는 공사 현장에 필요한 기술자 중 </a:t>
            </a:r>
            <a:r>
              <a:rPr lang="en-US" altLang="ko-KR" sz="1000">
                <a:latin typeface="+mn-ea"/>
              </a:rPr>
              <a:t>3</a:t>
            </a:r>
            <a:r>
              <a:rPr lang="ko-KR" altLang="en-US" sz="1000">
                <a:latin typeface="+mn-ea"/>
              </a:rPr>
              <a:t>명은 현장 대리인으로 지정하여 책임기술자의 지시에 따라</a:t>
            </a:r>
          </a:p>
          <a:p>
            <a:pPr>
              <a:lnSpc>
                <a:spcPct val="120000"/>
              </a:lnSpc>
            </a:pPr>
            <a:r>
              <a:rPr lang="ko-KR" altLang="en-US" sz="1000">
                <a:latin typeface="+mn-ea"/>
              </a:rPr>
              <a:t>   각종 업무와 보안의 책임을 담당함</a:t>
            </a:r>
            <a:r>
              <a:rPr lang="en-US" altLang="ko-KR" sz="1000">
                <a:latin typeface="+mn-ea"/>
              </a:rPr>
              <a:t>. </a:t>
            </a:r>
            <a:r>
              <a:rPr lang="ko-KR" altLang="en-US" sz="1000">
                <a:latin typeface="+mn-ea"/>
              </a:rPr>
              <a:t>현장대리인은 공사수행에 필요한 제반 지식에 정통하며 충분히 </a:t>
            </a:r>
          </a:p>
          <a:p>
            <a:pPr>
              <a:lnSpc>
                <a:spcPct val="120000"/>
              </a:lnSpc>
            </a:pPr>
            <a:r>
              <a:rPr lang="ko-KR" altLang="en-US" sz="1000">
                <a:latin typeface="+mn-ea"/>
              </a:rPr>
              <a:t>   경험이 있는 자로서 책임기술자가 그 공사에 적합한 자격자로 선정 협의한다</a:t>
            </a:r>
            <a:r>
              <a:rPr lang="en-US" altLang="ko-KR" sz="1000">
                <a:latin typeface="+mn-ea"/>
              </a:rPr>
              <a:t>.</a:t>
            </a:r>
            <a:endParaRPr lang="ko-KR" altLang="en-US" sz="1000" dirty="0">
              <a:latin typeface="+mn-ea"/>
            </a:endParaRPr>
          </a:p>
        </p:txBody>
      </p:sp>
    </p:spTree>
    <p:extLst>
      <p:ext uri="{BB962C8B-B14F-4D97-AF65-F5344CB8AC3E}">
        <p14:creationId xmlns:p14="http://schemas.microsoft.com/office/powerpoint/2010/main" val="31100747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직사각형 12"/>
          <p:cNvSpPr/>
          <p:nvPr/>
        </p:nvSpPr>
        <p:spPr>
          <a:xfrm>
            <a:off x="285728" y="428596"/>
            <a:ext cx="6286544" cy="850112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4" name="직사각형 13"/>
          <p:cNvSpPr/>
          <p:nvPr/>
        </p:nvSpPr>
        <p:spPr>
          <a:xfrm>
            <a:off x="285728" y="428596"/>
            <a:ext cx="2857520" cy="307777"/>
          </a:xfrm>
          <a:prstGeom prst="rect">
            <a:avLst/>
          </a:prstGeom>
        </p:spPr>
        <p:txBody>
          <a:bodyPr wrap="square">
            <a:spAutoFit/>
          </a:bodyPr>
          <a:lstStyle/>
          <a:p>
            <a:r>
              <a:rPr lang="ko-KR" altLang="en-US" sz="1400" b="1">
                <a:latin typeface="+mn-ea"/>
              </a:rPr>
              <a:t>제 </a:t>
            </a:r>
            <a:r>
              <a:rPr lang="en-US" altLang="ko-KR" sz="1400" b="1">
                <a:latin typeface="+mn-ea"/>
              </a:rPr>
              <a:t>3 </a:t>
            </a:r>
            <a:r>
              <a:rPr lang="ko-KR" altLang="en-US" sz="1400" b="1">
                <a:latin typeface="+mn-ea"/>
              </a:rPr>
              <a:t>장 </a:t>
            </a:r>
            <a:r>
              <a:rPr lang="en-US" altLang="ko-KR" sz="1400" b="1">
                <a:latin typeface="+mn-ea"/>
              </a:rPr>
              <a:t>. </a:t>
            </a:r>
            <a:r>
              <a:rPr lang="ko-KR" altLang="en-US" sz="1400" b="1">
                <a:latin typeface="+mn-ea"/>
              </a:rPr>
              <a:t>특기사항</a:t>
            </a:r>
            <a:endParaRPr lang="ko-KR" altLang="en-US" sz="1400" dirty="0">
              <a:latin typeface="+mn-ea"/>
            </a:endParaRPr>
          </a:p>
        </p:txBody>
      </p:sp>
      <p:sp>
        <p:nvSpPr>
          <p:cNvPr id="15" name="직사각형 14"/>
          <p:cNvSpPr/>
          <p:nvPr/>
        </p:nvSpPr>
        <p:spPr>
          <a:xfrm>
            <a:off x="357166" y="746050"/>
            <a:ext cx="6215106" cy="10176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200000"/>
              </a:lnSpc>
            </a:pPr>
            <a:r>
              <a:rPr lang="en-US" altLang="ko-KR" sz="1100" dirty="0">
                <a:solidFill>
                  <a:schemeClr val="tx1"/>
                </a:solidFill>
                <a:latin typeface="+mn-ea"/>
              </a:rPr>
              <a:t>3) </a:t>
            </a:r>
            <a:r>
              <a:rPr lang="ko-KR" altLang="en-US" sz="1100" dirty="0">
                <a:solidFill>
                  <a:schemeClr val="tx1"/>
                </a:solidFill>
                <a:latin typeface="+mn-ea"/>
              </a:rPr>
              <a:t>수선완료 시점에서 연구원의 서명을 받은 완료 보고서 및 거래내역서를 제출하도록 한다</a:t>
            </a:r>
            <a:r>
              <a:rPr lang="en-US" altLang="ko-KR" sz="1100" dirty="0">
                <a:solidFill>
                  <a:schemeClr val="tx1"/>
                </a:solidFill>
                <a:latin typeface="+mn-ea"/>
              </a:rPr>
              <a:t>.</a:t>
            </a:r>
          </a:p>
          <a:p>
            <a:pPr>
              <a:lnSpc>
                <a:spcPct val="200000"/>
              </a:lnSpc>
            </a:pPr>
            <a:r>
              <a:rPr lang="en-US" altLang="ko-KR" sz="1100" dirty="0">
                <a:solidFill>
                  <a:schemeClr val="tx1"/>
                </a:solidFill>
                <a:latin typeface="+mn-ea"/>
              </a:rPr>
              <a:t>3) 1,000</a:t>
            </a:r>
            <a:r>
              <a:rPr lang="ko-KR" altLang="en-US" sz="1100" dirty="0">
                <a:solidFill>
                  <a:schemeClr val="tx1"/>
                </a:solidFill>
                <a:latin typeface="+mn-ea"/>
              </a:rPr>
              <a:t>만원 이상 수선後 완료시점에서 하자이행증권을 발급하며</a:t>
            </a:r>
            <a:r>
              <a:rPr lang="en-US" altLang="ko-KR" sz="1100" dirty="0">
                <a:solidFill>
                  <a:schemeClr val="tx1"/>
                </a:solidFill>
                <a:latin typeface="+mn-ea"/>
              </a:rPr>
              <a:t>,  </a:t>
            </a:r>
            <a:r>
              <a:rPr lang="ko-KR" altLang="en-US" sz="1100" dirty="0">
                <a:solidFill>
                  <a:schemeClr val="tx1"/>
                </a:solidFill>
                <a:latin typeface="+mn-ea"/>
              </a:rPr>
              <a:t>담당자에게 </a:t>
            </a:r>
          </a:p>
          <a:p>
            <a:pPr>
              <a:lnSpc>
                <a:spcPct val="200000"/>
              </a:lnSpc>
            </a:pPr>
            <a:r>
              <a:rPr lang="ko-KR" altLang="en-US" sz="1100" dirty="0">
                <a:solidFill>
                  <a:schemeClr val="tx1"/>
                </a:solidFill>
                <a:latin typeface="+mn-ea"/>
              </a:rPr>
              <a:t>   제출하도록 한다</a:t>
            </a:r>
            <a:r>
              <a:rPr lang="en-US" altLang="ko-KR" sz="1100" dirty="0">
                <a:solidFill>
                  <a:schemeClr val="tx1"/>
                </a:solidFill>
                <a:latin typeface="+mn-ea"/>
              </a:rPr>
              <a:t>.(SCAN</a:t>
            </a:r>
            <a:r>
              <a:rPr lang="ko-KR" altLang="en-US" sz="1100" dirty="0">
                <a:solidFill>
                  <a:schemeClr val="tx1"/>
                </a:solidFill>
                <a:latin typeface="+mn-ea"/>
              </a:rPr>
              <a:t>본 및 </a:t>
            </a:r>
            <a:r>
              <a:rPr lang="ko-KR" altLang="en-US" sz="1100" dirty="0" err="1">
                <a:solidFill>
                  <a:schemeClr val="tx1"/>
                </a:solidFill>
                <a:latin typeface="+mn-ea"/>
              </a:rPr>
              <a:t>원본으로제출함</a:t>
            </a:r>
            <a:r>
              <a:rPr lang="en-US" altLang="ko-KR" sz="1100" dirty="0">
                <a:solidFill>
                  <a:schemeClr val="tx1"/>
                </a:solidFill>
                <a:latin typeface="+mn-ea"/>
              </a:rPr>
              <a:t>)</a:t>
            </a:r>
            <a:endParaRPr lang="ko-KR" altLang="en-US" sz="1100" dirty="0">
              <a:solidFill>
                <a:schemeClr val="tx1"/>
              </a:solidFill>
              <a:latin typeface="+mn-ea"/>
            </a:endParaRPr>
          </a:p>
        </p:txBody>
      </p:sp>
    </p:spTree>
    <p:extLst>
      <p:ext uri="{BB962C8B-B14F-4D97-AF65-F5344CB8AC3E}">
        <p14:creationId xmlns:p14="http://schemas.microsoft.com/office/powerpoint/2010/main" val="628471838"/>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1202</TotalTime>
  <Words>837</Words>
  <Application>Microsoft Office PowerPoint</Application>
  <PresentationFormat>화면 슬라이드 쇼(4:3)</PresentationFormat>
  <Paragraphs>79</Paragraphs>
  <Slides>4</Slides>
  <Notes>2</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4</vt:i4>
      </vt:variant>
    </vt:vector>
  </HeadingPairs>
  <TitlesOfParts>
    <vt:vector size="7" baseType="lpstr">
      <vt:lpstr>맑은 고딕</vt:lpstr>
      <vt:lpstr>Arial</vt:lpstr>
      <vt:lpstr>Office 테마</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슬라이드 1</dc:title>
  <dc:creator>LGRnD</dc:creator>
  <cp:lastModifiedBy>종근 이</cp:lastModifiedBy>
  <cp:revision>490</cp:revision>
  <dcterms:created xsi:type="dcterms:W3CDTF">2015-01-28T03:52:40Z</dcterms:created>
  <dcterms:modified xsi:type="dcterms:W3CDTF">2026-07-05T23:35:07Z</dcterms:modified>
</cp:coreProperties>
</file>