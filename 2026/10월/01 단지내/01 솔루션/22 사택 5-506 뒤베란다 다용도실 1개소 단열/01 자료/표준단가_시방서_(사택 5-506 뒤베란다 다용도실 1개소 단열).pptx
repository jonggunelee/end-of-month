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"/>
  </p:notesMasterIdLst>
  <p:sldIdLst>
    <p:sldId id="256" r:id="rId2"/>
    <p:sldId id="266" r:id="rId3"/>
    <p:sldId id="267" r:id="rId4"/>
    <p:sldId id="269" r:id="rId5"/>
  </p:sldIdLst>
  <p:sldSz cx="6858000" cy="9144000" type="screen4x3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4859" autoAdjust="0"/>
    <p:restoredTop sz="94660"/>
  </p:normalViewPr>
  <p:slideViewPr>
    <p:cSldViewPr>
      <p:cViewPr varScale="1">
        <p:scale>
          <a:sx n="75" d="100"/>
          <a:sy n="75" d="100"/>
        </p:scale>
        <p:origin x="3792" y="7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BB19F07-D06E-4D7D-9620-D53EFD68A149}" type="datetimeFigureOut">
              <a:rPr lang="ko-KR" altLang="en-US" smtClean="0"/>
              <a:t>2026-08-24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2143125" y="685800"/>
            <a:ext cx="257175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266A5FE-0FDC-4011-B4F9-598B584BD96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600013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266A5FE-0FDC-4011-B4F9-598B584BD968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7707618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266A5FE-0FDC-4011-B4F9-598B584BD968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0335585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514350" y="2840568"/>
            <a:ext cx="5829300" cy="196003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028700" y="5181600"/>
            <a:ext cx="4800600" cy="23368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2026-08-24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2026-08-24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41735" y="5875867"/>
            <a:ext cx="5829300" cy="1816100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541735" y="3875618"/>
            <a:ext cx="5829300" cy="2000249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2026-08-24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257175" y="2844800"/>
            <a:ext cx="2257425" cy="8045451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2628900" y="2844800"/>
            <a:ext cx="2257425" cy="8045451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2026-08-24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42900" y="366184"/>
            <a:ext cx="6172200" cy="1524000"/>
          </a:xfrm>
        </p:spPr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342900" y="2046817"/>
            <a:ext cx="3030141" cy="85301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342900" y="2899833"/>
            <a:ext cx="3030141" cy="5268384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3483769" y="2046817"/>
            <a:ext cx="3031331" cy="85301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3483769" y="2899833"/>
            <a:ext cx="3031331" cy="5268384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2026-08-24</a:t>
            </a:fld>
            <a:endParaRPr lang="ko-KR" altLang="en-US" dirty="0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2026-08-24</a:t>
            </a:fld>
            <a:endParaRPr lang="ko-KR" altLang="en-US" dirty="0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2026-08-24</a:t>
            </a:fld>
            <a:endParaRPr lang="ko-KR" altLang="en-US" dirty="0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42900" y="364067"/>
            <a:ext cx="2256235" cy="154940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2681287" y="364067"/>
            <a:ext cx="3833813" cy="7804151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342900" y="1913467"/>
            <a:ext cx="2256235" cy="6254751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2026-08-24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344216" y="6400800"/>
            <a:ext cx="4114800" cy="755651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344216" y="817033"/>
            <a:ext cx="4114800" cy="54864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 dirty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344216" y="7156451"/>
            <a:ext cx="4114800" cy="107314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2026-08-24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2026-08-24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3729037" y="488951"/>
            <a:ext cx="1157288" cy="10401300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257175" y="488951"/>
            <a:ext cx="3357563" cy="10401300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2026-08-24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342900" y="366184"/>
            <a:ext cx="6172200" cy="1524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342900" y="2133601"/>
            <a:ext cx="6172200" cy="603461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342900" y="8475134"/>
            <a:ext cx="16002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C6A6E02-CA3A-4E70-87B7-E5B70C79C6FC}" type="datetimeFigureOut">
              <a:rPr lang="ko-KR" altLang="en-US" smtClean="0"/>
              <a:pPr/>
              <a:t>2026-08-24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2343150" y="8475134"/>
            <a:ext cx="21717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4914900" y="8475134"/>
            <a:ext cx="16002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/>
        </p:nvSpPr>
        <p:spPr>
          <a:xfrm>
            <a:off x="332656" y="1337616"/>
            <a:ext cx="6192688" cy="850160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 tIns="36000" bIns="36000" anchor="ctr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b="1">
                <a:latin typeface="+mn-ea"/>
              </a:rPr>
              <a:t>사택 </a:t>
            </a:r>
            <a:r>
              <a:rPr lang="en-US" altLang="ko-KR" b="1">
                <a:latin typeface="+mn-ea"/>
              </a:rPr>
              <a:t>5-506 </a:t>
            </a:r>
            <a:r>
              <a:rPr lang="ko-KR" altLang="en-US" b="1">
                <a:latin typeface="+mn-ea"/>
              </a:rPr>
              <a:t>뒤베란다 다용도실 </a:t>
            </a:r>
            <a:r>
              <a:rPr lang="en-US" altLang="ko-KR" b="1">
                <a:latin typeface="+mn-ea"/>
              </a:rPr>
              <a:t>1</a:t>
            </a:r>
            <a:r>
              <a:rPr lang="ko-KR" altLang="en-US" b="1">
                <a:latin typeface="+mn-ea"/>
              </a:rPr>
              <a:t>개소 단열 </a:t>
            </a:r>
            <a:r>
              <a:rPr lang="ko-KR" altLang="en-US" b="1" dirty="0">
                <a:latin typeface="+mn-ea"/>
              </a:rPr>
              <a:t>件</a:t>
            </a:r>
            <a:endParaRPr lang="en-US" altLang="ko-KR" b="1" dirty="0">
              <a:latin typeface="+mn-ea"/>
            </a:endParaRPr>
          </a:p>
          <a:p>
            <a:pPr algn="ctr">
              <a:lnSpc>
                <a:spcPct val="150000"/>
              </a:lnSpc>
            </a:pPr>
            <a:r>
              <a:rPr lang="en-US" altLang="ko-KR" b="1" dirty="0">
                <a:latin typeface="+mn-ea"/>
              </a:rPr>
              <a:t>- </a:t>
            </a:r>
            <a:r>
              <a:rPr lang="ko-KR" altLang="en-US" b="1" dirty="0">
                <a:latin typeface="+mn-ea"/>
              </a:rPr>
              <a:t>시 방 서 </a:t>
            </a:r>
            <a:r>
              <a:rPr lang="en-US" altLang="ko-KR" b="1" dirty="0">
                <a:latin typeface="+mn-ea"/>
              </a:rPr>
              <a:t>-</a:t>
            </a:r>
            <a:endParaRPr lang="ko-KR" altLang="en-US" b="1" dirty="0">
              <a:latin typeface="+mn-ea"/>
            </a:endParaRPr>
          </a:p>
        </p:txBody>
      </p:sp>
      <p:grpSp>
        <p:nvGrpSpPr>
          <p:cNvPr id="10" name="그룹 9"/>
          <p:cNvGrpSpPr/>
          <p:nvPr/>
        </p:nvGrpSpPr>
        <p:grpSpPr>
          <a:xfrm>
            <a:off x="2214554" y="3571868"/>
            <a:ext cx="2428892" cy="1815446"/>
            <a:chOff x="2357430" y="4399628"/>
            <a:chExt cx="2428892" cy="1815446"/>
          </a:xfrm>
        </p:grpSpPr>
        <p:sp>
          <p:nvSpPr>
            <p:cNvPr id="11" name="TextBox 10"/>
            <p:cNvSpPr txBox="1"/>
            <p:nvPr/>
          </p:nvSpPr>
          <p:spPr>
            <a:xfrm>
              <a:off x="2357430" y="4714876"/>
              <a:ext cx="2428892" cy="1500198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bIns="82800" rtlCol="0" anchor="b">
              <a:noAutofit/>
            </a:bodyPr>
            <a:lstStyle/>
            <a:p>
              <a:pPr marL="342900" indent="-342900" algn="ctr">
                <a:lnSpc>
                  <a:spcPct val="150000"/>
                </a:lnSpc>
              </a:pPr>
              <a:r>
                <a:rPr lang="en-US" altLang="ko-KR" dirty="0">
                  <a:latin typeface="+mn-ea"/>
                </a:rPr>
                <a:t>1</a:t>
              </a:r>
              <a:r>
                <a:rPr lang="ko-KR" altLang="en-US" dirty="0">
                  <a:latin typeface="+mn-ea"/>
                </a:rPr>
                <a:t>장</a:t>
              </a:r>
              <a:r>
                <a:rPr lang="en-US" altLang="ko-KR" dirty="0">
                  <a:latin typeface="+mn-ea"/>
                </a:rPr>
                <a:t>. </a:t>
              </a:r>
              <a:r>
                <a:rPr lang="ko-KR" altLang="en-US" dirty="0">
                  <a:latin typeface="+mn-ea"/>
                </a:rPr>
                <a:t>공 사 개 요</a:t>
              </a:r>
            </a:p>
            <a:p>
              <a:pPr marL="342900" indent="-342900" algn="ctr">
                <a:lnSpc>
                  <a:spcPct val="150000"/>
                </a:lnSpc>
              </a:pPr>
              <a:r>
                <a:rPr lang="en-US" altLang="ko-KR" dirty="0">
                  <a:latin typeface="+mn-ea"/>
                </a:rPr>
                <a:t>2</a:t>
              </a:r>
              <a:r>
                <a:rPr lang="ko-KR" altLang="en-US" dirty="0">
                  <a:latin typeface="+mn-ea"/>
                </a:rPr>
                <a:t>장</a:t>
              </a:r>
              <a:r>
                <a:rPr lang="en-US" altLang="ko-KR" dirty="0">
                  <a:latin typeface="+mn-ea"/>
                </a:rPr>
                <a:t>. </a:t>
              </a:r>
              <a:r>
                <a:rPr lang="ko-KR" altLang="en-US" dirty="0">
                  <a:latin typeface="+mn-ea"/>
                </a:rPr>
                <a:t>일 반 사 항</a:t>
              </a:r>
            </a:p>
            <a:p>
              <a:pPr marL="342900" indent="-342900" algn="ctr">
                <a:lnSpc>
                  <a:spcPct val="150000"/>
                </a:lnSpc>
              </a:pPr>
              <a:r>
                <a:rPr lang="en-US" altLang="ko-KR" dirty="0">
                  <a:latin typeface="+mn-ea"/>
                </a:rPr>
                <a:t>3</a:t>
              </a:r>
              <a:r>
                <a:rPr lang="ko-KR" altLang="en-US" dirty="0">
                  <a:latin typeface="+mn-ea"/>
                </a:rPr>
                <a:t>장</a:t>
              </a:r>
              <a:r>
                <a:rPr lang="en-US" altLang="ko-KR" dirty="0">
                  <a:latin typeface="+mn-ea"/>
                </a:rPr>
                <a:t>. </a:t>
              </a:r>
              <a:r>
                <a:rPr lang="ko-KR" altLang="en-US" dirty="0" err="1">
                  <a:latin typeface="+mn-ea"/>
                </a:rPr>
                <a:t>특</a:t>
              </a:r>
              <a:r>
                <a:rPr lang="ko-KR" altLang="en-US" dirty="0">
                  <a:latin typeface="+mn-ea"/>
                </a:rPr>
                <a:t> 기 사 항</a:t>
              </a:r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2958430" y="4399628"/>
              <a:ext cx="1214446" cy="428628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txBody>
            <a:bodyPr wrap="square" rtlCol="0" anchor="ctr">
              <a:noAutofit/>
            </a:bodyPr>
            <a:lstStyle/>
            <a:p>
              <a:pPr algn="ctr"/>
              <a:r>
                <a:rPr lang="ko-KR" altLang="en-US">
                  <a:latin typeface="+mn-ea"/>
                </a:rPr>
                <a:t>목   차</a:t>
              </a:r>
              <a:endParaRPr lang="ko-KR" altLang="en-US" dirty="0">
                <a:latin typeface="+mn-ea"/>
              </a:endParaRP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사각형 2"/>
          <p:cNvSpPr/>
          <p:nvPr/>
        </p:nvSpPr>
        <p:spPr>
          <a:xfrm>
            <a:off x="299110" y="432782"/>
            <a:ext cx="285752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400" b="1" dirty="0">
                <a:latin typeface="+mn-ea"/>
              </a:rPr>
              <a:t>제 </a:t>
            </a:r>
            <a:r>
              <a:rPr lang="en-US" altLang="ko-KR" sz="1400" b="1" dirty="0">
                <a:latin typeface="+mn-ea"/>
              </a:rPr>
              <a:t>1 </a:t>
            </a:r>
            <a:r>
              <a:rPr lang="ko-KR" altLang="en-US" sz="1400" b="1" dirty="0">
                <a:latin typeface="+mn-ea"/>
              </a:rPr>
              <a:t>장 </a:t>
            </a:r>
            <a:r>
              <a:rPr lang="en-US" altLang="ko-KR" sz="1400" b="1" dirty="0">
                <a:latin typeface="+mn-ea"/>
              </a:rPr>
              <a:t>. </a:t>
            </a:r>
            <a:r>
              <a:rPr lang="ko-KR" altLang="en-US" sz="1400" b="1" dirty="0">
                <a:latin typeface="+mn-ea"/>
              </a:rPr>
              <a:t>공사개요</a:t>
            </a:r>
            <a:endParaRPr lang="ko-KR" altLang="en-US" sz="1400" dirty="0">
              <a:latin typeface="+mn-ea"/>
            </a:endParaRPr>
          </a:p>
        </p:txBody>
      </p:sp>
      <p:sp>
        <p:nvSpPr>
          <p:cNvPr id="7" name="직사각형 6"/>
          <p:cNvSpPr/>
          <p:nvPr/>
        </p:nvSpPr>
        <p:spPr>
          <a:xfrm>
            <a:off x="357166" y="700026"/>
            <a:ext cx="621510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○ 공 사 명 </a:t>
            </a:r>
            <a:r>
              <a:rPr lang="en-US" altLang="ko-KR" sz="1000">
                <a:latin typeface="+mn-ea"/>
              </a:rPr>
              <a:t>: </a:t>
            </a:r>
            <a:r>
              <a:rPr lang="ko-KR" altLang="en-US" sz="1000" b="1">
                <a:latin typeface="+mn-ea"/>
              </a:rPr>
              <a:t>사택 </a:t>
            </a:r>
            <a:r>
              <a:rPr lang="en-US" altLang="ko-KR" sz="1000" b="1">
                <a:latin typeface="+mn-ea"/>
              </a:rPr>
              <a:t>5-506 </a:t>
            </a:r>
            <a:r>
              <a:rPr lang="ko-KR" altLang="en-US" sz="1000" b="1">
                <a:latin typeface="+mn-ea"/>
              </a:rPr>
              <a:t>뒤베란다 다용도실 </a:t>
            </a:r>
            <a:r>
              <a:rPr lang="en-US" altLang="ko-KR" sz="1000" b="1">
                <a:latin typeface="+mn-ea"/>
              </a:rPr>
              <a:t>1</a:t>
            </a:r>
            <a:r>
              <a:rPr lang="ko-KR" altLang="en-US" sz="1000" b="1">
                <a:latin typeface="+mn-ea"/>
              </a:rPr>
              <a:t>개소 단열</a:t>
            </a:r>
            <a:endParaRPr lang="ko-KR" altLang="en-US" sz="1000" dirty="0">
              <a:latin typeface="+mn-ea"/>
            </a:endParaRPr>
          </a:p>
        </p:txBody>
      </p:sp>
      <p:sp>
        <p:nvSpPr>
          <p:cNvPr id="13" name="직사각형 12"/>
          <p:cNvSpPr/>
          <p:nvPr/>
        </p:nvSpPr>
        <p:spPr>
          <a:xfrm>
            <a:off x="285728" y="428596"/>
            <a:ext cx="6286544" cy="85011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4" name="직사각형 13"/>
          <p:cNvSpPr/>
          <p:nvPr/>
        </p:nvSpPr>
        <p:spPr>
          <a:xfrm>
            <a:off x="354958" y="941479"/>
            <a:ext cx="6217314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○ 공사 위치 </a:t>
            </a:r>
            <a:r>
              <a:rPr lang="en-US" altLang="ko-KR" sz="1000" dirty="0">
                <a:latin typeface="+mn-ea"/>
              </a:rPr>
              <a:t>: </a:t>
            </a:r>
            <a:r>
              <a:rPr lang="ko-KR" altLang="en-US" sz="1000" dirty="0">
                <a:latin typeface="+mn-ea"/>
              </a:rPr>
              <a:t>대전 유성구 </a:t>
            </a:r>
            <a:r>
              <a:rPr lang="ko-KR" altLang="en-US" sz="1000" dirty="0" err="1">
                <a:latin typeface="+mn-ea"/>
              </a:rPr>
              <a:t>도룡동</a:t>
            </a:r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LG</a:t>
            </a:r>
            <a:r>
              <a:rPr lang="ko-KR" altLang="en-US" sz="1000">
                <a:latin typeface="+mn-ea"/>
              </a:rPr>
              <a:t>기술연구원 사택 </a:t>
            </a:r>
            <a:r>
              <a:rPr lang="en-US" altLang="ko-KR" sz="1000">
                <a:latin typeface="+mn-ea"/>
              </a:rPr>
              <a:t>5</a:t>
            </a:r>
            <a:r>
              <a:rPr lang="ko-KR" altLang="en-US" sz="1000">
                <a:latin typeface="+mn-ea"/>
              </a:rPr>
              <a:t>동</a:t>
            </a:r>
            <a:endParaRPr lang="en-US" altLang="ko-KR" sz="1000" dirty="0">
              <a:latin typeface="+mn-ea"/>
            </a:endParaRPr>
          </a:p>
        </p:txBody>
      </p:sp>
      <p:sp>
        <p:nvSpPr>
          <p:cNvPr id="15" name="직사각형 14"/>
          <p:cNvSpPr/>
          <p:nvPr/>
        </p:nvSpPr>
        <p:spPr>
          <a:xfrm>
            <a:off x="357166" y="1180252"/>
            <a:ext cx="621510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○ 공사 내용 </a:t>
            </a:r>
            <a:r>
              <a:rPr lang="en-US" altLang="ko-KR" sz="1000" dirty="0">
                <a:latin typeface="+mn-ea"/>
              </a:rPr>
              <a:t>: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9" name="직사각형 28"/>
          <p:cNvSpPr/>
          <p:nvPr/>
        </p:nvSpPr>
        <p:spPr>
          <a:xfrm>
            <a:off x="571480" y="1306349"/>
            <a:ext cx="6000792" cy="219778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28600" indent="-228600">
              <a:lnSpc>
                <a:spcPct val="200000"/>
              </a:lnSpc>
              <a:buFontTx/>
              <a:buAutoNum type="arabicParenR"/>
            </a:pPr>
            <a:r>
              <a:rPr lang="ko-KR" altLang="en-US" sz="1000"/>
              <a:t>대상</a:t>
            </a:r>
            <a:r>
              <a:rPr lang="en-US" altLang="ko-KR" sz="1000"/>
              <a:t>: </a:t>
            </a:r>
            <a:r>
              <a:rPr lang="ko-KR" altLang="en-US" sz="1000"/>
              <a:t>뒷베란다 창고 </a:t>
            </a:r>
            <a:r>
              <a:rPr lang="en-US" altLang="ko-KR" sz="1000"/>
              <a:t>1</a:t>
            </a:r>
            <a:r>
              <a:rPr lang="ko-KR" altLang="en-US" sz="1000"/>
              <a:t>개소
곰팡이 제거 및 바탕 처리 작업
열반사 시트</a:t>
            </a:r>
            <a:r>
              <a:rPr lang="en-US" altLang="ko-KR" sz="1000"/>
              <a:t>(0.6T </a:t>
            </a:r>
            <a:r>
              <a:rPr lang="ko-KR" altLang="en-US" sz="1000"/>
              <a:t>단면 접착</a:t>
            </a:r>
            <a:r>
              <a:rPr lang="en-US" altLang="ko-KR" sz="1000"/>
              <a:t>) </a:t>
            </a:r>
            <a:r>
              <a:rPr lang="ko-KR" altLang="en-US" sz="1000"/>
              <a:t>설치 작업
이보드</a:t>
            </a:r>
            <a:r>
              <a:rPr lang="en-US" altLang="ko-KR" sz="1000"/>
              <a:t>(1000*1000*13T) </a:t>
            </a:r>
            <a:r>
              <a:rPr lang="ko-KR" altLang="en-US" sz="1000"/>
              <a:t>설치 작업
다용도실 문용 환기구설치
다용도실 선반 보수 작업
폐기물 반출 및 주변 청소 작업</a:t>
            </a:r>
            <a:endParaRPr lang="en-US" altLang="ko-KR" sz="1000" dirty="0"/>
          </a:p>
        </p:txBody>
      </p:sp>
      <p:sp>
        <p:nvSpPr>
          <p:cNvPr id="30" name="직사각형 29"/>
          <p:cNvSpPr/>
          <p:nvPr/>
        </p:nvSpPr>
        <p:spPr>
          <a:xfrm>
            <a:off x="383386" y="3505535"/>
            <a:ext cx="585392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○ 작업기간 </a:t>
            </a:r>
            <a:r>
              <a:rPr lang="en-US" altLang="ko-KR" sz="1000" dirty="0">
                <a:latin typeface="+mn-ea"/>
              </a:rPr>
              <a:t>: </a:t>
            </a:r>
            <a:r>
              <a:rPr lang="ko-KR" altLang="en-US" sz="1000" dirty="0">
                <a:latin typeface="+mn-ea"/>
              </a:rPr>
              <a:t>계약서에 준함 </a:t>
            </a:r>
            <a:r>
              <a:rPr lang="en-US" altLang="ko-KR" sz="1000" dirty="0">
                <a:latin typeface="+mn-ea"/>
              </a:rPr>
              <a:t>[</a:t>
            </a:r>
            <a:r>
              <a:rPr lang="ko-KR" altLang="en-US" sz="1000" dirty="0">
                <a:latin typeface="+mn-ea"/>
              </a:rPr>
              <a:t>작업시간 </a:t>
            </a:r>
            <a:r>
              <a:rPr lang="en-US" altLang="ko-KR" sz="1000" dirty="0">
                <a:latin typeface="+mn-ea"/>
              </a:rPr>
              <a:t>: 09:00 ~ 18:00]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6" name="직사각형 35"/>
          <p:cNvSpPr/>
          <p:nvPr/>
        </p:nvSpPr>
        <p:spPr>
          <a:xfrm>
            <a:off x="285728" y="3760658"/>
            <a:ext cx="285752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400" b="1" dirty="0">
                <a:latin typeface="+mn-ea"/>
              </a:rPr>
              <a:t>제 </a:t>
            </a:r>
            <a:r>
              <a:rPr lang="en-US" altLang="ko-KR" sz="1400" b="1" dirty="0">
                <a:latin typeface="+mn-ea"/>
              </a:rPr>
              <a:t>2 </a:t>
            </a:r>
            <a:r>
              <a:rPr lang="ko-KR" altLang="en-US" sz="1400" b="1" dirty="0">
                <a:latin typeface="+mn-ea"/>
              </a:rPr>
              <a:t>장 </a:t>
            </a:r>
            <a:r>
              <a:rPr lang="en-US" altLang="ko-KR" sz="1400" b="1" dirty="0">
                <a:latin typeface="+mn-ea"/>
              </a:rPr>
              <a:t>. </a:t>
            </a:r>
            <a:r>
              <a:rPr lang="ko-KR" altLang="en-US" sz="1400" b="1" dirty="0">
                <a:latin typeface="+mn-ea"/>
              </a:rPr>
              <a:t>일반사항</a:t>
            </a:r>
            <a:endParaRPr lang="ko-KR" altLang="en-US" sz="1400" dirty="0">
              <a:latin typeface="+mn-ea"/>
            </a:endParaRPr>
          </a:p>
        </p:txBody>
      </p:sp>
      <p:sp>
        <p:nvSpPr>
          <p:cNvPr id="37" name="직사각형 36"/>
          <p:cNvSpPr/>
          <p:nvPr/>
        </p:nvSpPr>
        <p:spPr>
          <a:xfrm>
            <a:off x="357166" y="4033274"/>
            <a:ext cx="6428603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1. LG </a:t>
            </a:r>
            <a:r>
              <a:rPr lang="ko-KR" altLang="en-US" sz="1000" dirty="0">
                <a:latin typeface="+mn-ea"/>
              </a:rPr>
              <a:t>기술연구원 기숙사 및 사택 </a:t>
            </a:r>
            <a:r>
              <a:rPr lang="ko-KR" altLang="en-US" sz="1000" dirty="0" err="1">
                <a:latin typeface="+mn-ea"/>
              </a:rPr>
              <a:t>시설총칙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8" name="직사각형 37"/>
          <p:cNvSpPr/>
          <p:nvPr/>
        </p:nvSpPr>
        <p:spPr>
          <a:xfrm>
            <a:off x="349546" y="7050192"/>
            <a:ext cx="6357982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2. </a:t>
            </a:r>
            <a:r>
              <a:rPr lang="ko-KR" altLang="en-US" sz="1000" dirty="0">
                <a:latin typeface="+mn-ea"/>
              </a:rPr>
              <a:t>일반적용</a:t>
            </a:r>
          </a:p>
        </p:txBody>
      </p:sp>
      <p:sp>
        <p:nvSpPr>
          <p:cNvPr id="39" name="직사각형 38"/>
          <p:cNvSpPr/>
          <p:nvPr/>
        </p:nvSpPr>
        <p:spPr>
          <a:xfrm>
            <a:off x="428604" y="7263075"/>
            <a:ext cx="6143668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000" dirty="0">
                <a:latin typeface="+mn-ea"/>
              </a:rPr>
              <a:t>1) </a:t>
            </a:r>
            <a:r>
              <a:rPr lang="ko-KR" altLang="en-US" sz="1000" dirty="0">
                <a:latin typeface="+mn-ea"/>
              </a:rPr>
              <a:t>적 용 범 위</a:t>
            </a:r>
          </a:p>
        </p:txBody>
      </p:sp>
      <p:sp>
        <p:nvSpPr>
          <p:cNvPr id="40" name="직사각형 39"/>
          <p:cNvSpPr/>
          <p:nvPr/>
        </p:nvSpPr>
        <p:spPr>
          <a:xfrm>
            <a:off x="428603" y="7464532"/>
            <a:ext cx="6143669" cy="6281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-.</a:t>
            </a:r>
            <a:r>
              <a:rPr lang="ko-KR" altLang="en-US" sz="1000" dirty="0">
                <a:latin typeface="+mn-ea"/>
              </a:rPr>
              <a:t>이 공사의 시공방법은 본 시방서에 준하여 공사한다</a:t>
            </a:r>
            <a:r>
              <a:rPr lang="en-US" altLang="ko-KR" sz="1000" dirty="0">
                <a:latin typeface="+mn-ea"/>
              </a:rPr>
              <a:t>. </a:t>
            </a:r>
            <a:r>
              <a:rPr lang="ko-KR" altLang="en-US" sz="1000" dirty="0">
                <a:latin typeface="+mn-ea"/>
              </a:rPr>
              <a:t>단</a:t>
            </a:r>
            <a:r>
              <a:rPr lang="en-US" altLang="ko-KR" sz="1000" dirty="0">
                <a:latin typeface="+mn-ea"/>
              </a:rPr>
              <a:t>, </a:t>
            </a:r>
            <a:r>
              <a:rPr lang="ko-KR" altLang="en-US" sz="1000" dirty="0">
                <a:latin typeface="+mn-ea"/>
              </a:rPr>
              <a:t>이 공사에 관계없는 사항은 적용하지 </a:t>
            </a:r>
            <a:endParaRPr lang="en-US" altLang="ko-KR" sz="1000" dirty="0">
              <a:latin typeface="+mn-ea"/>
            </a:endParaRPr>
          </a:p>
          <a:p>
            <a:pPr>
              <a:lnSpc>
                <a:spcPct val="120000"/>
              </a:lnSpc>
            </a:pPr>
            <a:r>
              <a:rPr lang="en-US" altLang="ko-KR" sz="1000" dirty="0">
                <a:latin typeface="+mn-ea"/>
              </a:rPr>
              <a:t>   </a:t>
            </a:r>
            <a:r>
              <a:rPr lang="ko-KR" altLang="en-US" sz="1000" dirty="0">
                <a:latin typeface="+mn-ea"/>
              </a:rPr>
              <a:t>아니 하며 각 공사에 있어서 다른 공사와 </a:t>
            </a:r>
            <a:r>
              <a:rPr lang="ko-KR" altLang="en-US" sz="1000" dirty="0" err="1">
                <a:latin typeface="+mn-ea"/>
              </a:rPr>
              <a:t>관련있는</a:t>
            </a:r>
            <a:r>
              <a:rPr lang="ko-KR" altLang="en-US" sz="1000" dirty="0">
                <a:latin typeface="+mn-ea"/>
              </a:rPr>
              <a:t> 사항에 대해서는 각기 그 해당 공사의 </a:t>
            </a:r>
            <a:endParaRPr lang="en-US" altLang="ko-KR" sz="1000" dirty="0">
              <a:latin typeface="+mn-ea"/>
            </a:endParaRPr>
          </a:p>
          <a:p>
            <a:pPr>
              <a:lnSpc>
                <a:spcPct val="120000"/>
              </a:lnSpc>
            </a:pPr>
            <a:r>
              <a:rPr lang="en-US" altLang="ko-KR" sz="1000" dirty="0">
                <a:latin typeface="+mn-ea"/>
              </a:rPr>
              <a:t>   </a:t>
            </a:r>
            <a:r>
              <a:rPr lang="ko-KR" altLang="en-US" sz="1000" dirty="0">
                <a:latin typeface="+mn-ea"/>
              </a:rPr>
              <a:t>기재사항을 준용 한다</a:t>
            </a:r>
            <a:r>
              <a:rPr lang="en-US" altLang="ko-KR" sz="1000" dirty="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43" name="직사각형 42"/>
          <p:cNvSpPr/>
          <p:nvPr/>
        </p:nvSpPr>
        <p:spPr>
          <a:xfrm>
            <a:off x="428604" y="8060827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2) </a:t>
            </a:r>
            <a:r>
              <a:rPr lang="ko-KR" altLang="en-US" sz="1000" dirty="0">
                <a:latin typeface="+mn-ea"/>
              </a:rPr>
              <a:t>책 임 기 술 자</a:t>
            </a:r>
          </a:p>
        </p:txBody>
      </p:sp>
      <p:sp>
        <p:nvSpPr>
          <p:cNvPr id="44" name="직사각형 43"/>
          <p:cNvSpPr/>
          <p:nvPr/>
        </p:nvSpPr>
        <p:spPr>
          <a:xfrm>
            <a:off x="428604" y="8257225"/>
            <a:ext cx="614366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-. </a:t>
            </a:r>
            <a:r>
              <a:rPr lang="ko-KR" altLang="en-US" sz="1000" dirty="0">
                <a:latin typeface="+mn-ea"/>
              </a:rPr>
              <a:t>이 시방서에서 책임기술자라 함은  운영센터 직원을 말하며</a:t>
            </a:r>
            <a:r>
              <a:rPr lang="en-US" altLang="ko-KR" sz="1000" dirty="0">
                <a:latin typeface="+mn-ea"/>
              </a:rPr>
              <a:t>, </a:t>
            </a:r>
            <a:r>
              <a:rPr lang="ko-KR" altLang="en-US" sz="1000" dirty="0">
                <a:latin typeface="+mn-ea"/>
              </a:rPr>
              <a:t>공사의 관리감독을 총괄한다</a:t>
            </a:r>
            <a:r>
              <a:rPr lang="en-US" altLang="ko-KR" sz="1000" dirty="0">
                <a:latin typeface="+mn-ea"/>
              </a:rPr>
              <a:t>. </a:t>
            </a:r>
          </a:p>
          <a:p>
            <a:pPr>
              <a:lnSpc>
                <a:spcPct val="120000"/>
              </a:lnSpc>
            </a:pPr>
            <a:r>
              <a:rPr lang="en-US" altLang="ko-KR" sz="1000" dirty="0">
                <a:latin typeface="+mn-ea"/>
              </a:rPr>
              <a:t>   </a:t>
            </a:r>
            <a:r>
              <a:rPr lang="ko-KR" altLang="en-US" sz="1000" dirty="0">
                <a:latin typeface="+mn-ea"/>
              </a:rPr>
              <a:t>시공자의 현장 대리인은 책임기술자의 지시 및 승인한 주요 사항을 문서로 하여 책임기술자의</a:t>
            </a:r>
          </a:p>
          <a:p>
            <a:pPr>
              <a:lnSpc>
                <a:spcPct val="120000"/>
              </a:lnSpc>
            </a:pPr>
            <a:r>
              <a:rPr lang="ko-KR" altLang="en-US" sz="1000" dirty="0">
                <a:latin typeface="+mn-ea"/>
              </a:rPr>
              <a:t>   날인을 받는다</a:t>
            </a:r>
            <a:r>
              <a:rPr lang="en-US" altLang="ko-KR" sz="1000" dirty="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grpSp>
        <p:nvGrpSpPr>
          <p:cNvPr id="47" name="그룹 46"/>
          <p:cNvGrpSpPr/>
          <p:nvPr/>
        </p:nvGrpSpPr>
        <p:grpSpPr>
          <a:xfrm>
            <a:off x="422642" y="4269110"/>
            <a:ext cx="6271101" cy="2736304"/>
            <a:chOff x="370204" y="3667834"/>
            <a:chExt cx="6271101" cy="2736304"/>
          </a:xfrm>
        </p:grpSpPr>
        <p:sp>
          <p:nvSpPr>
            <p:cNvPr id="48" name="직사각형 47"/>
            <p:cNvSpPr/>
            <p:nvPr/>
          </p:nvSpPr>
          <p:spPr>
            <a:xfrm>
              <a:off x="429397" y="3667834"/>
              <a:ext cx="6142875" cy="40011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altLang="ko-KR" sz="1000" dirty="0">
                  <a:latin typeface="+mn-ea"/>
                </a:rPr>
                <a:t>1) </a:t>
              </a:r>
              <a:r>
                <a:rPr lang="ko-KR" altLang="en-US" sz="1000" dirty="0">
                  <a:latin typeface="+mn-ea"/>
                </a:rPr>
                <a:t>사택 및 기숙사에 출입 하는 모든 작업자는 현장관리인 책임하에 관리사무소에 출입 목적을 설명하고</a:t>
              </a:r>
            </a:p>
            <a:p>
              <a:r>
                <a:rPr lang="ko-KR" altLang="en-US" sz="1000" dirty="0">
                  <a:latin typeface="+mn-ea"/>
                </a:rPr>
                <a:t>   관리소장 </a:t>
              </a:r>
              <a:r>
                <a:rPr lang="ko-KR" altLang="en-US" sz="1000" dirty="0" err="1">
                  <a:latin typeface="+mn-ea"/>
                </a:rPr>
                <a:t>합의후</a:t>
              </a:r>
              <a:r>
                <a:rPr lang="ko-KR" altLang="en-US" sz="1000" dirty="0">
                  <a:latin typeface="+mn-ea"/>
                </a:rPr>
                <a:t> 해당 작업 장소에 투입 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49" name="직사각형 48"/>
            <p:cNvSpPr/>
            <p:nvPr/>
          </p:nvSpPr>
          <p:spPr>
            <a:xfrm>
              <a:off x="429397" y="4027874"/>
              <a:ext cx="6211908" cy="47038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2) </a:t>
              </a:r>
              <a:r>
                <a:rPr lang="ko-KR" altLang="en-US" sz="1000" dirty="0">
                  <a:latin typeface="+mn-ea"/>
                </a:rPr>
                <a:t>공사기간 중 당사 양식의 작업허가서를 작성하여 당일 </a:t>
              </a:r>
              <a:r>
                <a:rPr lang="en-US" altLang="ko-KR" sz="1000" dirty="0">
                  <a:latin typeface="+mn-ea"/>
                </a:rPr>
                <a:t>08:30</a:t>
              </a:r>
              <a:r>
                <a:rPr lang="ko-KR" altLang="en-US" sz="1000" dirty="0">
                  <a:latin typeface="+mn-ea"/>
                </a:rPr>
                <a:t>까지 제출하며</a:t>
              </a:r>
              <a:r>
                <a:rPr lang="en-US" altLang="ko-KR" sz="1000" dirty="0">
                  <a:latin typeface="+mn-ea"/>
                </a:rPr>
                <a:t>, </a:t>
              </a:r>
              <a:r>
                <a:rPr lang="ko-KR" altLang="en-US" sz="1000" dirty="0">
                  <a:latin typeface="+mn-ea"/>
                </a:rPr>
                <a:t>또한 작업 전 작업자 안전</a:t>
              </a:r>
            </a:p>
            <a:p>
              <a:pPr>
                <a:lnSpc>
                  <a:spcPct val="130000"/>
                </a:lnSpc>
              </a:pPr>
              <a:r>
                <a:rPr lang="ko-KR" altLang="en-US" sz="1000" dirty="0">
                  <a:latin typeface="+mn-ea"/>
                </a:rPr>
                <a:t>   교육을 수료 후 교육일지에 당사자 서명을 실시한다</a:t>
              </a:r>
              <a:r>
                <a:rPr lang="en-US" altLang="ko-KR" sz="1000" dirty="0">
                  <a:latin typeface="+mn-ea"/>
                </a:rPr>
                <a:t>.[</a:t>
              </a:r>
              <a:r>
                <a:rPr lang="ko-KR" altLang="en-US" sz="1000" dirty="0">
                  <a:latin typeface="+mn-ea"/>
                </a:rPr>
                <a:t>안전교육 </a:t>
              </a:r>
              <a:r>
                <a:rPr lang="ko-KR" altLang="en-US" sz="1000" dirty="0" err="1">
                  <a:latin typeface="+mn-ea"/>
                </a:rPr>
                <a:t>미수료자는</a:t>
              </a:r>
              <a:r>
                <a:rPr lang="ko-KR" altLang="en-US" sz="1000" dirty="0">
                  <a:latin typeface="+mn-ea"/>
                </a:rPr>
                <a:t> 현장투입 불가</a:t>
              </a:r>
              <a:r>
                <a:rPr lang="en-US" altLang="ko-KR" sz="1000" dirty="0">
                  <a:latin typeface="+mn-ea"/>
                </a:rPr>
                <a:t>]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0" name="직사각형 49"/>
            <p:cNvSpPr/>
            <p:nvPr/>
          </p:nvSpPr>
          <p:spPr>
            <a:xfrm>
              <a:off x="429397" y="4471618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3) </a:t>
              </a:r>
              <a:r>
                <a:rPr lang="ko-KR" altLang="en-US" sz="1000" dirty="0">
                  <a:latin typeface="+mn-ea"/>
                </a:rPr>
                <a:t>작업현장에는 현장대리인을 지정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상주시켜 안전사고</a:t>
              </a:r>
              <a:r>
                <a:rPr lang="en-US" altLang="ko-KR" sz="1000" dirty="0">
                  <a:latin typeface="+mn-ea"/>
                </a:rPr>
                <a:t>[</a:t>
              </a:r>
              <a:r>
                <a:rPr lang="ko-KR" altLang="en-US" sz="1000" dirty="0">
                  <a:latin typeface="+mn-ea"/>
                </a:rPr>
                <a:t>화재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인사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추락 등</a:t>
              </a:r>
              <a:r>
                <a:rPr lang="en-US" altLang="ko-KR" sz="1000" dirty="0">
                  <a:latin typeface="+mn-ea"/>
                </a:rPr>
                <a:t>] </a:t>
              </a:r>
              <a:r>
                <a:rPr lang="ko-KR" altLang="en-US" sz="1000" dirty="0">
                  <a:latin typeface="+mn-ea"/>
                </a:rPr>
                <a:t>예방에 상시 감독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주시한다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1" name="직사각형 50"/>
            <p:cNvSpPr/>
            <p:nvPr/>
          </p:nvSpPr>
          <p:spPr>
            <a:xfrm>
              <a:off x="429397" y="4715307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4) </a:t>
              </a:r>
              <a:r>
                <a:rPr lang="ko-KR" altLang="en-US" sz="1000" dirty="0">
                  <a:latin typeface="+mn-ea"/>
                </a:rPr>
                <a:t>본 공사진행 중 기존 시설물 </a:t>
              </a:r>
              <a:r>
                <a:rPr lang="ko-KR" altLang="en-US" sz="1000" dirty="0" err="1">
                  <a:latin typeface="+mn-ea"/>
                </a:rPr>
                <a:t>소손이</a:t>
              </a:r>
              <a:r>
                <a:rPr lang="ko-KR" altLang="en-US" sz="1000" dirty="0">
                  <a:latin typeface="+mn-ea"/>
                </a:rPr>
                <a:t> 발생될 경우</a:t>
              </a:r>
              <a:r>
                <a:rPr lang="en-US" altLang="ko-KR" sz="1000" dirty="0">
                  <a:latin typeface="+mn-ea"/>
                </a:rPr>
                <a:t>, </a:t>
              </a:r>
              <a:r>
                <a:rPr lang="ko-KR" altLang="en-US" sz="1000" dirty="0">
                  <a:latin typeface="+mn-ea"/>
                </a:rPr>
                <a:t>시공업체는 </a:t>
              </a:r>
              <a:r>
                <a:rPr lang="en-US" altLang="ko-KR" sz="1000" dirty="0">
                  <a:latin typeface="+mn-ea"/>
                </a:rPr>
                <a:t>3</a:t>
              </a:r>
              <a:r>
                <a:rPr lang="ko-KR" altLang="en-US" sz="1000" dirty="0">
                  <a:latin typeface="+mn-ea"/>
                </a:rPr>
                <a:t>주일 내 원상복구를 완료하여야 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2" name="직사각형 51"/>
            <p:cNvSpPr/>
            <p:nvPr/>
          </p:nvSpPr>
          <p:spPr>
            <a:xfrm>
              <a:off x="429397" y="4958996"/>
              <a:ext cx="6211908" cy="47038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5) </a:t>
              </a:r>
              <a:r>
                <a:rPr lang="ko-KR" altLang="en-US" sz="1000" dirty="0">
                  <a:latin typeface="+mn-ea"/>
                </a:rPr>
                <a:t>제품의 반</a:t>
              </a:r>
              <a:r>
                <a:rPr lang="en-US" altLang="ko-KR" sz="1000" dirty="0">
                  <a:latin typeface="+mn-ea"/>
                </a:rPr>
                <a:t>.</a:t>
              </a:r>
              <a:r>
                <a:rPr lang="ko-KR" altLang="en-US" sz="1000" dirty="0" err="1">
                  <a:latin typeface="+mn-ea"/>
                </a:rPr>
                <a:t>출입시</a:t>
              </a:r>
              <a:r>
                <a:rPr lang="ko-KR" altLang="en-US" sz="1000" dirty="0">
                  <a:latin typeface="+mn-ea"/>
                </a:rPr>
                <a:t> </a:t>
              </a:r>
              <a:r>
                <a:rPr lang="en-US" altLang="ko-KR" sz="1000" dirty="0">
                  <a:latin typeface="+mn-ea"/>
                </a:rPr>
                <a:t>E/L </a:t>
              </a:r>
              <a:r>
                <a:rPr lang="ko-KR" altLang="en-US" sz="1000" dirty="0">
                  <a:latin typeface="+mn-ea"/>
                </a:rPr>
                <a:t>및 복도 등에 손상이 없도록 </a:t>
              </a:r>
              <a:r>
                <a:rPr lang="en-US" altLang="ko-KR" sz="1000" dirty="0">
                  <a:latin typeface="+mn-ea"/>
                </a:rPr>
                <a:t>PRO-</a:t>
              </a:r>
              <a:r>
                <a:rPr lang="en-US" altLang="ko-KR" sz="1000" dirty="0" err="1">
                  <a:latin typeface="+mn-ea"/>
                </a:rPr>
                <a:t>TECTION</a:t>
              </a:r>
              <a:r>
                <a:rPr lang="ko-KR" altLang="en-US" sz="1000" dirty="0">
                  <a:latin typeface="+mn-ea"/>
                </a:rPr>
                <a:t>을 철저히 하고 손상이 발생시에는</a:t>
              </a:r>
            </a:p>
            <a:p>
              <a:pPr>
                <a:lnSpc>
                  <a:spcPct val="130000"/>
                </a:lnSpc>
              </a:pPr>
              <a:r>
                <a:rPr lang="ko-KR" altLang="en-US" sz="1000" dirty="0">
                  <a:latin typeface="+mn-ea"/>
                </a:rPr>
                <a:t>  시공자가 </a:t>
              </a:r>
              <a:r>
                <a:rPr lang="ko-KR" altLang="en-US" sz="1000" dirty="0" err="1">
                  <a:latin typeface="+mn-ea"/>
                </a:rPr>
                <a:t>원상복구한다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3" name="직사각형 52"/>
            <p:cNvSpPr/>
            <p:nvPr/>
          </p:nvSpPr>
          <p:spPr>
            <a:xfrm>
              <a:off x="429397" y="5402740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6) </a:t>
              </a:r>
              <a:r>
                <a:rPr lang="ko-KR" altLang="en-US" sz="1000" dirty="0">
                  <a:latin typeface="+mn-ea"/>
                </a:rPr>
                <a:t>작업진행 중 시방 및 도면이 상이 할 경우 감독자와 협의 후 지시에 따른다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4" name="직사각형 53"/>
            <p:cNvSpPr/>
            <p:nvPr/>
          </p:nvSpPr>
          <p:spPr>
            <a:xfrm>
              <a:off x="429397" y="5646429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7) </a:t>
              </a:r>
              <a:r>
                <a:rPr lang="ko-KR" altLang="en-US" sz="1000" dirty="0" err="1">
                  <a:latin typeface="+mn-ea"/>
                </a:rPr>
                <a:t>준공계</a:t>
              </a:r>
              <a:r>
                <a:rPr lang="ko-KR" altLang="en-US" sz="1000" dirty="0">
                  <a:latin typeface="+mn-ea"/>
                </a:rPr>
                <a:t> 제출시 공사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공정별 시공 전</a:t>
              </a:r>
              <a:r>
                <a:rPr lang="en-US" altLang="ko-KR" sz="1000" dirty="0">
                  <a:latin typeface="+mn-ea"/>
                </a:rPr>
                <a:t>,</a:t>
              </a:r>
              <a:r>
                <a:rPr lang="ko-KR" altLang="en-US" sz="1000" dirty="0">
                  <a:latin typeface="+mn-ea"/>
                </a:rPr>
                <a:t>중</a:t>
              </a:r>
              <a:r>
                <a:rPr lang="en-US" altLang="ko-KR" sz="1000" dirty="0">
                  <a:latin typeface="+mn-ea"/>
                </a:rPr>
                <a:t>,</a:t>
              </a:r>
              <a:r>
                <a:rPr lang="ko-KR" altLang="en-US" sz="1000" dirty="0">
                  <a:latin typeface="+mn-ea"/>
                </a:rPr>
                <a:t>후의 촬영사진을 편집하여 첨부하도록 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5" name="직사각형 54"/>
            <p:cNvSpPr/>
            <p:nvPr/>
          </p:nvSpPr>
          <p:spPr>
            <a:xfrm>
              <a:off x="429397" y="5890118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8) </a:t>
              </a:r>
              <a:r>
                <a:rPr lang="ko-KR" altLang="en-US" sz="1000" dirty="0">
                  <a:latin typeface="+mn-ea"/>
                </a:rPr>
                <a:t>작업자는 </a:t>
              </a:r>
              <a:r>
                <a:rPr lang="ko-KR" altLang="en-US" sz="1000" dirty="0" err="1">
                  <a:latin typeface="+mn-ea"/>
                </a:rPr>
                <a:t>안전장구류</a:t>
              </a:r>
              <a:r>
                <a:rPr lang="ko-KR" altLang="en-US" sz="1000" dirty="0">
                  <a:latin typeface="+mn-ea"/>
                </a:rPr>
                <a:t> 착용 및 바른 품행으로 입주직원에게 양질의 공사품질을 제공한다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6" name="직사각형 55"/>
            <p:cNvSpPr/>
            <p:nvPr/>
          </p:nvSpPr>
          <p:spPr>
            <a:xfrm>
              <a:off x="370204" y="6133808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 9) </a:t>
              </a:r>
              <a:r>
                <a:rPr lang="ko-KR" altLang="en-US" sz="1000" dirty="0">
                  <a:latin typeface="+mn-ea"/>
                </a:rPr>
                <a:t>작업자는 작업공간 내에서는 항상 안전모를 착용한다</a:t>
              </a:r>
              <a:r>
                <a:rPr lang="en-US" altLang="ko-KR" sz="1000" dirty="0">
                  <a:latin typeface="+mn-ea"/>
                </a:rPr>
                <a:t>.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직사각형 12"/>
          <p:cNvSpPr/>
          <p:nvPr/>
        </p:nvSpPr>
        <p:spPr>
          <a:xfrm>
            <a:off x="285728" y="428596"/>
            <a:ext cx="6286544" cy="85011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0" name="직사각형 19"/>
          <p:cNvSpPr/>
          <p:nvPr/>
        </p:nvSpPr>
        <p:spPr>
          <a:xfrm>
            <a:off x="428604" y="2458920"/>
            <a:ext cx="6357982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000">
                <a:latin typeface="+mn-ea"/>
              </a:rPr>
              <a:t>6) </a:t>
            </a:r>
            <a:r>
              <a:rPr lang="ko-KR" altLang="en-US" sz="1000">
                <a:latin typeface="+mn-ea"/>
              </a:rPr>
              <a:t>공정표 및 시공계획서 제출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1" name="직사각형 20"/>
          <p:cNvSpPr/>
          <p:nvPr/>
        </p:nvSpPr>
        <p:spPr>
          <a:xfrm>
            <a:off x="447654" y="2631802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착공 전에 공정표 및 시공계획서를 작성하여 책임기술자의 승인을 받는다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그리고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필요에 따라 각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공사의 세부 시공계획서를 작성하여 책임기술자의 승인 후 적용한다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2" name="직사각형 21"/>
          <p:cNvSpPr/>
          <p:nvPr/>
        </p:nvSpPr>
        <p:spPr>
          <a:xfrm>
            <a:off x="428604" y="3109481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7) </a:t>
            </a:r>
            <a:r>
              <a:rPr lang="ko-KR" altLang="en-US" sz="1000">
                <a:latin typeface="+mn-ea"/>
              </a:rPr>
              <a:t>시공검사 및 입회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3" name="직사각형 22"/>
          <p:cNvSpPr/>
          <p:nvPr/>
        </p:nvSpPr>
        <p:spPr>
          <a:xfrm>
            <a:off x="500042" y="3334454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각 공사부분은 미리 책임기술자가 지정한 공정에 이르렀을 때에 검사를 받고 합격 승인을 얻은 후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다음 공정에 착수한다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4" name="직사각형 23"/>
          <p:cNvSpPr/>
          <p:nvPr/>
        </p:nvSpPr>
        <p:spPr>
          <a:xfrm>
            <a:off x="428604" y="4163674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8) </a:t>
            </a:r>
            <a:r>
              <a:rPr lang="ko-KR" altLang="en-US" sz="1000">
                <a:latin typeface="+mn-ea"/>
              </a:rPr>
              <a:t>공사장 관리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5" name="직사각형 24"/>
          <p:cNvSpPr/>
          <p:nvPr/>
        </p:nvSpPr>
        <p:spPr>
          <a:xfrm>
            <a:off x="500042" y="4387746"/>
            <a:ext cx="6143668" cy="25878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공사장 관리는 다음 각 항을 준수한다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6" name="직사각형 25"/>
          <p:cNvSpPr/>
          <p:nvPr/>
        </p:nvSpPr>
        <p:spPr>
          <a:xfrm>
            <a:off x="500042" y="3720219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시공 후 검사가 불가능 또는 난이 한 공사 및 조정을 요하는 것은 그 시공을 함에 있어서 반드시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책임기술자의 입회</a:t>
            </a:r>
            <a:r>
              <a:rPr lang="en-US" altLang="ko-KR" sz="1000">
                <a:latin typeface="+mn-ea"/>
              </a:rPr>
              <a:t>&amp;</a:t>
            </a:r>
            <a:r>
              <a:rPr lang="ko-KR" altLang="en-US" sz="1000">
                <a:latin typeface="+mn-ea"/>
              </a:rPr>
              <a:t>협의 하에 시공한다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7" name="직사각형 26"/>
          <p:cNvSpPr/>
          <p:nvPr/>
        </p:nvSpPr>
        <p:spPr>
          <a:xfrm>
            <a:off x="571480" y="4657967"/>
            <a:ext cx="5715040" cy="1015663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ㄱ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모든 작업자는 공사 중 매일 상황실에 공사인원 및 작업내용을 신고한 후 작업증을 패용한 후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 작업에 임한다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ㄴ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화재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도난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소음방지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위험물 및 그 위치표시 기타 사고방지에 대한 단속을 철저히 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ㄷ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시공기구 및 시공설비의 정리와 관리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작업 후 현장내의 청소 및 정리정돈을 철저히 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ㄹ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작업자는 안전관리에 관한 책임기술자의 지시사항을 철저히 준수한다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8" name="직사각형 27"/>
          <p:cNvSpPr/>
          <p:nvPr/>
        </p:nvSpPr>
        <p:spPr>
          <a:xfrm>
            <a:off x="428604" y="5781262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9) </a:t>
            </a:r>
            <a:r>
              <a:rPr lang="ko-KR" altLang="en-US" sz="1000">
                <a:latin typeface="+mn-ea"/>
              </a:rPr>
              <a:t>보상과 구조물의 손상보수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9" name="직사각형 28"/>
          <p:cNvSpPr/>
          <p:nvPr/>
        </p:nvSpPr>
        <p:spPr>
          <a:xfrm>
            <a:off x="500042" y="6006235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건물 각 분야별 시설물에 손상을 주지 않도록 주의해야 하며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손상이 발생하였을 경우에는 책임기술자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의 지시에 따라 동일한 재료 또는 동등품 이상의 재료로서 원상태로 조속히 복구한다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1" name="직사각형 30"/>
          <p:cNvSpPr/>
          <p:nvPr/>
        </p:nvSpPr>
        <p:spPr>
          <a:xfrm>
            <a:off x="428604" y="6467067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10) </a:t>
            </a:r>
            <a:r>
              <a:rPr lang="ko-KR" altLang="en-US" sz="1000" dirty="0">
                <a:latin typeface="+mn-ea"/>
              </a:rPr>
              <a:t>작업일지 및 공사사진 제출</a:t>
            </a:r>
          </a:p>
        </p:txBody>
      </p:sp>
      <p:sp>
        <p:nvSpPr>
          <p:cNvPr id="48" name="직사각형 47"/>
          <p:cNvSpPr/>
          <p:nvPr/>
        </p:nvSpPr>
        <p:spPr>
          <a:xfrm>
            <a:off x="500042" y="6692040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작업 현장대리인은 금일과 명일 작업내용을 구체적으로 기재한 작업허가서를 매일 아침 책임기술자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에게 제출한다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49" name="직사각형 48"/>
          <p:cNvSpPr/>
          <p:nvPr/>
        </p:nvSpPr>
        <p:spPr>
          <a:xfrm>
            <a:off x="500042" y="7060450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특기사항이 있거나 책임기술자가 필요하다고 지시하는 공정은 사진을 찍어 스크랩북을 만들어 준공과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동시에 제출한다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0" name="직사각형 49"/>
          <p:cNvSpPr/>
          <p:nvPr/>
        </p:nvSpPr>
        <p:spPr>
          <a:xfrm>
            <a:off x="428604" y="7495774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11) </a:t>
            </a:r>
            <a:r>
              <a:rPr lang="ko-KR" altLang="en-US" sz="1000" dirty="0">
                <a:latin typeface="+mn-ea"/>
              </a:rPr>
              <a:t>공 정 회 의</a:t>
            </a:r>
          </a:p>
        </p:txBody>
      </p:sp>
      <p:sp>
        <p:nvSpPr>
          <p:cNvPr id="51" name="직사각형 50"/>
          <p:cNvSpPr/>
          <p:nvPr/>
        </p:nvSpPr>
        <p:spPr>
          <a:xfrm>
            <a:off x="500042" y="7720747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작업 중 공정의 지연 및 기타 사항으로 책임기술자가 공정회의를 개최할 경우 현장대리인은 반드시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참석하여야 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2" name="직사각형 51"/>
          <p:cNvSpPr/>
          <p:nvPr/>
        </p:nvSpPr>
        <p:spPr>
          <a:xfrm>
            <a:off x="428604" y="8172054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12) </a:t>
            </a:r>
            <a:r>
              <a:rPr lang="ko-KR" altLang="en-US" sz="1000" dirty="0">
                <a:latin typeface="+mn-ea"/>
              </a:rPr>
              <a:t>작업자 명단 제출</a:t>
            </a:r>
          </a:p>
        </p:txBody>
      </p:sp>
      <p:sp>
        <p:nvSpPr>
          <p:cNvPr id="53" name="직사각형 52"/>
          <p:cNvSpPr/>
          <p:nvPr/>
        </p:nvSpPr>
        <p:spPr>
          <a:xfrm>
            <a:off x="500042" y="8397027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현장대리인은 작업 </a:t>
            </a:r>
            <a:r>
              <a:rPr lang="en-US" altLang="ko-KR" sz="1000">
                <a:latin typeface="+mn-ea"/>
              </a:rPr>
              <a:t>7</a:t>
            </a:r>
            <a:r>
              <a:rPr lang="ko-KR" altLang="en-US" sz="1000">
                <a:latin typeface="+mn-ea"/>
              </a:rPr>
              <a:t>일 전 책임기술자에게 반드시 작업자 명단을 제출하여야 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기술연구원 내 출입자 신청은 </a:t>
            </a:r>
            <a:r>
              <a:rPr lang="en-US" altLang="ko-KR" sz="1000">
                <a:latin typeface="+mn-ea"/>
              </a:rPr>
              <a:t>5</a:t>
            </a:r>
            <a:r>
              <a:rPr lang="ko-KR" altLang="en-US" sz="1000">
                <a:latin typeface="+mn-ea"/>
              </a:rPr>
              <a:t>일 전 </a:t>
            </a:r>
            <a:r>
              <a:rPr lang="en-US" altLang="ko-KR" sz="1000">
                <a:latin typeface="+mn-ea"/>
              </a:rPr>
              <a:t>LG </a:t>
            </a:r>
            <a:r>
              <a:rPr lang="ko-KR" altLang="en-US" sz="1000">
                <a:latin typeface="+mn-ea"/>
              </a:rPr>
              <a:t>안전환경팀에 허가를 받은 자만 출입이 가능하다</a:t>
            </a:r>
            <a:r>
              <a:rPr lang="en-US" altLang="ko-KR" sz="1000">
                <a:latin typeface="+mn-ea"/>
              </a:rPr>
              <a:t>. 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4" name="직사각형 53"/>
          <p:cNvSpPr/>
          <p:nvPr/>
        </p:nvSpPr>
        <p:spPr>
          <a:xfrm>
            <a:off x="428604" y="1386756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4) </a:t>
            </a:r>
            <a:r>
              <a:rPr lang="ko-KR" altLang="en-US" sz="1000">
                <a:latin typeface="+mn-ea"/>
              </a:rPr>
              <a:t>공 사 기 준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5" name="직사각형 54"/>
          <p:cNvSpPr/>
          <p:nvPr/>
        </p:nvSpPr>
        <p:spPr>
          <a:xfrm>
            <a:off x="428604" y="1583154"/>
            <a:ext cx="6143668" cy="25878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이 공사는 시방서 및 책임기술자의 지시에 따라 완벽하게 시공한다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6" name="직사각형 55"/>
          <p:cNvSpPr/>
          <p:nvPr/>
        </p:nvSpPr>
        <p:spPr>
          <a:xfrm>
            <a:off x="428604" y="1800857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5) </a:t>
            </a:r>
            <a:r>
              <a:rPr lang="ko-KR" altLang="en-US" sz="1000">
                <a:latin typeface="+mn-ea"/>
              </a:rPr>
              <a:t>공 사 지 시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7" name="직사각형 56"/>
          <p:cNvSpPr/>
          <p:nvPr/>
        </p:nvSpPr>
        <p:spPr>
          <a:xfrm>
            <a:off x="428604" y="1997255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시방서의 내용이 상이 하거나 명기가 없을 때 또는 의문이 생겼을 때에는 책임기술자와 협의 후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지시에 따른다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5E869DD8-6100-6214-40F8-B795ED7459E6}"/>
              </a:ext>
            </a:extLst>
          </p:cNvPr>
          <p:cNvSpPr/>
          <p:nvPr/>
        </p:nvSpPr>
        <p:spPr>
          <a:xfrm>
            <a:off x="428604" y="488911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3) </a:t>
            </a:r>
            <a:r>
              <a:rPr lang="ko-KR" altLang="en-US" sz="1000">
                <a:latin typeface="+mn-ea"/>
              </a:rPr>
              <a:t>현 장 대 리 인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6E8B89E1-D7B9-EEC0-B872-3AD3E0212AE1}"/>
              </a:ext>
            </a:extLst>
          </p:cNvPr>
          <p:cNvSpPr/>
          <p:nvPr/>
        </p:nvSpPr>
        <p:spPr>
          <a:xfrm>
            <a:off x="428604" y="685309"/>
            <a:ext cx="614366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시공자는 공사 현장에 필요한 기술자 중 </a:t>
            </a:r>
            <a:r>
              <a:rPr lang="en-US" altLang="ko-KR" sz="1000">
                <a:latin typeface="+mn-ea"/>
              </a:rPr>
              <a:t>3</a:t>
            </a:r>
            <a:r>
              <a:rPr lang="ko-KR" altLang="en-US" sz="1000">
                <a:latin typeface="+mn-ea"/>
              </a:rPr>
              <a:t>명은 현장 대리인으로 지정하여 책임기술자의 지시에 따라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각종 업무와 보안의 책임을 담당함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현장대리인은 공사수행에 필요한 제반 지식에 정통하며 충분히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경험이 있는 자로서 책임기술자가 그 공사에 적합한 자격자로 선정 협의한다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11007479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직사각형 12"/>
          <p:cNvSpPr/>
          <p:nvPr/>
        </p:nvSpPr>
        <p:spPr>
          <a:xfrm>
            <a:off x="285728" y="428596"/>
            <a:ext cx="6286544" cy="85011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4" name="직사각형 13"/>
          <p:cNvSpPr/>
          <p:nvPr/>
        </p:nvSpPr>
        <p:spPr>
          <a:xfrm>
            <a:off x="285728" y="428596"/>
            <a:ext cx="285752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400" b="1">
                <a:latin typeface="+mn-ea"/>
              </a:rPr>
              <a:t>제 </a:t>
            </a:r>
            <a:r>
              <a:rPr lang="en-US" altLang="ko-KR" sz="1400" b="1">
                <a:latin typeface="+mn-ea"/>
              </a:rPr>
              <a:t>3 </a:t>
            </a:r>
            <a:r>
              <a:rPr lang="ko-KR" altLang="en-US" sz="1400" b="1">
                <a:latin typeface="+mn-ea"/>
              </a:rPr>
              <a:t>장 </a:t>
            </a:r>
            <a:r>
              <a:rPr lang="en-US" altLang="ko-KR" sz="1400" b="1">
                <a:latin typeface="+mn-ea"/>
              </a:rPr>
              <a:t>. </a:t>
            </a:r>
            <a:r>
              <a:rPr lang="ko-KR" altLang="en-US" sz="1400" b="1">
                <a:latin typeface="+mn-ea"/>
              </a:rPr>
              <a:t>특기사항</a:t>
            </a:r>
            <a:endParaRPr lang="ko-KR" altLang="en-US" sz="1400" dirty="0">
              <a:latin typeface="+mn-ea"/>
            </a:endParaRPr>
          </a:p>
        </p:txBody>
      </p:sp>
      <p:sp>
        <p:nvSpPr>
          <p:cNvPr id="15" name="직사각형 14"/>
          <p:cNvSpPr/>
          <p:nvPr/>
        </p:nvSpPr>
        <p:spPr>
          <a:xfrm>
            <a:off x="357166" y="746050"/>
            <a:ext cx="6215106" cy="101763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200000"/>
              </a:lnSpc>
            </a:pP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3) 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수선완료 시점에서 연구원의 서명을 받은 완료 보고서 및 거래내역서를 제출하도록 한다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.</a:t>
            </a:r>
          </a:p>
          <a:p>
            <a:pPr>
              <a:lnSpc>
                <a:spcPct val="200000"/>
              </a:lnSpc>
            </a:pP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3) 1,000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만원 이상 수선後 완료시점에서 하자이행증권을 발급하며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,  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담당자에게 </a:t>
            </a:r>
          </a:p>
          <a:p>
            <a:pPr>
              <a:lnSpc>
                <a:spcPct val="200000"/>
              </a:lnSpc>
            </a:pP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   제출하도록 한다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.(SCAN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본 및 </a:t>
            </a:r>
            <a:r>
              <a:rPr lang="ko-KR" altLang="en-US" sz="1100" dirty="0" err="1">
                <a:solidFill>
                  <a:schemeClr val="tx1"/>
                </a:solidFill>
                <a:latin typeface="+mn-ea"/>
              </a:rPr>
              <a:t>원본으로제출함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)</a:t>
            </a:r>
            <a:endParaRPr lang="ko-KR" altLang="en-US" sz="1100" dirty="0">
              <a:solidFill>
                <a:schemeClr val="tx1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62847183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1200</TotalTime>
  <Words>834</Words>
  <Application>Microsoft Office PowerPoint</Application>
  <PresentationFormat>화면 슬라이드 쇼(4:3)</PresentationFormat>
  <Paragraphs>79</Paragraphs>
  <Slides>4</Slides>
  <Notes>2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4</vt:i4>
      </vt:variant>
    </vt:vector>
  </HeadingPairs>
  <TitlesOfParts>
    <vt:vector size="7" baseType="lpstr"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슬라이드 1</dc:title>
  <dc:creator>LGRnD</dc:creator>
  <cp:lastModifiedBy>종근 이</cp:lastModifiedBy>
  <cp:revision>489</cp:revision>
  <dcterms:created xsi:type="dcterms:W3CDTF">2015-01-28T03:52:40Z</dcterms:created>
  <dcterms:modified xsi:type="dcterms:W3CDTF">2026-08-23T20:58:24Z</dcterms:modified>
</cp:coreProperties>
</file>