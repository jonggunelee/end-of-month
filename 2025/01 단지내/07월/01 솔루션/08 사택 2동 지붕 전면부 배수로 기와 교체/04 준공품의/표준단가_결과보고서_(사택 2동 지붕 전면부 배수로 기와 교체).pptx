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189" r:id="rId4"/>
  </p:sldMasterIdLst>
  <p:notesMasterIdLst>
    <p:notesMasterId r:id="rId8"/>
  </p:notesMasterIdLst>
  <p:handoutMasterIdLst>
    <p:handoutMasterId r:id="rId9"/>
  </p:handoutMasterIdLst>
  <p:sldIdLst>
    <p:sldId id="2145707139" r:id="rId5"/>
    <p:sldId id="2145707145" r:id="rId6"/>
    <p:sldId id="2145707144" r:id="rId7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>
          <p15:clr>
            <a:srgbClr val="A4A3A4"/>
          </p15:clr>
        </p15:guide>
        <p15:guide id="3" orient="horz" pos="12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th M C" initials="" lastIdx="1" clrIdx="0"/>
  <p:cmAuthor id="2" name="Kundan Richhariya" initials="" lastIdx="3" clrIdx="1"/>
  <p:cmAuthor id="3" name="Luke Jun (MAM)" initials="" lastIdx="1" clrIdx="2"/>
  <p:cmAuthor id="4" name="Jennifer Shin (MAM)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B0C1"/>
    <a:srgbClr val="B2C7DA"/>
    <a:srgbClr val="FFFE00"/>
    <a:srgbClr val="009900"/>
    <a:srgbClr val="1C6897"/>
    <a:srgbClr val="FFFFCC"/>
    <a:srgbClr val="000000"/>
    <a:srgbClr val="A50034"/>
    <a:srgbClr val="C00A3B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" autoAdjust="0"/>
    <p:restoredTop sz="96548" autoAdjust="0"/>
  </p:normalViewPr>
  <p:slideViewPr>
    <p:cSldViewPr snapToGrid="0" showGuides="1">
      <p:cViewPr>
        <p:scale>
          <a:sx n="100" d="100"/>
          <a:sy n="100" d="100"/>
        </p:scale>
        <p:origin x="-1152" y="138"/>
      </p:cViewPr>
      <p:guideLst>
        <p:guide pos="3120"/>
        <p:guide orient="horz" pos="12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354"/>
    </p:cViewPr>
  </p:sorterViewPr>
  <p:notesViewPr>
    <p:cSldViewPr snapToGrid="0" showGuides="1">
      <p:cViewPr varScale="1">
        <p:scale>
          <a:sx n="80" d="100"/>
          <a:sy n="80" d="100"/>
        </p:scale>
        <p:origin x="1128" y="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DCAE8E-8DB9-45F8-83A1-8CBA15E59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1A3E8-991C-4DD2-BD6B-66F948AC35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8E51447-1DDC-4799-9DC4-74FF21F82648}" type="datetimeFigureOut">
              <a:rPr lang="en-AU" altLang="ko-KR"/>
              <a:pPr>
                <a:defRPr/>
              </a:pPr>
              <a:t>18/07/2025</a:t>
            </a:fld>
            <a:endParaRPr lang="en-AU" altLang="ko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793F3-57BC-4C04-9CF7-98472F82C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5DD92-5817-4E14-9767-FB95DCB5D5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AB93D41-684D-4E71-A365-22B864763A2F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06191-9682-4287-ADDB-1FED60D64E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0247-8051-4159-A36B-060991287C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F109933-A58F-4232-8E38-4DA38B770DD1}" type="datetimeFigureOut">
              <a:rPr lang="en-AU" altLang="ko-KR"/>
              <a:pPr>
                <a:defRPr/>
              </a:pPr>
              <a:t>18/07/2025</a:t>
            </a:fld>
            <a:endParaRPr lang="en-AU" altLang="ko-KR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E6403A4-1774-4EE4-B9FA-48886555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15" tIns="45606" rIns="91215" bIns="45606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AC205E-CD0D-45FC-B1DF-DF7A9761E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65" y="4714653"/>
            <a:ext cx="5438748" cy="4466756"/>
          </a:xfrm>
          <a:prstGeom prst="rect">
            <a:avLst/>
          </a:prstGeom>
        </p:spPr>
        <p:txBody>
          <a:bodyPr vert="horz" lIns="91215" tIns="45606" rIns="91215" bIns="4560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2FB5C-558B-48F2-9E57-7291F0E9E3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20B6D-869E-4204-AFDE-3DD0536DC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07C9B01-475F-4DBD-8E24-126E4DA6FC55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4161015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3501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30">
            <a:extLst>
              <a:ext uri="{FF2B5EF4-FFF2-40B4-BE49-F238E27FC236}">
                <a16:creationId xmlns:a16="http://schemas.microsoft.com/office/drawing/2014/main" id="{FF7593CF-1CEF-434F-998E-BADEF7725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228600"/>
            <a:ext cx="739775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page title</a:t>
            </a:r>
          </a:p>
        </p:txBody>
      </p:sp>
      <p:sp>
        <p:nvSpPr>
          <p:cNvPr id="1027" name="Text Placeholder 31">
            <a:extLst>
              <a:ext uri="{FF2B5EF4-FFF2-40B4-BE49-F238E27FC236}">
                <a16:creationId xmlns:a16="http://schemas.microsoft.com/office/drawing/2014/main" id="{EF456EF7-F231-49E0-B1DD-6CD59AB8D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857375"/>
            <a:ext cx="92964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text/table/graph</a:t>
            </a:r>
          </a:p>
          <a:p>
            <a:pPr lvl="1"/>
            <a:r>
              <a:rPr lang="en-AU" altLang="ko-KR" dirty="0"/>
              <a:t>Bullet L1</a:t>
            </a:r>
          </a:p>
          <a:p>
            <a:pPr lvl="2"/>
            <a:r>
              <a:rPr lang="en-AU" altLang="ko-KR" dirty="0"/>
              <a:t>Bullet L2</a:t>
            </a:r>
          </a:p>
          <a:p>
            <a:pPr lvl="3"/>
            <a:r>
              <a:rPr lang="en-AU" altLang="ko-KR" dirty="0"/>
              <a:t>Bullet L3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08417-388F-4318-A02B-E661F76C6F59}"/>
              </a:ext>
            </a:extLst>
          </p:cNvPr>
          <p:cNvSpPr txBox="1"/>
          <p:nvPr/>
        </p:nvSpPr>
        <p:spPr>
          <a:xfrm>
            <a:off x="9199563" y="6613525"/>
            <a:ext cx="504825" cy="179388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AU" altLang="ko-KR" sz="800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PAGE </a:t>
            </a:r>
            <a:fld id="{AF963B7D-A0D3-4BE5-AD70-FEC75513EEBD}" type="slidenum">
              <a:rPr lang="en-AU" altLang="ko-KR" sz="800" smtClean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pPr algn="r" eaLnBrk="1" hangingPunct="1">
                <a:defRPr/>
              </a:pPr>
              <a:t>‹#›</a:t>
            </a:fld>
            <a:endParaRPr lang="en-AU" altLang="ko-KR" sz="800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32860-9E2A-41C6-AB64-21BEE52D5802}"/>
              </a:ext>
            </a:extLst>
          </p:cNvPr>
          <p:cNvSpPr txBox="1"/>
          <p:nvPr/>
        </p:nvSpPr>
        <p:spPr>
          <a:xfrm>
            <a:off x="354013" y="6613525"/>
            <a:ext cx="2349500" cy="179388"/>
          </a:xfrm>
          <a:prstGeom prst="rect">
            <a:avLst/>
          </a:prstGeom>
          <a:noFill/>
        </p:spPr>
        <p:txBody>
          <a:bodyPr wrap="none" lIns="90000" tIns="36000" rIns="36000" bIns="36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STRICTLY CONFIDENTIAL </a:t>
            </a: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 </a:t>
            </a:r>
            <a:r>
              <a:rPr 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S&amp;I</a:t>
            </a:r>
            <a:r>
              <a:rPr lang="ko-KR" alt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 </a:t>
            </a:r>
            <a:r>
              <a:rPr lang="en-US" altLang="ko-KR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CORP.</a:t>
            </a:r>
            <a:endParaRPr lang="en-AU" sz="800" b="1" cap="all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944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kern="1200">
          <a:solidFill>
            <a:schemeClr val="accent2"/>
          </a:solidFill>
          <a:latin typeface="Arial Narrow" panose="020B0606020202030204" pitchFamily="34" charset="0"/>
          <a:ea typeface="맑은 고딕" panose="020B0503020000020004" pitchFamily="50" charset="-127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00"/>
        </a:spcAft>
        <a:buClr>
          <a:srgbClr val="C7EAF8"/>
        </a:buClr>
        <a:buSzPct val="80000"/>
        <a:buFont typeface="Wingdings" panose="05000000000000000000" pitchFamily="2" charset="2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1pPr>
      <a:lvl2pPr marL="180975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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2pPr>
      <a:lvl3pPr marL="361950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3pPr>
      <a:lvl4pPr marL="533400" indent="-171450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ts val="363"/>
        </a:spcAft>
        <a:buFont typeface="Calibri" panose="020F0502020204030204" pitchFamily="34" charset="0"/>
        <a:buChar char="—"/>
        <a:defRPr sz="1000" kern="1200">
          <a:solidFill>
            <a:srgbClr val="4D4F53"/>
          </a:solidFill>
          <a:latin typeface="HelveticaNeue LT 45 L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17">
          <p15:clr>
            <a:srgbClr val="F26B43"/>
          </p15:clr>
        </p15:guide>
        <p15:guide id="3" pos="6091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0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B5C1669-3494-D5D4-8EEB-A548C5489E04}"/>
              </a:ext>
            </a:extLst>
          </p:cNvPr>
          <p:cNvSpPr txBox="1">
            <a:spLocks/>
          </p:cNvSpPr>
          <p:nvPr/>
        </p:nvSpPr>
        <p:spPr bwMode="auto">
          <a:xfrm>
            <a:off x="11048" y="165100"/>
            <a:ext cx="9906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ko-KR" altLang="en-US" sz="2450" dirty="0">
                <a:solidFill>
                  <a:srgbClr val="6B6B6B"/>
                </a:solidFill>
              </a:rPr>
              <a:t>사택 </a:t>
            </a:r>
            <a:r>
              <a:rPr lang="en-US" altLang="ko-KR" sz="2450" dirty="0">
                <a:solidFill>
                  <a:srgbClr val="6B6B6B"/>
                </a:solidFill>
              </a:rPr>
              <a:t>2</a:t>
            </a:r>
            <a:r>
              <a:rPr lang="ko-KR" altLang="en-US" sz="2450" dirty="0">
                <a:solidFill>
                  <a:srgbClr val="6B6B6B"/>
                </a:solidFill>
              </a:rPr>
              <a:t>동 지붕 전면부 배수로 기와 교체</a:t>
            </a:r>
            <a:r>
              <a:rPr lang="en-US" altLang="ko-KR" sz="2450" dirty="0">
                <a:solidFill>
                  <a:srgbClr val="6B6B6B"/>
                </a:solidFill>
              </a:rPr>
              <a:t> Hold Point </a:t>
            </a:r>
            <a:r>
              <a:rPr lang="ko-KR" altLang="en-US" sz="2450" dirty="0">
                <a:solidFill>
                  <a:srgbClr val="6B6B6B"/>
                </a:solidFill>
              </a:rPr>
              <a:t>촬영</a:t>
            </a:r>
            <a:r>
              <a:rPr lang="en-US" altLang="ko-KR" sz="2450" dirty="0">
                <a:solidFill>
                  <a:srgbClr val="6B6B6B"/>
                </a:solidFill>
              </a:rPr>
              <a:t>/</a:t>
            </a:r>
            <a:r>
              <a:rPr lang="ko-KR" altLang="en-US" sz="2450" dirty="0">
                <a:solidFill>
                  <a:srgbClr val="6B6B6B"/>
                </a:solidFill>
              </a:rPr>
              <a:t>승인 결과보고서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E4460F3-5BB0-8E1E-25B5-C426E66C5FD3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FF85138-BF19-5550-B370-D1B7B586EF62}"/>
              </a:ext>
            </a:extLst>
          </p:cNvPr>
          <p:cNvGrpSpPr/>
          <p:nvPr/>
        </p:nvGrpSpPr>
        <p:grpSpPr>
          <a:xfrm>
            <a:off x="152400" y="798909"/>
            <a:ext cx="9695228" cy="5769927"/>
            <a:chOff x="152400" y="789765"/>
            <a:chExt cx="9695228" cy="576992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65A8C79-1775-BDF2-22BF-74F394A49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00" t="18945"/>
            <a:stretch>
              <a:fillRect/>
            </a:stretch>
          </p:blipFill>
          <p:spPr>
            <a:xfrm>
              <a:off x="152400" y="789765"/>
              <a:ext cx="9695228" cy="2042611"/>
            </a:xfrm>
            <a:prstGeom prst="rect">
              <a:avLst/>
            </a:prstGeom>
          </p:spPr>
        </p:pic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5C6519C-ADEA-421D-3936-E9679EC0334A}"/>
                </a:ext>
              </a:extLst>
            </p:cNvPr>
            <p:cNvGrpSpPr/>
            <p:nvPr/>
          </p:nvGrpSpPr>
          <p:grpSpPr>
            <a:xfrm>
              <a:off x="2091932" y="2750710"/>
              <a:ext cx="1464033" cy="3805568"/>
              <a:chOff x="2091932" y="2823862"/>
              <a:chExt cx="1464033" cy="3805568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E7DD25-2553-8093-FE88-1DF1982B1D1D}"/>
                  </a:ext>
                </a:extLst>
              </p:cNvPr>
              <p:cNvSpPr txBox="1"/>
              <p:nvPr/>
            </p:nvSpPr>
            <p:spPr>
              <a:xfrm>
                <a:off x="2556528" y="2823862"/>
                <a:ext cx="534840" cy="334271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FF0000"/>
                    </a:solidFill>
                  </a:rPr>
                  <a:t>06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월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12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일</a:t>
                </a:r>
              </a:p>
            </p:txBody>
          </p:sp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8555E814-0068-EBE5-54DB-CEAF9584E4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8" t="4489" b="6067"/>
              <a:stretch>
                <a:fillRect/>
              </a:stretch>
            </p:blipFill>
            <p:spPr bwMode="auto">
              <a:xfrm>
                <a:off x="2091932" y="3120033"/>
                <a:ext cx="1464033" cy="35093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3BFF024-EBE7-8688-B5CC-77C0F3040B1A}"/>
                </a:ext>
              </a:extLst>
            </p:cNvPr>
            <p:cNvGrpSpPr/>
            <p:nvPr/>
          </p:nvGrpSpPr>
          <p:grpSpPr>
            <a:xfrm>
              <a:off x="4151581" y="2750710"/>
              <a:ext cx="1514926" cy="3718380"/>
              <a:chOff x="4151581" y="2823862"/>
              <a:chExt cx="1514926" cy="3718380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EA6A731-26F2-AF99-801C-739EB4E8C153}"/>
                  </a:ext>
                </a:extLst>
              </p:cNvPr>
              <p:cNvSpPr txBox="1"/>
              <p:nvPr/>
            </p:nvSpPr>
            <p:spPr>
              <a:xfrm>
                <a:off x="4641624" y="2823862"/>
                <a:ext cx="534840" cy="334271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FF0000"/>
                    </a:solidFill>
                  </a:rPr>
                  <a:t>06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월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11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일</a:t>
                </a:r>
              </a:p>
            </p:txBody>
          </p:sp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38144117-A78F-8C02-FB81-57BF292C2F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85" t="5045" r="1743" b="7733"/>
              <a:stretch>
                <a:fillRect/>
              </a:stretch>
            </p:blipFill>
            <p:spPr bwMode="auto">
              <a:xfrm>
                <a:off x="4151581" y="3120034"/>
                <a:ext cx="1514926" cy="3422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F01F9E4-295A-7E35-07F3-7C8569024C37}"/>
                </a:ext>
              </a:extLst>
            </p:cNvPr>
            <p:cNvGrpSpPr/>
            <p:nvPr/>
          </p:nvGrpSpPr>
          <p:grpSpPr>
            <a:xfrm>
              <a:off x="152400" y="2750710"/>
              <a:ext cx="1343916" cy="3808982"/>
              <a:chOff x="152400" y="2823862"/>
              <a:chExt cx="1343916" cy="3808982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FF7FEA-A381-15A4-4B0C-C7B6527B1E07}"/>
                  </a:ext>
                </a:extLst>
              </p:cNvPr>
              <p:cNvSpPr txBox="1"/>
              <p:nvPr/>
            </p:nvSpPr>
            <p:spPr>
              <a:xfrm>
                <a:off x="556938" y="2823862"/>
                <a:ext cx="534840" cy="334271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FF0000"/>
                    </a:solidFill>
                  </a:rPr>
                  <a:t>06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월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13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일</a:t>
                </a:r>
              </a:p>
            </p:txBody>
          </p:sp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38B5A944-1461-D098-5F48-567488595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4286" t="4450" b="5284"/>
              <a:stretch>
                <a:fillRect/>
              </a:stretch>
            </p:blipFill>
            <p:spPr>
              <a:xfrm>
                <a:off x="152400" y="3091188"/>
                <a:ext cx="1343916" cy="3541656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494ED14-F500-0DF9-76DF-04C9BFA3DFCF}"/>
                </a:ext>
              </a:extLst>
            </p:cNvPr>
            <p:cNvGrpSpPr/>
            <p:nvPr/>
          </p:nvGrpSpPr>
          <p:grpSpPr>
            <a:xfrm>
              <a:off x="6262123" y="2750710"/>
              <a:ext cx="1518559" cy="3754708"/>
              <a:chOff x="6262123" y="2823862"/>
              <a:chExt cx="1518559" cy="3754708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C0B1E0C-A02D-F9FA-2182-03DFE27A7162}"/>
                  </a:ext>
                </a:extLst>
              </p:cNvPr>
              <p:cNvSpPr txBox="1"/>
              <p:nvPr/>
            </p:nvSpPr>
            <p:spPr>
              <a:xfrm>
                <a:off x="6753982" y="2823862"/>
                <a:ext cx="534840" cy="334271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FF0000"/>
                    </a:solidFill>
                  </a:rPr>
                  <a:t>06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월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10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일</a:t>
                </a:r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368D1E7-8BB5-CFD1-26B8-E342CFCEFD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095" t="5371" r="2397" b="6482"/>
              <a:stretch>
                <a:fillRect/>
              </a:stretch>
            </p:blipFill>
            <p:spPr>
              <a:xfrm>
                <a:off x="6262123" y="3120033"/>
                <a:ext cx="1518559" cy="3458537"/>
              </a:xfrm>
              <a:prstGeom prst="rect">
                <a:avLst/>
              </a:prstGeom>
            </p:spPr>
          </p:pic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3E82A44-0925-AC1F-D26E-9E45F066D942}"/>
                </a:ext>
              </a:extLst>
            </p:cNvPr>
            <p:cNvGrpSpPr/>
            <p:nvPr/>
          </p:nvGrpSpPr>
          <p:grpSpPr>
            <a:xfrm>
              <a:off x="8376296" y="2750710"/>
              <a:ext cx="1471332" cy="3780138"/>
              <a:chOff x="8376296" y="2823862"/>
              <a:chExt cx="1471332" cy="3780138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6786F9-5F91-3CC9-AB2A-3B532CFB2FCE}"/>
                  </a:ext>
                </a:extLst>
              </p:cNvPr>
              <p:cNvSpPr txBox="1"/>
              <p:nvPr/>
            </p:nvSpPr>
            <p:spPr>
              <a:xfrm>
                <a:off x="8844542" y="2823862"/>
                <a:ext cx="534840" cy="334271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 anchor="ctr" anchorCtr="0">
                <a:noAutofit/>
              </a:bodyPr>
              <a:lstStyle/>
              <a:p>
                <a:pPr algn="ctr"/>
                <a:r>
                  <a:rPr lang="en-US" altLang="ko-KR" sz="1200" b="1" dirty="0">
                    <a:solidFill>
                      <a:srgbClr val="FF0000"/>
                    </a:solidFill>
                  </a:rPr>
                  <a:t>06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월</a:t>
                </a:r>
                <a:r>
                  <a:rPr lang="en-US" altLang="ko-KR" sz="1200" b="1" dirty="0">
                    <a:solidFill>
                      <a:srgbClr val="FF0000"/>
                    </a:solidFill>
                  </a:rPr>
                  <a:t>09</a:t>
                </a:r>
                <a:r>
                  <a:rPr lang="ko-KR" altLang="en-US" sz="1200" b="1" dirty="0">
                    <a:solidFill>
                      <a:srgbClr val="FF0000"/>
                    </a:solidFill>
                  </a:rPr>
                  <a:t>일</a:t>
                </a:r>
              </a:p>
            </p:txBody>
          </p:sp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3AAA8A89-71EE-4722-0948-153EB6C1FA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724" t="5060" r="1903" b="6144"/>
              <a:stretch>
                <a:fillRect/>
              </a:stretch>
            </p:blipFill>
            <p:spPr>
              <a:xfrm>
                <a:off x="8376296" y="3120033"/>
                <a:ext cx="1471332" cy="348396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000471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124E2F-58CD-2296-8273-88BAFDBA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9"/>
          <a:stretch>
            <a:fillRect/>
          </a:stretch>
        </p:blipFill>
        <p:spPr>
          <a:xfrm>
            <a:off x="58065" y="1276097"/>
            <a:ext cx="9787991" cy="4517552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7AA30B8-BCF6-CF50-905F-574C8F385A56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F099DE25-5BFA-9C59-44DC-15848F8C0CA3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[</a:t>
            </a:r>
            <a:r>
              <a:rPr lang="ko-KR" altLang="en-US" dirty="0">
                <a:solidFill>
                  <a:srgbClr val="6B6B6B"/>
                </a:solidFill>
              </a:rPr>
              <a:t>별첨</a:t>
            </a:r>
            <a:r>
              <a:rPr lang="en-US" altLang="ko-KR" dirty="0">
                <a:solidFill>
                  <a:srgbClr val="6B6B6B"/>
                </a:solidFill>
              </a:rPr>
              <a:t>] </a:t>
            </a:r>
            <a:r>
              <a:rPr lang="ko-KR" altLang="en-US" dirty="0">
                <a:solidFill>
                  <a:srgbClr val="6B6B6B"/>
                </a:solidFill>
              </a:rPr>
              <a:t>중대위험작업 관리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C715DF-28FE-AC95-6597-F8204CBB671F}"/>
              </a:ext>
            </a:extLst>
          </p:cNvPr>
          <p:cNvSpPr/>
          <p:nvPr/>
        </p:nvSpPr>
        <p:spPr>
          <a:xfrm>
            <a:off x="8147304" y="1700784"/>
            <a:ext cx="1698752" cy="4122329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6815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C7A4C2-F137-DD32-191F-665F8642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0" y="794335"/>
            <a:ext cx="8472552" cy="5816214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918D47-C5B7-B2AA-9F35-2B464F26A4A5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itle 5">
            <a:extLst>
              <a:ext uri="{FF2B5EF4-FFF2-40B4-BE49-F238E27FC236}">
                <a16:creationId xmlns:a16="http://schemas.microsoft.com/office/drawing/2014/main" id="{C82047DF-57EA-A30E-0E16-BEEB9ED92EFE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Hold Point </a:t>
            </a:r>
            <a:r>
              <a:rPr lang="ko-KR" altLang="en-US" dirty="0">
                <a:solidFill>
                  <a:srgbClr val="6B6B6B"/>
                </a:solidFill>
              </a:rPr>
              <a:t>촬영</a:t>
            </a:r>
            <a:r>
              <a:rPr lang="en-US" altLang="ko-KR" dirty="0">
                <a:solidFill>
                  <a:srgbClr val="6B6B6B"/>
                </a:solidFill>
              </a:rPr>
              <a:t>/</a:t>
            </a:r>
            <a:r>
              <a:rPr lang="ko-KR" altLang="en-US" dirty="0">
                <a:solidFill>
                  <a:srgbClr val="6B6B6B"/>
                </a:solidFill>
              </a:rPr>
              <a:t>승인 결과보고서 가이드 </a:t>
            </a:r>
            <a:r>
              <a:rPr lang="en-US" altLang="ko-KR" dirty="0">
                <a:solidFill>
                  <a:srgbClr val="6B6B6B"/>
                </a:solidFill>
              </a:rPr>
              <a:t>_ </a:t>
            </a:r>
            <a:r>
              <a:rPr lang="ko-KR" altLang="en-US" dirty="0">
                <a:solidFill>
                  <a:srgbClr val="6B6B6B"/>
                </a:solidFill>
              </a:rPr>
              <a:t>접수</a:t>
            </a:r>
          </a:p>
        </p:txBody>
      </p:sp>
    </p:spTree>
    <p:extLst>
      <p:ext uri="{BB962C8B-B14F-4D97-AF65-F5344CB8AC3E}">
        <p14:creationId xmlns:p14="http://schemas.microsoft.com/office/powerpoint/2010/main" val="36304714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A4_PowerPoint_[FundName]">
  <a:themeElements>
    <a:clrScheme name="S&amp;I Corp">
      <a:dk1>
        <a:srgbClr val="333333"/>
      </a:dk1>
      <a:lt1>
        <a:srgbClr val="FFFFFF"/>
      </a:lt1>
      <a:dk2>
        <a:srgbClr val="828386"/>
      </a:dk2>
      <a:lt2>
        <a:srgbClr val="FFFFFF"/>
      </a:lt2>
      <a:accent1>
        <a:srgbClr val="A50034"/>
      </a:accent1>
      <a:accent2>
        <a:srgbClr val="6B6B6B"/>
      </a:accent2>
      <a:accent3>
        <a:srgbClr val="00558A"/>
      </a:accent3>
      <a:accent4>
        <a:srgbClr val="00A1E0"/>
      </a:accent4>
      <a:accent5>
        <a:srgbClr val="C7EAF8"/>
      </a:accent5>
      <a:accent6>
        <a:srgbClr val="6CC263"/>
      </a:accent6>
      <a:hlink>
        <a:srgbClr val="5E6162"/>
      </a:hlink>
      <a:folHlink>
        <a:srgbClr val="333333"/>
      </a:folHlink>
    </a:clrScheme>
    <a:fontScheme name="MACCAP Globa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36000" tIns="36000" rIns="36000" bIns="36000" rtlCol="0" anchor="ctr" anchorCtr="0"/>
      <a:lstStyle>
        <a:defPPr algn="ctr">
          <a:defRPr sz="10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A7A8A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 anchor="ctr" anchorCtr="0">
        <a:noAutofit/>
      </a:bodyPr>
      <a:lstStyle>
        <a:defPPr algn="ctr"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IRA Investor Day - Template" id="{83887C40-9CEE-4630-AFFA-262A2EFB0519}" vid="{A9F8C8E2-F07C-4518-9053-4D89C61A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675213EF229F4C80FC45D14635B83A" ma:contentTypeVersion="15" ma:contentTypeDescription="Create a new document." ma:contentTypeScope="" ma:versionID="05493aa4f2cb082d30a0b052c1930da1">
  <xsd:schema xmlns:xsd="http://www.w3.org/2001/XMLSchema" xmlns:xs="http://www.w3.org/2001/XMLSchema" xmlns:p="http://schemas.microsoft.com/office/2006/metadata/properties" xmlns:ns2="ea5f19c6-7b24-4930-932e-be82ba028a48" xmlns:ns3="c03670f4-d9db-4a83-ac1f-ac79c702c974" xmlns:ns4="3b0738c1-0000-4a3e-a11a-0f14df93f9bd" targetNamespace="http://schemas.microsoft.com/office/2006/metadata/properties" ma:root="true" ma:fieldsID="20831cf0903f32cb203431c568c0fbfb" ns2:_="" ns3:_="" ns4:_="">
    <xsd:import namespace="ea5f19c6-7b24-4930-932e-be82ba028a48"/>
    <xsd:import namespace="c03670f4-d9db-4a83-ac1f-ac79c702c974"/>
    <xsd:import namespace="3b0738c1-0000-4a3e-a11a-0f14df93f9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TaxKeywordTaxHTField" minOccurs="0"/>
                <xsd:element ref="ns4:TaxCatchAll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f19c6-7b24-4930-932e-be82ba028a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3670f4-d9db-4a83-ac1f-ac79c702c974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2" nillable="true" ma:taxonomy="true" ma:internalName="TaxKeywordTaxHTField" ma:taxonomyFieldName="TaxKeyword" ma:displayName="Enterprise Keywords" ma:fieldId="{23f27201-bee3-471e-b2e7-b64fd8b7ca38}" ma:taxonomyMulti="true" ma:sspId="611d4f9b-f87b-4141-8e07-e8898016638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6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738c1-0000-4a3e-a11a-0f14df93f9b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description="" ma:hidden="true" ma:list="{27a36ab0-1cf4-4866-bace-ba3f70802e29}" ma:internalName="TaxCatchAll" ma:showField="CatchAllData" ma:web="c03670f4-d9db-4a83-ac1f-ac79c702c9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c03670f4-d9db-4a83-ac1f-ac79c702c974">
      <Terms xmlns="http://schemas.microsoft.com/office/infopath/2007/PartnerControls"/>
    </TaxKeywordTaxHTField>
    <TaxCatchAll xmlns="3b0738c1-0000-4a3e-a11a-0f14df93f9b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E19924-842E-4BD9-96E5-C4D2FF0EA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f19c6-7b24-4930-932e-be82ba028a48"/>
    <ds:schemaRef ds:uri="c03670f4-d9db-4a83-ac1f-ac79c702c974"/>
    <ds:schemaRef ds:uri="3b0738c1-0000-4a3e-a11a-0f14df93f9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347F31-AD86-4BAB-81AC-586F2105F0D9}">
  <ds:schemaRefs>
    <ds:schemaRef ds:uri="http://purl.org/dc/dcmitype/"/>
    <ds:schemaRef ds:uri="http://purl.org/dc/terms/"/>
    <ds:schemaRef ds:uri="ea5f19c6-7b24-4930-932e-be82ba028a48"/>
    <ds:schemaRef ds:uri="c03670f4-d9db-4a83-ac1f-ac79c702c9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b0738c1-0000-4a3e-a11a-0f14df93f9bd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05214BB-B657-4D20-8E76-67E01D00E9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A4_GasPipes_Vertical</Template>
  <TotalTime>33168</TotalTime>
  <Words>49</Words>
  <Application>Microsoft Office PowerPoint</Application>
  <PresentationFormat>A4 용지(210x297mm)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HelveticaNeue LT 45 Lt</vt:lpstr>
      <vt:lpstr>Arial</vt:lpstr>
      <vt:lpstr>Arial Narrow</vt:lpstr>
      <vt:lpstr>Calibri</vt:lpstr>
      <vt:lpstr>Wingdings</vt:lpstr>
      <vt:lpstr>1_A4_PowerPoint_[FundName]</vt:lpstr>
      <vt:lpstr>PowerPoint 프레젠테이션</vt:lpstr>
      <vt:lpstr>PowerPoint 프레젠테이션</vt:lpstr>
      <vt:lpstr>PowerPoint 프레젠테이션</vt:lpstr>
    </vt:vector>
  </TitlesOfParts>
  <Company>Copal Amba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Serena Sun (MIRA)</dc:creator>
  <cp:lastModifiedBy>종근 이</cp:lastModifiedBy>
  <cp:revision>2035</cp:revision>
  <cp:lastPrinted>2022-06-07T23:45:19Z</cp:lastPrinted>
  <dcterms:created xsi:type="dcterms:W3CDTF">2018-11-14T02:21:53Z</dcterms:created>
  <dcterms:modified xsi:type="dcterms:W3CDTF">2025-07-18T02:35:08Z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0x01010066675213EF229F4C80FC45D14635B83A</vt:lpwstr>
  </property>
  <property fmtid="{D5CDD505-2E9C-101B-9397-08002B2CF9AE}" pid="3" name="TaxKeyword">
    <vt:lpwstr/>
  </property>
  <property fmtid="{D5CDD505-2E9C-101B-9397-08002B2CF9AE}" pid="4" name="Test2">
    <vt:lpwstr/>
  </property>
  <property fmtid="{D5CDD505-2E9C-101B-9397-08002B2CF9AE}" pid="5" name="MSIP_Label_bff60613-a741-4790-ba46-c6813ca61c58_Enabled">
    <vt:lpwstr>true</vt:lpwstr>
  </property>
  <property fmtid="{D5CDD505-2E9C-101B-9397-08002B2CF9AE}" pid="6" name="MSIP_Label_bff60613-a741-4790-ba46-c6813ca61c58_SetDate">
    <vt:lpwstr>2021-09-28T04:30:54Z</vt:lpwstr>
  </property>
  <property fmtid="{D5CDD505-2E9C-101B-9397-08002B2CF9AE}" pid="7" name="MSIP_Label_bff60613-a741-4790-ba46-c6813ca61c58_Method">
    <vt:lpwstr>Standard</vt:lpwstr>
  </property>
  <property fmtid="{D5CDD505-2E9C-101B-9397-08002B2CF9AE}" pid="8" name="MSIP_Label_bff60613-a741-4790-ba46-c6813ca61c58_Name">
    <vt:lpwstr>Confidential</vt:lpwstr>
  </property>
  <property fmtid="{D5CDD505-2E9C-101B-9397-08002B2CF9AE}" pid="9" name="MSIP_Label_bff60613-a741-4790-ba46-c6813ca61c58_SiteId">
    <vt:lpwstr>568a5434-7d3f-4714-b824-fe722e2748c0</vt:lpwstr>
  </property>
  <property fmtid="{D5CDD505-2E9C-101B-9397-08002B2CF9AE}" pid="10" name="MSIP_Label_bff60613-a741-4790-ba46-c6813ca61c58_ActionId">
    <vt:lpwstr>92fff813-c4fa-4ef2-a8ab-1d8738cd4435</vt:lpwstr>
  </property>
  <property fmtid="{D5CDD505-2E9C-101B-9397-08002B2CF9AE}" pid="11" name="MSIP_Label_bff60613-a741-4790-ba46-c6813ca61c58_ContentBits">
    <vt:lpwstr>0</vt:lpwstr>
  </property>
  <property fmtid="{D5CDD505-2E9C-101B-9397-08002B2CF9AE}" pid="12" name="TaxKeywordTaxHTField">
    <vt:lpwstr/>
  </property>
  <property fmtid="{D5CDD505-2E9C-101B-9397-08002B2CF9AE}" pid="13" name="TaxCatchAll">
    <vt:lpwstr/>
  </property>
</Properties>
</file>