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" r:id="rId2"/>
    <p:sldId id="275" r:id="rId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9" userDrawn="1">
          <p15:clr>
            <a:srgbClr val="A4A3A4"/>
          </p15:clr>
        </p15:guide>
        <p15:guide id="3" orient="horz" pos="1706">
          <p15:clr>
            <a:srgbClr val="A4A3A4"/>
          </p15:clr>
        </p15:guide>
        <p15:guide id="4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99" autoAdjust="0"/>
    <p:restoredTop sz="94660" autoAdjust="0"/>
  </p:normalViewPr>
  <p:slideViewPr>
    <p:cSldViewPr showGuides="1">
      <p:cViewPr varScale="1">
        <p:scale>
          <a:sx n="111" d="100"/>
          <a:sy n="111" d="100"/>
        </p:scale>
        <p:origin x="1914" y="114"/>
      </p:cViewPr>
      <p:guideLst>
        <p:guide orient="horz" pos="3339"/>
        <p:guide orient="horz" pos="17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F147C50-B012-4247-A61F-B7316BF2BFC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30539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72D97-4539-4DCC-8CEE-144ACF03C2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56BE1-2CAA-40EF-B71A-3287D86857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B59B4-716B-46A9-8201-5468C1785D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E7912-FB56-441B-8B87-78ED946D75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838D1-AC5B-4B25-B576-49208D423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B6A093-DA79-478B-949F-225C25022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881DA-728E-4074-9A7D-ABDAB8A543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5AF5F-7A4A-40AA-B461-405EC5604E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91A80-52FA-4CF9-AE71-47EC998F27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BAC06-D2EC-47CE-BAA2-E454E4B9E1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57E7B-D4F6-4786-A9EB-E0A5FA82F5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B85EFC6-5205-4214-B56C-71C68C00FC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86641"/>
              </p:ext>
            </p:extLst>
          </p:nvPr>
        </p:nvGraphicFramePr>
        <p:xfrm>
          <a:off x="128464" y="692696"/>
          <a:ext cx="9562271" cy="33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076000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108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③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(4m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이상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前</a:t>
                      </a:r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추락사고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예방을 위한 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안전벨트 </a:t>
                      </a:r>
                      <a:r>
                        <a:rPr lang="ko-KR" altLang="en-US" sz="1200" b="1" u="none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걸이시설</a:t>
                      </a:r>
                      <a:r>
                        <a:rPr lang="ko-KR" altLang="en-US" sz="1200" b="1" u="none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설치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여부 확인</a:t>
                      </a:r>
                      <a:b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200" b="0" u="none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주변에 안전벨트 고리를 체결할 수 있는 시설물이 있는 경우 해당 시설물에 고리 체결   </a:t>
                      </a: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37527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650499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200" b="0" u="none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892226"/>
                  </a:ext>
                </a:extLst>
              </a:tr>
            </a:tbl>
          </a:graphicData>
        </a:graphic>
      </p:graphicFrame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705" y="1412776"/>
            <a:ext cx="942757" cy="65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66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0" y="548705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28464" y="116632"/>
            <a:ext cx="3383930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  <a:buSzPct val="80000"/>
            </a:pPr>
            <a:r>
              <a:rPr lang="ko-KR" altLang="en-US" sz="15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■ 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중대 </a:t>
            </a:r>
            <a:r>
              <a:rPr lang="ko-KR" altLang="en-US" sz="1500" b="1" dirty="0" err="1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위험작업</a:t>
            </a:r>
            <a:r>
              <a:rPr lang="ko-KR" altLang="en-US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500" b="1" dirty="0">
                <a:solidFill>
                  <a:srgbClr val="00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Hold Point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96C25F5-CD8C-40C4-92CB-61C675008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201214"/>
              </p:ext>
            </p:extLst>
          </p:nvPr>
        </p:nvGraphicFramePr>
        <p:xfrm>
          <a:off x="128464" y="692696"/>
          <a:ext cx="9562271" cy="468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1615445241"/>
                    </a:ext>
                  </a:extLst>
                </a:gridCol>
                <a:gridCol w="1188176">
                  <a:extLst>
                    <a:ext uri="{9D8B030D-6E8A-4147-A177-3AD203B41FA5}">
                      <a16:colId xmlns:a16="http://schemas.microsoft.com/office/drawing/2014/main" val="368657831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10920677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0816427"/>
                    </a:ext>
                  </a:extLst>
                </a:gridCol>
                <a:gridCol w="5219648">
                  <a:extLst>
                    <a:ext uri="{9D8B030D-6E8A-4147-A177-3AD203B41FA5}">
                      <a16:colId xmlns:a16="http://schemas.microsoft.com/office/drawing/2014/main" val="1104094550"/>
                    </a:ext>
                  </a:extLst>
                </a:gridCol>
                <a:gridCol w="1174271">
                  <a:extLst>
                    <a:ext uri="{9D8B030D-6E8A-4147-A177-3AD203B41FA5}">
                      <a16:colId xmlns:a16="http://schemas.microsoft.com/office/drawing/2014/main" val="98890296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No.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중대 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위험작업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확인</a:t>
                      </a:r>
                      <a:r>
                        <a:rPr lang="en-US" altLang="ko-KR" sz="1200" b="1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구분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Hold Point</a:t>
                      </a:r>
                    </a:p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촬영 예시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21949"/>
                  </a:ext>
                </a:extLst>
              </a:tr>
              <a:tr h="242312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④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스카이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고소작업차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前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u="none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작업준비</a:t>
                      </a:r>
                      <a:endParaRPr lang="ko-KR" altLang="en-US" sz="1200" b="0" u="none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차량 주변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아우트리거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설치지점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이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평탄하고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견고한지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확인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4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개의 아우트리거를 최대로 확장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접지판이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모두 지면에 밀착되도록 설치</a:t>
                      </a: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b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작업대의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설치여부 확인 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작업 중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안전난간대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임의 해체 금지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b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b="0" u="none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  <a:sym typeface="Wingdings" panose="05000000000000000000" pitchFamily="2" charset="2"/>
                        </a:rPr>
                        <a:t> 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외부인이 접근하지 못하도록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안전구획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안전테이프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라바콘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0" baseline="0" dirty="0" err="1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걸이대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등 활용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을 설치하고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200" b="1" baseline="0" dirty="0" err="1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통제자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신호수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)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를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배치</a:t>
                      </a: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143591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>
                      <a:lvl1pPr marL="0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1pPr>
                      <a:lvl2pPr marL="31650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2pPr>
                      <a:lvl3pPr marL="633012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3pPr>
                      <a:lvl4pPr marL="949519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4pPr>
                      <a:lvl5pPr marL="1266026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5pPr>
                      <a:lvl6pPr marL="158253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6pPr>
                      <a:lvl7pPr marL="1899038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7pPr>
                      <a:lvl8pPr marL="2215544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8pPr>
                      <a:lvl9pPr marL="2532051" algn="l" defTabSz="633012" rtl="0" eaLnBrk="1" latinLnBrk="1" hangingPunct="1">
                        <a:defRPr sz="1246" kern="1200">
                          <a:solidFill>
                            <a:schemeClr val="dk1"/>
                          </a:solidFill>
                          <a:latin typeface="LG스마트체2.0 Regular"/>
                          <a:ea typeface="LG스마트체2.0 Regular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u="none" baseline="0">
                          <a:solidFill>
                            <a:schemeClr val="tx1"/>
                          </a:solidFill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현장특성반영</a:t>
                      </a:r>
                      <a:endParaRPr lang="en-US" altLang="ko-KR" sz="1200" b="0" u="none" baseline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baseline="0" dirty="0">
                        <a:solidFill>
                          <a:srgbClr val="FF0000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435395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baseline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 Semilight" panose="020B0502040204020203" pitchFamily="50" charset="-127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1787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8" r="16411"/>
          <a:stretch/>
        </p:blipFill>
        <p:spPr>
          <a:xfrm>
            <a:off x="8628133" y="1208249"/>
            <a:ext cx="956759" cy="78739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l="42835" b="32565"/>
          <a:stretch/>
        </p:blipFill>
        <p:spPr>
          <a:xfrm>
            <a:off x="8769424" y="2072876"/>
            <a:ext cx="681342" cy="58320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rcRect r="36045"/>
          <a:stretch/>
        </p:blipFill>
        <p:spPr>
          <a:xfrm>
            <a:off x="8633678" y="2756326"/>
            <a:ext cx="971218" cy="76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0955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3058</TotalTime>
  <Words>143</Words>
  <Application>Microsoft Office PowerPoint</Application>
  <PresentationFormat>A4 용지(210x297mm)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LG스마트체 Regular</vt:lpstr>
      <vt:lpstr>굴림</vt:lpstr>
      <vt:lpstr>맑은 고딕</vt:lpstr>
      <vt:lpstr>맑은 고딕 Semilight</vt:lpstr>
      <vt:lpstr>기본 디자인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종근 이</cp:lastModifiedBy>
  <cp:revision>200</cp:revision>
  <cp:lastPrinted>2022-05-26T02:49:20Z</cp:lastPrinted>
  <dcterms:created xsi:type="dcterms:W3CDTF">2010-10-27T23:29:57Z</dcterms:created>
  <dcterms:modified xsi:type="dcterms:W3CDTF">2025-05-19T00:04:50Z</dcterms:modified>
</cp:coreProperties>
</file>