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381" r:id="rId2"/>
  </p:sldIdLst>
  <p:sldSz cx="9144000" cy="6858000" type="screen4x3"/>
  <p:notesSz cx="7099300" cy="10234613"/>
  <p:embeddedFontLst>
    <p:embeddedFont>
      <p:font typeface="LG스마트체 Regular" panose="020B0600000101010101" pitchFamily="50" charset="-127"/>
      <p:regular r:id="rId5"/>
    </p:embeddedFont>
    <p:embeddedFont>
      <p:font typeface="LG스마트체2.0 Regular" panose="020B0600000101010101" pitchFamily="50" charset="-127"/>
      <p:regular r:id="rId6"/>
    </p:embeddedFont>
    <p:embeddedFont>
      <p:font typeface="맑은 고딕" panose="020B0503020000020004" pitchFamily="50" charset="-127"/>
      <p:regular r:id="rId7"/>
      <p:bold r:id="rId8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4186">
          <p15:clr>
            <a:srgbClr val="A4A3A4"/>
          </p15:clr>
        </p15:guide>
        <p15:guide id="3" pos="2880">
          <p15:clr>
            <a:srgbClr val="A4A3A4"/>
          </p15:clr>
        </p15:guide>
        <p15:guide id="4" orient="horz" pos="4319">
          <p15:clr>
            <a:srgbClr val="A4A3A4"/>
          </p15:clr>
        </p15:guide>
        <p15:guide id="5" pos="5759">
          <p15:clr>
            <a:srgbClr val="A4A3A4"/>
          </p15:clr>
        </p15:guide>
        <p15:guide id="6" pos="5647">
          <p15:clr>
            <a:srgbClr val="A4A3A4"/>
          </p15:clr>
        </p15:guide>
        <p15:guide id="7" orient="horz" pos="346">
          <p15:clr>
            <a:srgbClr val="A4A3A4"/>
          </p15:clr>
        </p15:guide>
        <p15:guide id="8" orient="horz" pos="4201">
          <p15:clr>
            <a:srgbClr val="A4A3A4"/>
          </p15:clr>
        </p15:guide>
        <p15:guide id="9" orient="horz" pos="527">
          <p15:clr>
            <a:srgbClr val="A4A3A4"/>
          </p15:clr>
        </p15:guide>
        <p15:guide id="10" pos="113">
          <p15:clr>
            <a:srgbClr val="A4A3A4"/>
          </p15:clr>
        </p15:guide>
        <p15:guide id="11" orient="horz" pos="391">
          <p15:clr>
            <a:srgbClr val="A4A3A4"/>
          </p15:clr>
        </p15:guide>
        <p15:guide id="12" orient="horz" pos="4247">
          <p15:clr>
            <a:srgbClr val="A4A3A4"/>
          </p15:clr>
        </p15:guide>
        <p15:guide id="13" orient="horz" pos="572">
          <p15:clr>
            <a:srgbClr val="A4A3A4"/>
          </p15:clr>
        </p15:guide>
        <p15:guide id="14" pos="5057">
          <p15:clr>
            <a:srgbClr val="A4A3A4"/>
          </p15:clr>
        </p15:guide>
        <p15:guide id="15" pos="5692">
          <p15:clr>
            <a:srgbClr val="A4A3A4"/>
          </p15:clr>
        </p15:guide>
        <p15:guide id="16" pos="5375">
          <p15:clr>
            <a:srgbClr val="A4A3A4"/>
          </p15:clr>
        </p15:guide>
        <p15:guide id="17" pos="385">
          <p15:clr>
            <a:srgbClr val="A4A3A4"/>
          </p15:clr>
        </p15:guide>
        <p15:guide id="18" pos="256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이종근/dandi/서브원" initials="이" lastIdx="1" clrIdx="0">
    <p:extLst>
      <p:ext uri="{19B8F6BF-5375-455C-9EA6-DF929625EA0E}">
        <p15:presenceInfo xmlns:p15="http://schemas.microsoft.com/office/powerpoint/2012/main" userId="S-1-5-21-2119971784-3125889115-3444914974-8433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99"/>
    <a:srgbClr val="B6DF89"/>
    <a:srgbClr val="00FFCC"/>
    <a:srgbClr val="00FFFF"/>
    <a:srgbClr val="009999"/>
    <a:srgbClr val="57E040"/>
    <a:srgbClr val="FFFF00"/>
    <a:srgbClr val="FF00FF"/>
    <a:srgbClr val="00FF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보통 스타일 4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68" autoAdjust="0"/>
    <p:restoredTop sz="96051" autoAdjust="0"/>
  </p:normalViewPr>
  <p:slideViewPr>
    <p:cSldViewPr showGuides="1">
      <p:cViewPr>
        <p:scale>
          <a:sx n="125" d="100"/>
          <a:sy n="125" d="100"/>
        </p:scale>
        <p:origin x="864" y="-342"/>
      </p:cViewPr>
      <p:guideLst>
        <p:guide orient="horz" pos="2160"/>
        <p:guide orient="horz" pos="4186"/>
        <p:guide pos="2880"/>
        <p:guide orient="horz" pos="4319"/>
        <p:guide pos="5759"/>
        <p:guide pos="5647"/>
        <p:guide orient="horz" pos="346"/>
        <p:guide orient="horz" pos="4201"/>
        <p:guide orient="horz" pos="527"/>
        <p:guide pos="113"/>
        <p:guide orient="horz" pos="391"/>
        <p:guide orient="horz" pos="4247"/>
        <p:guide orient="horz" pos="572"/>
        <p:guide pos="5057"/>
        <p:guide pos="5692"/>
        <p:guide pos="5375"/>
        <p:guide pos="385"/>
        <p:guide pos="256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00" d="100"/>
        <a:sy n="3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3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viewProps" Target="viewProps.xml"/><Relationship Id="rId5" Type="http://schemas.openxmlformats.org/officeDocument/2006/relationships/font" Target="fonts/font1.fntdata"/><Relationship Id="rId10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143" cy="513284"/>
          </a:xfrm>
          <a:prstGeom prst="rect">
            <a:avLst/>
          </a:prstGeom>
        </p:spPr>
        <p:txBody>
          <a:bodyPr vert="horz" lIns="94630" tIns="47315" rIns="94630" bIns="47315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1503" y="0"/>
            <a:ext cx="3076143" cy="513284"/>
          </a:xfrm>
          <a:prstGeom prst="rect">
            <a:avLst/>
          </a:prstGeom>
        </p:spPr>
        <p:txBody>
          <a:bodyPr vert="horz" lIns="94630" tIns="47315" rIns="94630" bIns="47315" rtlCol="0"/>
          <a:lstStyle>
            <a:lvl1pPr algn="r">
              <a:defRPr sz="1200"/>
            </a:lvl1pPr>
          </a:lstStyle>
          <a:p>
            <a:fld id="{A0F62228-CAE5-4101-9F37-8A3363A75659}" type="datetimeFigureOut">
              <a:rPr lang="ko-KR" altLang="en-US" smtClean="0"/>
              <a:pPr/>
              <a:t>2025-01-09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721331"/>
            <a:ext cx="3076143" cy="513284"/>
          </a:xfrm>
          <a:prstGeom prst="rect">
            <a:avLst/>
          </a:prstGeom>
        </p:spPr>
        <p:txBody>
          <a:bodyPr vert="horz" lIns="94630" tIns="47315" rIns="94630" bIns="47315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1503" y="9721331"/>
            <a:ext cx="3076143" cy="513284"/>
          </a:xfrm>
          <a:prstGeom prst="rect">
            <a:avLst/>
          </a:prstGeom>
        </p:spPr>
        <p:txBody>
          <a:bodyPr vert="horz" lIns="94630" tIns="47315" rIns="94630" bIns="47315" rtlCol="0" anchor="b"/>
          <a:lstStyle>
            <a:lvl1pPr algn="r">
              <a:defRPr sz="1200"/>
            </a:lvl1pPr>
          </a:lstStyle>
          <a:p>
            <a:fld id="{89E49348-0B67-4D72-AB33-11F30245CC8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54539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143" cy="511649"/>
          </a:xfrm>
          <a:prstGeom prst="rect">
            <a:avLst/>
          </a:prstGeom>
        </p:spPr>
        <p:txBody>
          <a:bodyPr vert="horz" lIns="94630" tIns="47315" rIns="94630" bIns="47315" rtlCol="0"/>
          <a:lstStyle>
            <a:lvl1pPr algn="l">
              <a:defRPr sz="1200" dirty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1503" y="0"/>
            <a:ext cx="3076143" cy="511649"/>
          </a:xfrm>
          <a:prstGeom prst="rect">
            <a:avLst/>
          </a:prstGeom>
        </p:spPr>
        <p:txBody>
          <a:bodyPr vert="horz" lIns="94630" tIns="47315" rIns="94630" bIns="47315" rtlCol="0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F6DF022C-E1F5-4BB1-A34B-FAEFC5AE6399}" type="datetimeFigureOut">
              <a:rPr lang="ko-KR" altLang="en-US"/>
              <a:pPr>
                <a:defRPr/>
              </a:pPr>
              <a:t>2025-01-09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0" tIns="47315" rIns="94630" bIns="47315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263" y="4861483"/>
            <a:ext cx="5678778" cy="4604841"/>
          </a:xfrm>
          <a:prstGeom prst="rect">
            <a:avLst/>
          </a:prstGeom>
        </p:spPr>
        <p:txBody>
          <a:bodyPr vert="horz" lIns="94630" tIns="47315" rIns="94630" bIns="47315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1330"/>
            <a:ext cx="3076143" cy="511648"/>
          </a:xfrm>
          <a:prstGeom prst="rect">
            <a:avLst/>
          </a:prstGeom>
        </p:spPr>
        <p:txBody>
          <a:bodyPr vert="horz" lIns="94630" tIns="47315" rIns="94630" bIns="47315" rtlCol="0" anchor="b"/>
          <a:lstStyle>
            <a:lvl1pPr algn="l">
              <a:defRPr sz="1200" dirty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1503" y="9721330"/>
            <a:ext cx="3076143" cy="511648"/>
          </a:xfrm>
          <a:prstGeom prst="rect">
            <a:avLst/>
          </a:prstGeom>
        </p:spPr>
        <p:txBody>
          <a:bodyPr vert="horz" lIns="94630" tIns="47315" rIns="94630" bIns="47315" rtlCol="0" anchor="b"/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81B96BF0-D2B1-4964-8B2F-89004441ECA2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85647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55E156-8D46-4336-8812-4AF59D9F4E47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D2F43B-ECCC-4E9B-AF0A-B9B16139EEB2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BAB8E9-60C0-4131-9001-E79280F1392C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555623-A00A-4228-93E4-D2D8C500B58E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FA612D-DFE8-4A66-B995-E02B42280628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53A2F3-A752-41E9-88A8-0C6D28AC5ABE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86E077-098C-4160-B7C9-44423B86BF2F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AA956B-FA34-44F1-82FA-D41B9E80667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2579B1-386A-4972-B368-F5237B25BF6D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A3EEE-905C-48D0-997A-1EBA51F2AA6F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63EEEF-5283-4086-AC8A-FCDFCB60A82B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765468-6B2A-4017-8F13-2C98AFC277E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dirty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dirty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46B4B3F1-E5F3-4A17-BC19-31189CBF9C95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photos.app.goo.gl/6PUGokCe2tFCeRABA" TargetMode="External"/><Relationship Id="rId13" Type="http://schemas.openxmlformats.org/officeDocument/2006/relationships/hyperlink" Target="https://photos.app.goo.gl/bS9GeV1WM3rw7JEU8" TargetMode="External"/><Relationship Id="rId18" Type="http://schemas.openxmlformats.org/officeDocument/2006/relationships/image" Target="../media/image5.png"/><Relationship Id="rId26" Type="http://schemas.openxmlformats.org/officeDocument/2006/relationships/image" Target="../media/image9.png"/><Relationship Id="rId3" Type="http://schemas.openxmlformats.org/officeDocument/2006/relationships/image" Target="../media/image2.png"/><Relationship Id="rId21" Type="http://schemas.openxmlformats.org/officeDocument/2006/relationships/image" Target="../media/image8.png"/><Relationship Id="rId7" Type="http://schemas.openxmlformats.org/officeDocument/2006/relationships/hyperlink" Target="https://photos.app.goo.gl/4vwfsb6pzpBfpuwo8" TargetMode="External"/><Relationship Id="rId12" Type="http://schemas.openxmlformats.org/officeDocument/2006/relationships/hyperlink" Target="https://photos.app.goo.gl/tfyZNBRnF1KTrwXi8" TargetMode="External"/><Relationship Id="rId17" Type="http://schemas.openxmlformats.org/officeDocument/2006/relationships/image" Target="../media/image4.png"/><Relationship Id="rId25" Type="http://schemas.openxmlformats.org/officeDocument/2006/relationships/hyperlink" Target="https://photos.app.goo.gl/AaZxLPAiszcdY1Xf9" TargetMode="External"/><Relationship Id="rId2" Type="http://schemas.openxmlformats.org/officeDocument/2006/relationships/image" Target="../media/image1.png"/><Relationship Id="rId16" Type="http://schemas.openxmlformats.org/officeDocument/2006/relationships/image" Target="../media/image3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photos.app.goo.gl/UK17YHxvsVyzEdwWA" TargetMode="External"/><Relationship Id="rId11" Type="http://schemas.openxmlformats.org/officeDocument/2006/relationships/hyperlink" Target="https://photos.app.goo.gl/UWfRrgig6sVNALVv9" TargetMode="External"/><Relationship Id="rId24" Type="http://schemas.openxmlformats.org/officeDocument/2006/relationships/hyperlink" Target="https://photos.app.goo.gl/ZFa2Jz5VYP8NM7z4A" TargetMode="External"/><Relationship Id="rId5" Type="http://schemas.openxmlformats.org/officeDocument/2006/relationships/hyperlink" Target="https://photos.app.goo.gl/Wy3hNQceFd8YE38dA" TargetMode="External"/><Relationship Id="rId15" Type="http://schemas.openxmlformats.org/officeDocument/2006/relationships/hyperlink" Target="https://photos.app.goo.gl/ejp5BRVE42zu5dX36" TargetMode="External"/><Relationship Id="rId23" Type="http://schemas.openxmlformats.org/officeDocument/2006/relationships/hyperlink" Target="https://photos.app.goo.gl/s8qpnM742TCvnoVe6" TargetMode="External"/><Relationship Id="rId28" Type="http://schemas.openxmlformats.org/officeDocument/2006/relationships/image" Target="../media/image11.png"/><Relationship Id="rId10" Type="http://schemas.openxmlformats.org/officeDocument/2006/relationships/hyperlink" Target="https://photos.app.goo.gl/tAPcZbqkCkKBRpgJ8" TargetMode="External"/><Relationship Id="rId19" Type="http://schemas.openxmlformats.org/officeDocument/2006/relationships/image" Target="../media/image6.png"/><Relationship Id="rId4" Type="http://schemas.openxmlformats.org/officeDocument/2006/relationships/hyperlink" Target="https://photos.app.goo.gl/QkHmdjCSNbcn4dPQ8" TargetMode="External"/><Relationship Id="rId9" Type="http://schemas.openxmlformats.org/officeDocument/2006/relationships/hyperlink" Target="https://photos.app.goo.gl/MdcQu8ZQuDmt2KF38" TargetMode="External"/><Relationship Id="rId14" Type="http://schemas.openxmlformats.org/officeDocument/2006/relationships/hyperlink" Target="https://photos.app.goo.gl/kY9N6bqW8BJHvQyr7" TargetMode="External"/><Relationship Id="rId22" Type="http://schemas.openxmlformats.org/officeDocument/2006/relationships/hyperlink" Target="https://photos.app.goo.gl/uKNbN3bJFjRcd2258" TargetMode="External"/><Relationship Id="rId27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>
            <a:extLst>
              <a:ext uri="{FF2B5EF4-FFF2-40B4-BE49-F238E27FC236}">
                <a16:creationId xmlns:a16="http://schemas.microsoft.com/office/drawing/2014/main" id="{B229572D-A321-C90D-5911-3B0EDF1ED9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7620" y="151519"/>
            <a:ext cx="1298753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2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S&amp;I</a:t>
            </a:r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운영센터 사택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BBBF972E-4A12-A455-DA5B-8D66B7B14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46" y="59186"/>
            <a:ext cx="451117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tabLst>
                <a:tab pos="1257300" algn="l"/>
              </a:tabLst>
            </a:pPr>
            <a:r>
              <a:rPr lang="en-US" altLang="ko-KR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’24</a:t>
            </a:r>
            <a:r>
              <a:rPr lang="ko-KR" altLang="en-US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 </a:t>
            </a:r>
            <a:r>
              <a:rPr lang="ko-KR" altLang="en-US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비품성ㆍ긴급성</a:t>
            </a:r>
            <a:r>
              <a:rPr lang="ko-KR" altLang="en-US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운영 현황 </a:t>
            </a:r>
            <a:r>
              <a:rPr lang="en-US" altLang="ko-KR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 </a:t>
            </a:r>
            <a:r>
              <a:rPr lang="ko-KR" altLang="en-US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기계 </a:t>
            </a:r>
            <a:r>
              <a:rPr lang="en-US" altLang="ko-KR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lang="ko-KR" altLang="en-US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건축 </a:t>
            </a:r>
            <a:r>
              <a:rPr lang="en-US" altLang="ko-KR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en-US" altLang="ko-KR" sz="10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6996756-74B5-F954-5F23-AACD9F4F8DA9}"/>
              </a:ext>
            </a:extLst>
          </p:cNvPr>
          <p:cNvCxnSpPr/>
          <p:nvPr/>
        </p:nvCxnSpPr>
        <p:spPr>
          <a:xfrm>
            <a:off x="0" y="447625"/>
            <a:ext cx="9144000" cy="15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2">
            <a:extLst>
              <a:ext uri="{FF2B5EF4-FFF2-40B4-BE49-F238E27FC236}">
                <a16:creationId xmlns:a16="http://schemas.microsoft.com/office/drawing/2014/main" id="{F7C275DF-B565-7811-5971-695D21021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79" y="408851"/>
            <a:ext cx="7911140" cy="400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tabLst>
                <a:tab pos="1257300" algn="l"/>
              </a:tabLst>
            </a:pPr>
            <a:r>
              <a:rPr lang="ko-KR" altLang="en-US" sz="1500" dirty="0">
                <a:highlight>
                  <a:srgbClr val="FFFF00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◎ 목적</a:t>
            </a:r>
            <a:r>
              <a:rPr lang="ko-KR" altLang="en-US" sz="15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’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23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 상반기 부터 비품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12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소액성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작업요청 증가로 인하여 연간 집행규모 </a:t>
            </a:r>
            <a:r>
              <a:rPr lang="ko-KR" altLang="en-US" sz="12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파악후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작업 개선 필요성 발생 ▶ 원가절감</a:t>
            </a:r>
            <a:endParaRPr lang="en-US" altLang="ko-KR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5" name="Text Box 2">
            <a:extLst>
              <a:ext uri="{FF2B5EF4-FFF2-40B4-BE49-F238E27FC236}">
                <a16:creationId xmlns:a16="http://schemas.microsoft.com/office/drawing/2014/main" id="{0E5AF2DA-D726-8D74-6EBC-F6E075C28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79" y="788753"/>
            <a:ext cx="8808869" cy="400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1257300" algn="l"/>
              </a:tabLst>
            </a:pPr>
            <a:r>
              <a:rPr lang="ko-KR" altLang="en-US" sz="1500" dirty="0">
                <a:highlight>
                  <a:srgbClr val="FFFF00"/>
                </a:highlight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◎ 개요</a:t>
            </a:r>
            <a:r>
              <a:rPr lang="ko-KR" altLang="en-US" sz="15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2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각사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협의후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’23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 하반기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기계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→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’24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기계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건축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순차적으로  실비 정산 방식 채택 ▶ 연간 규모 산출 파악 가능 </a:t>
            </a:r>
            <a:endParaRPr lang="en-US" altLang="ko-KR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0115046D-8CA5-7A29-C80C-CA10ED9E21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5331" y="6487048"/>
            <a:ext cx="1560819" cy="339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tabLst>
                <a:tab pos="1257300" algn="l"/>
              </a:tabLst>
            </a:pPr>
            <a:r>
              <a:rPr lang="ko-KR" altLang="en-US" sz="12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운영 </a:t>
            </a:r>
            <a:r>
              <a:rPr lang="ko-KR" altLang="en-US" sz="1200" b="1" dirty="0" err="1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공통비</a:t>
            </a:r>
            <a:r>
              <a:rPr lang="ko-KR" altLang="en-US" sz="12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2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2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관리소</a:t>
            </a:r>
            <a:r>
              <a:rPr lang="en-US" altLang="ko-KR" sz="1200" b="1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</p:txBody>
      </p:sp>
      <p:grpSp>
        <p:nvGrpSpPr>
          <p:cNvPr id="1026" name="그룹 1025">
            <a:extLst>
              <a:ext uri="{FF2B5EF4-FFF2-40B4-BE49-F238E27FC236}">
                <a16:creationId xmlns:a16="http://schemas.microsoft.com/office/drawing/2014/main" id="{F9C5ADE3-6A13-CDFD-40D4-C29B14288410}"/>
              </a:ext>
            </a:extLst>
          </p:cNvPr>
          <p:cNvGrpSpPr/>
          <p:nvPr/>
        </p:nvGrpSpPr>
        <p:grpSpPr>
          <a:xfrm>
            <a:off x="234504" y="1313430"/>
            <a:ext cx="8943703" cy="5376629"/>
            <a:chOff x="263079" y="1313430"/>
            <a:chExt cx="8943703" cy="5376629"/>
          </a:xfrm>
        </p:grpSpPr>
        <p:pic>
          <p:nvPicPr>
            <p:cNvPr id="1048" name="Picture 24">
              <a:extLst>
                <a:ext uri="{FF2B5EF4-FFF2-40B4-BE49-F238E27FC236}">
                  <a16:creationId xmlns:a16="http://schemas.microsoft.com/office/drawing/2014/main" id="{3AA1114A-CCEE-FFCD-9310-EDF50A2D56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294" y="1552764"/>
              <a:ext cx="1821084" cy="16757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원호 22">
              <a:extLst>
                <a:ext uri="{FF2B5EF4-FFF2-40B4-BE49-F238E27FC236}">
                  <a16:creationId xmlns:a16="http://schemas.microsoft.com/office/drawing/2014/main" id="{ADE26CAC-891A-D108-2F6E-360592DDE3D8}"/>
                </a:ext>
              </a:extLst>
            </p:cNvPr>
            <p:cNvSpPr/>
            <p:nvPr/>
          </p:nvSpPr>
          <p:spPr>
            <a:xfrm rot="1683323">
              <a:off x="1517515" y="1935982"/>
              <a:ext cx="447140" cy="950960"/>
            </a:xfrm>
            <a:prstGeom prst="arc">
              <a:avLst>
                <a:gd name="adj1" fmla="val 17156965"/>
                <a:gd name="adj2" fmla="val 5179199"/>
              </a:avLst>
            </a:prstGeom>
            <a:ln w="9525">
              <a:solidFill>
                <a:schemeClr val="bg1">
                  <a:lumMod val="65000"/>
                </a:schemeClr>
              </a:solidFill>
              <a:prstDash val="sysDash"/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Text Box 2">
              <a:extLst>
                <a:ext uri="{FF2B5EF4-FFF2-40B4-BE49-F238E27FC236}">
                  <a16:creationId xmlns:a16="http://schemas.microsoft.com/office/drawing/2014/main" id="{31AB0A8E-A0AF-0890-606C-8E65C1B554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079" y="3425527"/>
              <a:ext cx="3765774" cy="4009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tabLst>
                  <a:tab pos="1257300" algn="l"/>
                </a:tabLst>
              </a:pPr>
              <a:r>
                <a:rPr lang="ko-KR" altLang="en-US" sz="1500" dirty="0">
                  <a:highlight>
                    <a:srgbClr val="00FFFF"/>
                  </a:highlight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  ◎</a:t>
              </a:r>
              <a:r>
                <a:rPr lang="en-US" altLang="ko-KR" sz="1500" dirty="0">
                  <a:highlight>
                    <a:srgbClr val="00FFFF"/>
                  </a:highlight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ko-KR" altLang="en-US" sz="1500" dirty="0">
                  <a:highlight>
                    <a:srgbClr val="00FFFF"/>
                  </a:highlight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기 계</a:t>
              </a:r>
              <a:r>
                <a:rPr lang="ko-KR" altLang="en-US" sz="15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en-US" altLang="ko-KR" sz="12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: </a:t>
              </a:r>
              <a:r>
                <a:rPr lang="ko-KR" altLang="en-US" sz="12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실비정산 방식 유지 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 </a:t>
              </a:r>
              <a:r>
                <a:rPr lang="ko-KR" altLang="en-US" sz="1100" dirty="0" err="1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협의후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묶음 작업 관리 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)</a:t>
              </a:r>
            </a:p>
          </p:txBody>
        </p:sp>
        <p:sp>
          <p:nvSpPr>
            <p:cNvPr id="29" name="Text Box 2">
              <a:extLst>
                <a:ext uri="{FF2B5EF4-FFF2-40B4-BE49-F238E27FC236}">
                  <a16:creationId xmlns:a16="http://schemas.microsoft.com/office/drawing/2014/main" id="{39DB8727-2675-DF4B-0C08-166FBFED10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7841" y="3425527"/>
              <a:ext cx="5028941" cy="4009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tabLst>
                  <a:tab pos="1257300" algn="l"/>
                </a:tabLst>
              </a:pPr>
              <a:r>
                <a:rPr lang="ko-KR" altLang="en-US" sz="15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  </a:t>
              </a:r>
              <a:r>
                <a:rPr lang="ko-KR" altLang="en-US" sz="1500" dirty="0">
                  <a:highlight>
                    <a:srgbClr val="57E040"/>
                  </a:highlight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◎</a:t>
              </a:r>
              <a:r>
                <a:rPr lang="en-US" altLang="ko-KR" sz="1500" dirty="0">
                  <a:highlight>
                    <a:srgbClr val="57E040"/>
                  </a:highlight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ko-KR" altLang="en-US" sz="1500" dirty="0">
                  <a:highlight>
                    <a:srgbClr val="57E040"/>
                  </a:highlight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건 축 </a:t>
              </a:r>
              <a:r>
                <a:rPr lang="en-US" altLang="ko-KR" sz="12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: </a:t>
              </a:r>
              <a:r>
                <a:rPr lang="ko-KR" altLang="en-US" sz="12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실비정산 항목 분리 </a:t>
              </a:r>
              <a:r>
                <a:rPr lang="en-US" altLang="ko-KR" sz="10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 </a:t>
              </a:r>
              <a:r>
                <a:rPr lang="ko-KR" altLang="en-US" sz="10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단순 </a:t>
              </a:r>
              <a:r>
                <a:rPr lang="ko-KR" altLang="en-US" sz="1000" dirty="0" err="1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비품성</a:t>
              </a:r>
              <a:r>
                <a:rPr lang="ko-KR" altLang="en-US" sz="10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분리 ▷ 운영관리 </a:t>
              </a:r>
              <a:r>
                <a:rPr lang="ko-KR" altLang="en-US" sz="1000" dirty="0" err="1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공통비</a:t>
              </a:r>
              <a:r>
                <a:rPr lang="ko-KR" altLang="en-US" sz="10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증액 검토 </a:t>
              </a:r>
              <a:r>
                <a:rPr lang="en-US" altLang="ko-KR" sz="10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)</a:t>
              </a:r>
            </a:p>
          </p:txBody>
        </p:sp>
        <p:sp>
          <p:nvSpPr>
            <p:cNvPr id="30" name="Text Box 2">
              <a:extLst>
                <a:ext uri="{FF2B5EF4-FFF2-40B4-BE49-F238E27FC236}">
                  <a16:creationId xmlns:a16="http://schemas.microsoft.com/office/drawing/2014/main" id="{D4AB3F48-ECB6-B8D4-CE63-C4A14C4F95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079" y="3760326"/>
              <a:ext cx="3860352" cy="339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tabLst>
                  <a:tab pos="1257300" algn="l"/>
                </a:tabLst>
              </a:pPr>
              <a:r>
                <a:rPr lang="ko-KR" altLang="en-US" sz="12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        </a:t>
              </a:r>
              <a:r>
                <a:rPr lang="en-US" altLang="ko-KR" sz="12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. </a:t>
              </a:r>
              <a:r>
                <a:rPr lang="ko-KR" altLang="en-US" sz="12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간단 작업도 안전성 확보 필요 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작업중 누수 발생 등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)</a:t>
              </a:r>
            </a:p>
          </p:txBody>
        </p:sp>
        <p:sp>
          <p:nvSpPr>
            <p:cNvPr id="31" name="Text Box 2">
              <a:extLst>
                <a:ext uri="{FF2B5EF4-FFF2-40B4-BE49-F238E27FC236}">
                  <a16:creationId xmlns:a16="http://schemas.microsoft.com/office/drawing/2014/main" id="{9A778BDD-530B-2524-FD61-8298B359A5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4925" y="3755895"/>
              <a:ext cx="4681090" cy="339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tabLst>
                  <a:tab pos="1257300" algn="l"/>
                </a:tabLst>
              </a:pPr>
              <a:r>
                <a:rPr lang="ko-KR" altLang="en-US" sz="12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        </a:t>
              </a:r>
              <a:r>
                <a:rPr lang="en-US" altLang="ko-KR" sz="12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. </a:t>
              </a:r>
              <a:r>
                <a:rPr lang="ko-KR" altLang="en-US" sz="12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운영관리의 </a:t>
              </a:r>
              <a:r>
                <a:rPr lang="ko-KR" altLang="en-US" sz="1200" dirty="0" err="1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공통비</a:t>
              </a:r>
              <a:r>
                <a:rPr lang="ko-KR" altLang="en-US" sz="12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ko-KR" altLang="en-US" sz="1200" dirty="0" err="1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증액후</a:t>
              </a:r>
              <a:r>
                <a:rPr lang="ko-KR" altLang="en-US" sz="12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ko-KR" altLang="en-US" sz="1200" dirty="0" err="1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수선성</a:t>
              </a:r>
              <a:r>
                <a:rPr lang="ko-KR" altLang="en-US" sz="12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비용 증액 검토 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 </a:t>
              </a:r>
              <a:r>
                <a:rPr lang="ko-KR" altLang="en-US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연말 정산 방식 </a:t>
              </a:r>
              <a:r>
                <a: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)</a:t>
              </a: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2F6BE0A5-FB2C-9158-4E74-58BAE61E526E}"/>
                </a:ext>
              </a:extLst>
            </p:cNvPr>
            <p:cNvGrpSpPr/>
            <p:nvPr/>
          </p:nvGrpSpPr>
          <p:grpSpPr>
            <a:xfrm>
              <a:off x="2638252" y="3144907"/>
              <a:ext cx="3019339" cy="3507640"/>
              <a:chOff x="2657302" y="3135763"/>
              <a:chExt cx="3019339" cy="3507640"/>
            </a:xfrm>
          </p:grpSpPr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46241E8C-E340-35BD-40F3-BEBBDD1E7E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62497" y="3463142"/>
                <a:ext cx="8949" cy="3180261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이등변 삼각형 31">
                <a:extLst>
                  <a:ext uri="{FF2B5EF4-FFF2-40B4-BE49-F238E27FC236}">
                    <a16:creationId xmlns:a16="http://schemas.microsoft.com/office/drawing/2014/main" id="{7D6009E0-9144-80A5-AC6C-8F46B33CD258}"/>
                  </a:ext>
                </a:extLst>
              </p:cNvPr>
              <p:cNvSpPr/>
              <p:nvPr/>
            </p:nvSpPr>
            <p:spPr>
              <a:xfrm rot="10800000">
                <a:off x="2657302" y="3135763"/>
                <a:ext cx="3019339" cy="281659"/>
              </a:xfrm>
              <a:prstGeom prst="triangle">
                <a:avLst/>
              </a:prstGeom>
              <a:gradFill flip="none" rotWithShape="1">
                <a:gsLst>
                  <a:gs pos="0">
                    <a:schemeClr val="tx1">
                      <a:lumMod val="65000"/>
                      <a:lumOff val="35000"/>
                    </a:schemeClr>
                  </a:gs>
                  <a:gs pos="50000">
                    <a:schemeClr val="bg2">
                      <a:tint val="44500"/>
                      <a:satMod val="160000"/>
                    </a:schemeClr>
                  </a:gs>
                  <a:gs pos="100000">
                    <a:schemeClr val="bg2">
                      <a:tint val="23500"/>
                      <a:satMod val="160000"/>
                    </a:schemeClr>
                  </a:gs>
                </a:gsLst>
                <a:lin ang="2700000" scaled="1"/>
                <a:tileRect/>
              </a:gradFill>
              <a:ln w="63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1050" name="Picture 26">
              <a:extLst>
                <a:ext uri="{FF2B5EF4-FFF2-40B4-BE49-F238E27FC236}">
                  <a16:creationId xmlns:a16="http://schemas.microsoft.com/office/drawing/2014/main" id="{C29CA54D-1A95-A2DC-3D06-B1F1EBC953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0177" y="4845290"/>
              <a:ext cx="3649668" cy="13855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3" name="Text Box 2">
              <a:extLst>
                <a:ext uri="{FF2B5EF4-FFF2-40B4-BE49-F238E27FC236}">
                  <a16:creationId xmlns:a16="http://schemas.microsoft.com/office/drawing/2014/main" id="{5BDF8B70-C47C-FA73-3084-893AE883B1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8253" y="4333707"/>
              <a:ext cx="1247457" cy="23563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  <a:tabLst>
                  <a:tab pos="1257300" algn="l"/>
                </a:tabLst>
              </a:pPr>
              <a:r>
                <a:rPr lang="ko-KR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hlinkClick r:id="rId4"/>
                </a:rPr>
                <a:t>건 조 대</a:t>
              </a:r>
              <a:endPara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  <a:tabLst>
                  <a:tab pos="1257300" algn="l"/>
                </a:tabLst>
              </a:pPr>
              <a:r>
                <a:rPr lang="ko-KR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hlinkClick r:id="rId5"/>
                </a:rPr>
                <a:t>우수관 교체</a:t>
              </a:r>
              <a:endPara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  <a:tabLst>
                  <a:tab pos="1257300" algn="l"/>
                </a:tabLst>
              </a:pPr>
              <a:r>
                <a:rPr lang="ko-KR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우수관 트랩</a:t>
              </a:r>
              <a:endPara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  <a:tabLst>
                  <a:tab pos="1257300" algn="l"/>
                </a:tabLst>
              </a:pPr>
              <a:r>
                <a:rPr lang="ko-KR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  <a:hlinkClick r:id="rId6"/>
                </a:rPr>
                <a:t>렌지 후드</a:t>
              </a:r>
              <a:endPara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  <a:tabLst>
                  <a:tab pos="1257300" algn="l"/>
                </a:tabLst>
              </a:pPr>
              <a:endPara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marL="171450" indent="-171450">
                <a:lnSpc>
                  <a:spcPct val="200000"/>
                </a:lnSpc>
                <a:buFont typeface="Arial" panose="020B0604020202020204" pitchFamily="34" charset="0"/>
                <a:buChar char="•"/>
                <a:tabLst>
                  <a:tab pos="1257300" algn="l"/>
                </a:tabLst>
              </a:pPr>
              <a:r>
                <a:rPr lang="ko-KR" altLang="en-US" sz="1000" dirty="0">
                  <a:latin typeface="LG스마트체 Regular" panose="020B0600000101010101" pitchFamily="50" charset="-127"/>
                  <a:ea typeface="LG스마트체 Regular" panose="020B0600000101010101" pitchFamily="50" charset="-127"/>
                  <a:hlinkClick r:id="rId7"/>
                </a:rPr>
                <a:t>방충망</a:t>
              </a:r>
              <a:endPara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marL="171450" indent="-171450">
                <a:lnSpc>
                  <a:spcPct val="200000"/>
                </a:lnSpc>
                <a:buFont typeface="Arial" panose="020B0604020202020204" pitchFamily="34" charset="0"/>
                <a:buChar char="•"/>
                <a:tabLst>
                  <a:tab pos="1257300" algn="l"/>
                </a:tabLst>
              </a:pPr>
              <a:r>
                <a:rPr lang="ko-KR" altLang="en-US" sz="1000" dirty="0">
                  <a:latin typeface="LG스마트체 Regular" panose="020B0600000101010101" pitchFamily="50" charset="-127"/>
                  <a:ea typeface="LG스마트체 Regular" panose="020B0600000101010101" pitchFamily="50" charset="-127"/>
                  <a:hlinkClick r:id="rId8"/>
                </a:rPr>
                <a:t>블라인드</a:t>
              </a:r>
              <a:r>
                <a:rPr lang="ko-KR" altLang="en-US" sz="10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</a:t>
              </a:r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(</a:t>
              </a:r>
              <a:r>
                <a:rPr lang="ko-KR" alt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기숙사</a:t>
              </a:r>
              <a:r>
                <a:rPr lang="en-US" altLang="ko-KR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)</a:t>
              </a:r>
            </a:p>
            <a:p>
              <a:pPr marL="171450" indent="-171450">
                <a:lnSpc>
                  <a:spcPct val="200000"/>
                </a:lnSpc>
                <a:buFont typeface="Arial" panose="020B0604020202020204" pitchFamily="34" charset="0"/>
                <a:buChar char="•"/>
                <a:tabLst>
                  <a:tab pos="1257300" algn="l"/>
                </a:tabLst>
              </a:pPr>
              <a:r>
                <a:rPr lang="ko-KR" altLang="en-US" sz="1000" dirty="0">
                  <a:latin typeface="LG스마트체 Regular" panose="020B0600000101010101" pitchFamily="50" charset="-127"/>
                  <a:ea typeface="LG스마트체 Regular" panose="020B0600000101010101" pitchFamily="50" charset="-127"/>
                  <a:hlinkClick r:id="rId9"/>
                </a:rPr>
                <a:t>신발장 필름</a:t>
              </a:r>
              <a:endPara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marL="171450" indent="-171450">
                <a:lnSpc>
                  <a:spcPct val="200000"/>
                </a:lnSpc>
                <a:buFont typeface="Arial" panose="020B0604020202020204" pitchFamily="34" charset="0"/>
                <a:buChar char="•"/>
                <a:tabLst>
                  <a:tab pos="1257300" algn="l"/>
                </a:tabLst>
              </a:pPr>
              <a:r>
                <a:rPr lang="ko-KR" altLang="en-US" sz="1000" dirty="0">
                  <a:latin typeface="LG스마트체 Regular" panose="020B0600000101010101" pitchFamily="50" charset="-127"/>
                  <a:ea typeface="LG스마트체 Regular" panose="020B0600000101010101" pitchFamily="50" charset="-127"/>
                  <a:hlinkClick r:id="rId10"/>
                </a:rPr>
                <a:t>수납장 및</a:t>
              </a:r>
              <a:r>
                <a:rPr lang="en-US" altLang="ko-KR" sz="1000" dirty="0">
                  <a:latin typeface="LG스마트체 Regular" panose="020B0600000101010101" pitchFamily="50" charset="-127"/>
                  <a:ea typeface="LG스마트체 Regular" panose="020B0600000101010101" pitchFamily="50" charset="-127"/>
                  <a:hlinkClick r:id="rId10"/>
                </a:rPr>
                <a:t> </a:t>
              </a:r>
              <a:r>
                <a:rPr lang="ko-KR" altLang="en-US" sz="1000" dirty="0">
                  <a:latin typeface="LG스마트체 Regular" panose="020B0600000101010101" pitchFamily="50" charset="-127"/>
                  <a:ea typeface="LG스마트체 Regular" panose="020B0600000101010101" pitchFamily="50" charset="-127"/>
                  <a:hlinkClick r:id="rId10"/>
                </a:rPr>
                <a:t>화장경</a:t>
              </a:r>
              <a:endParaRPr lang="en-US" altLang="ko-KR" sz="10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8B4F4C0-FA0C-084B-0CB3-D6DC0B823902}"/>
                </a:ext>
              </a:extLst>
            </p:cNvPr>
            <p:cNvSpPr txBox="1"/>
            <p:nvPr/>
          </p:nvSpPr>
          <p:spPr>
            <a:xfrm>
              <a:off x="7595622" y="4463830"/>
              <a:ext cx="1409546" cy="22024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  <a:tabLst>
                  <a:tab pos="1257300" algn="l"/>
                </a:tabLst>
                <a:defRPr sz="1100"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defRPr>
              </a:lvl1pPr>
            </a:lstStyle>
            <a:p>
              <a:pPr>
                <a:lnSpc>
                  <a:spcPct val="200000"/>
                </a:lnSpc>
              </a:pPr>
              <a:r>
                <a:rPr lang="ko-KR" altLang="en-US" sz="1000" dirty="0">
                  <a:hlinkClick r:id="rId11"/>
                </a:rPr>
                <a:t>문짝 보수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(</a:t>
              </a:r>
              <a:r>
                <a:rPr lang="ko-KR" altLang="en-US" sz="1000" dirty="0"/>
                <a:t>도어</a:t>
              </a:r>
              <a:r>
                <a:rPr lang="en-US" altLang="ko-KR" sz="1000" dirty="0"/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1000" dirty="0">
                  <a:hlinkClick r:id="rId12"/>
                </a:rPr>
                <a:t>벽 </a:t>
              </a:r>
              <a:r>
                <a:rPr lang="en-US" altLang="ko-KR" sz="1000" dirty="0">
                  <a:hlinkClick r:id="rId12"/>
                </a:rPr>
                <a:t>/ </a:t>
              </a:r>
              <a:r>
                <a:rPr lang="ko-KR" altLang="en-US" sz="1000" dirty="0">
                  <a:hlinkClick r:id="rId12"/>
                </a:rPr>
                <a:t>바닥 타일</a:t>
              </a:r>
              <a:endParaRPr lang="en-US" altLang="ko-KR" sz="1000" dirty="0"/>
            </a:p>
            <a:p>
              <a:pPr>
                <a:lnSpc>
                  <a:spcPct val="200000"/>
                </a:lnSpc>
              </a:pPr>
              <a:r>
                <a:rPr lang="ko-KR" altLang="en-US" sz="1000" dirty="0"/>
                <a:t>타일 본드 </a:t>
              </a:r>
              <a:r>
                <a:rPr lang="en-US" altLang="ko-KR" sz="1000" dirty="0"/>
                <a:t>/</a:t>
              </a:r>
              <a:r>
                <a:rPr lang="ko-KR" altLang="en-US" sz="1000" dirty="0" err="1"/>
                <a:t>코킹</a:t>
              </a:r>
              <a:endParaRPr lang="en-US" altLang="ko-KR" sz="1000" dirty="0"/>
            </a:p>
            <a:p>
              <a:pPr>
                <a:lnSpc>
                  <a:spcPct val="200000"/>
                </a:lnSpc>
              </a:pPr>
              <a:r>
                <a:rPr lang="ko-KR" altLang="en-US" sz="1000" dirty="0">
                  <a:hlinkClick r:id="rId13"/>
                </a:rPr>
                <a:t>걸레받이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단열벽지 </a:t>
              </a:r>
              <a:endParaRPr lang="en-US" altLang="ko-KR" sz="1000" dirty="0"/>
            </a:p>
            <a:p>
              <a:pPr>
                <a:lnSpc>
                  <a:spcPct val="200000"/>
                </a:lnSpc>
              </a:pPr>
              <a:r>
                <a:rPr lang="ko-KR" altLang="en-US" sz="1000" dirty="0" err="1">
                  <a:hlinkClick r:id="rId14"/>
                </a:rPr>
                <a:t>문선몰딩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/ </a:t>
              </a:r>
              <a:r>
                <a:rPr lang="ko-KR" altLang="en-US" sz="1000" dirty="0" err="1"/>
                <a:t>점검구</a:t>
              </a:r>
              <a:endParaRPr lang="en-US" altLang="ko-KR" sz="1000" dirty="0"/>
            </a:p>
            <a:p>
              <a:pPr>
                <a:lnSpc>
                  <a:spcPct val="200000"/>
                </a:lnSpc>
              </a:pPr>
              <a:r>
                <a:rPr lang="ko-KR" altLang="en-US" sz="1000" dirty="0">
                  <a:hlinkClick r:id="rId15"/>
                </a:rPr>
                <a:t>석고보드</a:t>
              </a:r>
              <a:r>
                <a:rPr lang="en-US" altLang="ko-KR" sz="1000" dirty="0"/>
                <a:t> / </a:t>
              </a:r>
              <a:r>
                <a:rPr lang="ko-KR" altLang="en-US" sz="1000" dirty="0" err="1"/>
                <a:t>모르터</a:t>
              </a:r>
              <a:r>
                <a:rPr lang="ko-KR" altLang="en-US" sz="1000" dirty="0"/>
                <a:t> </a:t>
              </a:r>
              <a:endParaRPr lang="en-US" altLang="ko-KR" sz="1000" dirty="0"/>
            </a:p>
            <a:p>
              <a:pPr>
                <a:lnSpc>
                  <a:spcPct val="200000"/>
                </a:lnSpc>
              </a:pPr>
              <a:r>
                <a:rPr lang="ko-KR" altLang="en-US" sz="1000" dirty="0"/>
                <a:t>장판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도배</a:t>
              </a:r>
              <a:endParaRPr lang="en-US" altLang="ko-KR" sz="1000" dirty="0"/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4C677CF5-4F3E-46FB-1337-A1947866AA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60862" y="5268823"/>
              <a:ext cx="867233" cy="0"/>
            </a:xfrm>
            <a:prstGeom prst="line">
              <a:avLst/>
            </a:prstGeom>
            <a:ln w="31750">
              <a:solidFill>
                <a:schemeClr val="bg2"/>
              </a:solidFill>
              <a:prstDash val="sysDash"/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1025" name="직사각형 1024">
              <a:extLst>
                <a:ext uri="{FF2B5EF4-FFF2-40B4-BE49-F238E27FC236}">
                  <a16:creationId xmlns:a16="http://schemas.microsoft.com/office/drawing/2014/main" id="{DFF4AAED-2F05-FA0A-C933-304EA955DF37}"/>
                </a:ext>
              </a:extLst>
            </p:cNvPr>
            <p:cNvSpPr/>
            <p:nvPr/>
          </p:nvSpPr>
          <p:spPr>
            <a:xfrm>
              <a:off x="4646951" y="4399165"/>
              <a:ext cx="942958" cy="902243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9" name="Text Box 2">
              <a:extLst>
                <a:ext uri="{FF2B5EF4-FFF2-40B4-BE49-F238E27FC236}">
                  <a16:creationId xmlns:a16="http://schemas.microsoft.com/office/drawing/2014/main" id="{6F1A9A9B-AC8C-FCA8-0CF0-40319D8221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2497" y="4950923"/>
              <a:ext cx="495649" cy="339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tabLst>
                  <a:tab pos="1257300" algn="l"/>
                </a:tabLst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이 관</a:t>
              </a:r>
              <a:endPara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grpSp>
          <p:nvGrpSpPr>
            <p:cNvPr id="1037" name="그룹 1036">
              <a:extLst>
                <a:ext uri="{FF2B5EF4-FFF2-40B4-BE49-F238E27FC236}">
                  <a16:creationId xmlns:a16="http://schemas.microsoft.com/office/drawing/2014/main" id="{6E85605F-F7F1-528B-8CB7-8625EF8DCD45}"/>
                </a:ext>
              </a:extLst>
            </p:cNvPr>
            <p:cNvGrpSpPr/>
            <p:nvPr/>
          </p:nvGrpSpPr>
          <p:grpSpPr>
            <a:xfrm>
              <a:off x="5839112" y="4543863"/>
              <a:ext cx="1882231" cy="2019200"/>
              <a:chOff x="5698336" y="4659452"/>
              <a:chExt cx="1882231" cy="2019200"/>
            </a:xfrm>
          </p:grpSpPr>
          <p:pic>
            <p:nvPicPr>
              <p:cNvPr id="1060" name="Picture 36">
                <a:extLst>
                  <a:ext uri="{FF2B5EF4-FFF2-40B4-BE49-F238E27FC236}">
                    <a16:creationId xmlns:a16="http://schemas.microsoft.com/office/drawing/2014/main" id="{A0E8DE27-23C6-9D67-159B-AE482248BC7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5698336" y="4659452"/>
                <a:ext cx="1882231" cy="20192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31" name="Text Box 2">
                <a:extLst>
                  <a:ext uri="{FF2B5EF4-FFF2-40B4-BE49-F238E27FC236}">
                    <a16:creationId xmlns:a16="http://schemas.microsoft.com/office/drawing/2014/main" id="{0AEA46A3-97A4-1723-D4A1-592B619B26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29645" y="5774432"/>
                <a:ext cx="559769" cy="4308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tabLst>
                    <a:tab pos="1257300" algn="l"/>
                  </a:tabLst>
                </a:pPr>
                <a:r>
                  <a:rPr lang="ko-KR" altLang="en-US" sz="1100" dirty="0" err="1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비품성</a:t>
                </a:r>
                <a:endPara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  <a:p>
                <a:pPr>
                  <a:tabLst>
                    <a:tab pos="1257300" algn="l"/>
                  </a:tabLst>
                </a:pPr>
                <a:r>
                  <a:rPr lang="ko-KR" altLang="en-US" sz="1100" dirty="0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단순성</a:t>
                </a:r>
                <a:endPara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  <p:pic>
            <p:nvPicPr>
              <p:cNvPr id="1042" name="Picture 18">
                <a:extLst>
                  <a:ext uri="{FF2B5EF4-FFF2-40B4-BE49-F238E27FC236}">
                    <a16:creationId xmlns:a16="http://schemas.microsoft.com/office/drawing/2014/main" id="{095CC5D3-2D15-2FF7-EC54-D246744AEBC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7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7061012" y="5400851"/>
                <a:ext cx="363315" cy="40441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66" name="Picture 42">
                <a:extLst>
                  <a:ext uri="{FF2B5EF4-FFF2-40B4-BE49-F238E27FC236}">
                    <a16:creationId xmlns:a16="http://schemas.microsoft.com/office/drawing/2014/main" id="{7D678CD0-D7DE-8940-282C-433A307659F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53445" y="4925525"/>
                <a:ext cx="377043" cy="37704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74" name="Picture 50">
                <a:extLst>
                  <a:ext uri="{FF2B5EF4-FFF2-40B4-BE49-F238E27FC236}">
                    <a16:creationId xmlns:a16="http://schemas.microsoft.com/office/drawing/2014/main" id="{1225B661-01F6-9BBA-C848-CB13F40CB4F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77055" y="5920866"/>
                <a:ext cx="567155" cy="5671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76" name="Picture 52">
                <a:extLst>
                  <a:ext uri="{FF2B5EF4-FFF2-40B4-BE49-F238E27FC236}">
                    <a16:creationId xmlns:a16="http://schemas.microsoft.com/office/drawing/2014/main" id="{D79F3BC3-1889-24EF-E5A6-6E1485FE2A2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90114" y="4837343"/>
                <a:ext cx="543508" cy="5435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80" name="Picture 56">
                <a:extLst>
                  <a:ext uri="{FF2B5EF4-FFF2-40B4-BE49-F238E27FC236}">
                    <a16:creationId xmlns:a16="http://schemas.microsoft.com/office/drawing/2014/main" id="{46D50117-D320-3626-F6F9-C1D67BD507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202858" y="6073855"/>
                <a:ext cx="483159" cy="48315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33" name="Text Box 2">
                <a:extLst>
                  <a:ext uri="{FF2B5EF4-FFF2-40B4-BE49-F238E27FC236}">
                    <a16:creationId xmlns:a16="http://schemas.microsoft.com/office/drawing/2014/main" id="{0802FC59-81B5-BD82-F728-05738E0F44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24989" y="5528265"/>
                <a:ext cx="559769" cy="2616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>
                  <a:tabLst>
                    <a:tab pos="1257300" algn="l"/>
                  </a:tabLst>
                </a:pPr>
                <a:r>
                  <a:rPr lang="ko-KR" altLang="en-US" sz="1100" b="1" dirty="0" err="1"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공사성</a:t>
                </a:r>
                <a:endParaRPr lang="en-US" altLang="ko-KR" sz="1100" b="1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43" name="이등변 삼각형 42">
              <a:extLst>
                <a:ext uri="{FF2B5EF4-FFF2-40B4-BE49-F238E27FC236}">
                  <a16:creationId xmlns:a16="http://schemas.microsoft.com/office/drawing/2014/main" id="{206FB2EF-1D94-4F10-4358-98B727110CF5}"/>
                </a:ext>
              </a:extLst>
            </p:cNvPr>
            <p:cNvSpPr/>
            <p:nvPr/>
          </p:nvSpPr>
          <p:spPr>
            <a:xfrm rot="5400000">
              <a:off x="1846759" y="2288243"/>
              <a:ext cx="1011207" cy="186191"/>
            </a:xfrm>
            <a:prstGeom prst="triangle">
              <a:avLst/>
            </a:pr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accent3">
                    <a:lumMod val="95000"/>
                  </a:schemeClr>
                </a:gs>
                <a:gs pos="100000">
                  <a:schemeClr val="bg2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 w="63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2" name="이등변 삼각형 51">
              <a:extLst>
                <a:ext uri="{FF2B5EF4-FFF2-40B4-BE49-F238E27FC236}">
                  <a16:creationId xmlns:a16="http://schemas.microsoft.com/office/drawing/2014/main" id="{2DACB377-D5E8-F954-9272-02A1A96EAC44}"/>
                </a:ext>
              </a:extLst>
            </p:cNvPr>
            <p:cNvSpPr/>
            <p:nvPr/>
          </p:nvSpPr>
          <p:spPr>
            <a:xfrm rot="16200000" flipH="1">
              <a:off x="5519545" y="2288243"/>
              <a:ext cx="1011207" cy="186191"/>
            </a:xfrm>
            <a:prstGeom prst="triangle">
              <a:avLst/>
            </a:prstGeom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50000">
                  <a:schemeClr val="accent3">
                    <a:lumMod val="95000"/>
                  </a:schemeClr>
                </a:gs>
                <a:gs pos="100000">
                  <a:schemeClr val="bg2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 w="63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" name="실행 단추: 앞으로 또는 다음으로 이동 1">
              <a:hlinkClick r:id="rId22"/>
              <a:extLst>
                <a:ext uri="{FF2B5EF4-FFF2-40B4-BE49-F238E27FC236}">
                  <a16:creationId xmlns:a16="http://schemas.microsoft.com/office/drawing/2014/main" id="{E54F6AB3-2B6B-9877-9C0A-BE66C770D060}"/>
                </a:ext>
              </a:extLst>
            </p:cNvPr>
            <p:cNvSpPr/>
            <p:nvPr/>
          </p:nvSpPr>
          <p:spPr>
            <a:xfrm>
              <a:off x="4041270" y="1373873"/>
              <a:ext cx="288032" cy="247517"/>
            </a:xfrm>
            <a:prstGeom prst="actionButtonForwardNext">
              <a:avLst/>
            </a:prstGeom>
            <a:solidFill>
              <a:srgbClr val="FFFF00"/>
            </a:solidFill>
            <a:ln w="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말풍선: 사각형 6">
              <a:extLst>
                <a:ext uri="{FF2B5EF4-FFF2-40B4-BE49-F238E27FC236}">
                  <a16:creationId xmlns:a16="http://schemas.microsoft.com/office/drawing/2014/main" id="{3337F99E-9AD0-F738-AFBE-987606D387FE}"/>
                </a:ext>
              </a:extLst>
            </p:cNvPr>
            <p:cNvSpPr/>
            <p:nvPr/>
          </p:nvSpPr>
          <p:spPr>
            <a:xfrm>
              <a:off x="4646951" y="5495545"/>
              <a:ext cx="1105733" cy="1194514"/>
            </a:xfrm>
            <a:prstGeom prst="wedgeRectCallout">
              <a:avLst>
                <a:gd name="adj1" fmla="val 75382"/>
                <a:gd name="adj2" fmla="val 41848"/>
              </a:avLst>
            </a:prstGeom>
            <a:noFill/>
            <a:ln w="2222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실행 단추: 앞으로 또는 다음으로 이동 8">
              <a:hlinkClick r:id="rId23" highlightClick="1"/>
              <a:extLst>
                <a:ext uri="{FF2B5EF4-FFF2-40B4-BE49-F238E27FC236}">
                  <a16:creationId xmlns:a16="http://schemas.microsoft.com/office/drawing/2014/main" id="{690FEE4A-14FA-F420-357C-260F9106BC46}"/>
                </a:ext>
              </a:extLst>
            </p:cNvPr>
            <p:cNvSpPr/>
            <p:nvPr/>
          </p:nvSpPr>
          <p:spPr>
            <a:xfrm>
              <a:off x="3249800" y="4622044"/>
              <a:ext cx="288032" cy="247517"/>
            </a:xfrm>
            <a:prstGeom prst="actionButtonForwardNext">
              <a:avLst/>
            </a:prstGeom>
            <a:solidFill>
              <a:srgbClr val="FFFF00"/>
            </a:solidFill>
            <a:ln w="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실행 단추: 앞으로 또는 다음으로 이동 9">
              <a:hlinkClick r:id="rId24" highlightClick="1"/>
              <a:extLst>
                <a:ext uri="{FF2B5EF4-FFF2-40B4-BE49-F238E27FC236}">
                  <a16:creationId xmlns:a16="http://schemas.microsoft.com/office/drawing/2014/main" id="{FFE91624-8D44-EA12-C7B6-50C0E3344433}"/>
                </a:ext>
              </a:extLst>
            </p:cNvPr>
            <p:cNvSpPr/>
            <p:nvPr/>
          </p:nvSpPr>
          <p:spPr>
            <a:xfrm>
              <a:off x="6680903" y="4320755"/>
              <a:ext cx="288032" cy="247517"/>
            </a:xfrm>
            <a:prstGeom prst="actionButtonForwardNext">
              <a:avLst/>
            </a:prstGeom>
            <a:solidFill>
              <a:srgbClr val="FFFF00"/>
            </a:solidFill>
            <a:ln w="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실행 단추: 앞으로 또는 다음으로 이동 10">
              <a:hlinkClick r:id="rId25" highlightClick="1"/>
              <a:extLst>
                <a:ext uri="{FF2B5EF4-FFF2-40B4-BE49-F238E27FC236}">
                  <a16:creationId xmlns:a16="http://schemas.microsoft.com/office/drawing/2014/main" id="{C01527B0-EA85-B0B9-479C-579E0EB1667A}"/>
                </a:ext>
              </a:extLst>
            </p:cNvPr>
            <p:cNvSpPr/>
            <p:nvPr/>
          </p:nvSpPr>
          <p:spPr>
            <a:xfrm>
              <a:off x="6821689" y="1313430"/>
              <a:ext cx="288032" cy="247517"/>
            </a:xfrm>
            <a:prstGeom prst="actionButtonForwardNext">
              <a:avLst/>
            </a:prstGeom>
            <a:solidFill>
              <a:srgbClr val="FFFF00"/>
            </a:solidFill>
            <a:ln w="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27901B3F-8172-0FC7-7B9D-556AA637D40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-2"/>
            <a:stretch/>
          </p:blipFill>
          <p:spPr bwMode="auto">
            <a:xfrm flipH="1">
              <a:off x="6146651" y="1556582"/>
              <a:ext cx="1573814" cy="1691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9FCE785E-19A2-0140-6724-9AF78686C6CC}"/>
                </a:ext>
              </a:extLst>
            </p:cNvPr>
            <p:cNvGrpSpPr/>
            <p:nvPr/>
          </p:nvGrpSpPr>
          <p:grpSpPr>
            <a:xfrm>
              <a:off x="7720465" y="1520731"/>
              <a:ext cx="1366205" cy="1549880"/>
              <a:chOff x="7729990" y="1511587"/>
              <a:chExt cx="1366205" cy="1549880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09DAED5A-02E7-AF4D-7DFF-EF82B66EFDF3}"/>
                  </a:ext>
                </a:extLst>
              </p:cNvPr>
              <p:cNvSpPr/>
              <p:nvPr/>
            </p:nvSpPr>
            <p:spPr>
              <a:xfrm>
                <a:off x="7817144" y="1609357"/>
                <a:ext cx="1220409" cy="1452110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6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45" name="Picture 6">
                <a:extLst>
                  <a:ext uri="{FF2B5EF4-FFF2-40B4-BE49-F238E27FC236}">
                    <a16:creationId xmlns:a16="http://schemas.microsoft.com/office/drawing/2014/main" id="{B3E371B4-2934-5B4C-0C8D-678C9A571A7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7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7729990" y="1817967"/>
                <a:ext cx="197642" cy="1188281"/>
              </a:xfrm>
              <a:prstGeom prst="rect">
                <a:avLst/>
              </a:prstGeom>
              <a:solidFill>
                <a:schemeClr val="bg1"/>
              </a:solidFill>
            </p:spPr>
          </p:pic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F088504-E46E-D58B-9A73-02BFABE0BE10}"/>
                  </a:ext>
                </a:extLst>
              </p:cNvPr>
              <p:cNvSpPr txBox="1"/>
              <p:nvPr/>
            </p:nvSpPr>
            <p:spPr>
              <a:xfrm>
                <a:off x="7864752" y="1819116"/>
                <a:ext cx="104547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</a:rPr>
                  <a:t>작업 목록 작성 관리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43AA3A2-7B78-8338-4C3C-B81405B2ED4F}"/>
                  </a:ext>
                </a:extLst>
              </p:cNvPr>
              <p:cNvSpPr txBox="1"/>
              <p:nvPr/>
            </p:nvSpPr>
            <p:spPr>
              <a:xfrm>
                <a:off x="7845703" y="2135473"/>
                <a:ext cx="114165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>
                  <a:defRPr sz="8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</a:defRPr>
                </a:lvl1pPr>
              </a:lstStyle>
              <a:p>
                <a:r>
                  <a:rPr lang="ko-KR" altLang="en-US" dirty="0"/>
                  <a:t>근로자 투입 현황 검토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CBD056A-64DB-83F3-4543-575086CA4EC1}"/>
                  </a:ext>
                </a:extLst>
              </p:cNvPr>
              <p:cNvSpPr txBox="1"/>
              <p:nvPr/>
            </p:nvSpPr>
            <p:spPr>
              <a:xfrm>
                <a:off x="7861578" y="2468942"/>
                <a:ext cx="91884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ko-KR"/>
                </a:defPPr>
                <a:lvl1pPr>
                  <a:defRPr sz="8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</a:defRPr>
                </a:lvl1pPr>
              </a:lstStyle>
              <a:p>
                <a:r>
                  <a:rPr lang="ko-KR" altLang="en-US" dirty="0"/>
                  <a:t>증가 작업량 분석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25F0080-4E74-0867-A22B-2829D66652B4}"/>
                  </a:ext>
                </a:extLst>
              </p:cNvPr>
              <p:cNvSpPr txBox="1"/>
              <p:nvPr/>
            </p:nvSpPr>
            <p:spPr>
              <a:xfrm>
                <a:off x="7863165" y="2754506"/>
                <a:ext cx="123303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ko-KR"/>
                </a:defPPr>
                <a:lvl1pPr>
                  <a:defRPr sz="8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</a:defRPr>
                </a:lvl1pPr>
              </a:lstStyle>
              <a:p>
                <a:r>
                  <a:rPr lang="ko-KR" altLang="en-US" dirty="0"/>
                  <a:t>작업 프로세스 개선 검토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ECE016D-2FB5-BEFE-B2B3-E8DB5E7C884A}"/>
                  </a:ext>
                </a:extLst>
              </p:cNvPr>
              <p:cNvSpPr txBox="1"/>
              <p:nvPr/>
            </p:nvSpPr>
            <p:spPr>
              <a:xfrm>
                <a:off x="7930088" y="1511587"/>
                <a:ext cx="965008" cy="1384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 anchor="ctr" anchorCtr="1">
                <a:spAutoFit/>
              </a:bodyPr>
              <a:lstStyle/>
              <a:p>
                <a:r>
                  <a:rPr lang="ko-KR" altLang="en-US" sz="9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</a:rPr>
                  <a:t>관리소 작업 필요시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74797FE-CDAD-FFC9-4F28-E92AB2E78A62}"/>
                  </a:ext>
                </a:extLst>
              </p:cNvPr>
              <p:cNvSpPr txBox="1"/>
              <p:nvPr/>
            </p:nvSpPr>
            <p:spPr>
              <a:xfrm>
                <a:off x="8078921" y="1644900"/>
                <a:ext cx="689291" cy="1384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 anchor="ctr" anchorCtr="1">
                <a:spAutoFit/>
              </a:bodyPr>
              <a:lstStyle/>
              <a:p>
                <a:r>
                  <a:rPr lang="en-US" altLang="ko-K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</a:rPr>
                  <a:t>( </a:t>
                </a:r>
                <a:r>
                  <a:rPr lang="ko-KR" alt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</a:rPr>
                  <a:t>진 단 대 응 </a:t>
                </a:r>
                <a:r>
                  <a:rPr lang="en-US" altLang="ko-K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LG스마트체2.0 Regular" panose="020B0600000101010101" pitchFamily="50" charset="-127"/>
                    <a:ea typeface="LG스마트체2.0 Regular" panose="020B0600000101010101" pitchFamily="50" charset="-127"/>
                  </a:rPr>
                  <a:t>)</a:t>
                </a:r>
                <a:endParaRPr lang="ko-KR" alt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</a:endParaRP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D4F1E2E-AA48-3EDF-32C5-820C6FC2ACF7}"/>
                </a:ext>
              </a:extLst>
            </p:cNvPr>
            <p:cNvSpPr txBox="1"/>
            <p:nvPr/>
          </p:nvSpPr>
          <p:spPr>
            <a:xfrm>
              <a:off x="1167869" y="1638654"/>
              <a:ext cx="304571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 anchor="ctr" anchorCtr="1">
              <a:spAutoFit/>
            </a:bodyPr>
            <a:lstStyle/>
            <a:p>
              <a:r>
                <a:rPr lang="ko-KR" altLang="en-US" sz="1100" dirty="0">
                  <a:solidFill>
                    <a:schemeClr val="bg1">
                      <a:lumMod val="65000"/>
                    </a:schemeClr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</a:rPr>
                <a:t>합 의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F5A3C8E-94CA-03CA-53AE-B8CB33E0D4FA}"/>
                </a:ext>
              </a:extLst>
            </p:cNvPr>
            <p:cNvSpPr txBox="1"/>
            <p:nvPr/>
          </p:nvSpPr>
          <p:spPr>
            <a:xfrm>
              <a:off x="1638355" y="2292899"/>
              <a:ext cx="548227" cy="38561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18000" rIns="0" bIns="18000" rtlCol="0" anchor="ctr" anchorCtr="1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</a:rPr>
                <a:t>표준단가 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LG스마트체2.0 Regular" panose="020B0600000101010101" pitchFamily="50" charset="-127"/>
                  <a:ea typeface="LG스마트체2.0 Regular" panose="020B0600000101010101" pitchFamily="50" charset="-127"/>
                </a:rPr>
                <a:t>계약 기준 內</a:t>
              </a:r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030274A8-8D67-AB7F-26B2-58E55E8AAC70}"/>
                </a:ext>
              </a:extLst>
            </p:cNvPr>
            <p:cNvGrpSpPr/>
            <p:nvPr/>
          </p:nvGrpSpPr>
          <p:grpSpPr>
            <a:xfrm>
              <a:off x="2468426" y="1652802"/>
              <a:ext cx="3453402" cy="1382678"/>
              <a:chOff x="2477951" y="1652802"/>
              <a:chExt cx="3453402" cy="1382678"/>
            </a:xfrm>
          </p:grpSpPr>
          <p:pic>
            <p:nvPicPr>
              <p:cNvPr id="42" name="그림 41">
                <a:extLst>
                  <a:ext uri="{FF2B5EF4-FFF2-40B4-BE49-F238E27FC236}">
                    <a16:creationId xmlns:a16="http://schemas.microsoft.com/office/drawing/2014/main" id="{E9FFBF03-3D05-2290-C8C7-2A8F8AD439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2477951" y="1652802"/>
                <a:ext cx="3453402" cy="1382678"/>
              </a:xfrm>
              <a:prstGeom prst="rect">
                <a:avLst/>
              </a:prstGeom>
            </p:spPr>
          </p:pic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476B16B0-990C-7485-1DC1-D692D4FC26C9}"/>
                  </a:ext>
                </a:extLst>
              </p:cNvPr>
              <p:cNvGrpSpPr/>
              <p:nvPr/>
            </p:nvGrpSpPr>
            <p:grpSpPr>
              <a:xfrm>
                <a:off x="3708242" y="2276305"/>
                <a:ext cx="1000595" cy="627575"/>
                <a:chOff x="3708242" y="2276305"/>
                <a:chExt cx="1000595" cy="627575"/>
              </a:xfrm>
            </p:grpSpPr>
            <p:sp>
              <p:nvSpPr>
                <p:cNvPr id="6" name="Text Box 2">
                  <a:hlinkClick r:id="rId22"/>
                  <a:extLst>
                    <a:ext uri="{FF2B5EF4-FFF2-40B4-BE49-F238E27FC236}">
                      <a16:creationId xmlns:a16="http://schemas.microsoft.com/office/drawing/2014/main" id="{93426BDF-8023-2152-3146-1198FFAC341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08242" y="2276305"/>
                  <a:ext cx="1000595" cy="49295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spAutoFit/>
                </a:bodyPr>
                <a:lstStyle/>
                <a:p>
                  <a:pPr algn="ctr">
                    <a:tabLst>
                      <a:tab pos="1257300" algn="l"/>
                    </a:tabLst>
                  </a:pPr>
                  <a:r>
                    <a:rPr lang="en-US" altLang="ko-KR" sz="1400" b="1" dirty="0">
                      <a:solidFill>
                        <a:srgbClr val="FF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82</a:t>
                  </a:r>
                  <a:r>
                    <a:rPr lang="ko-KR" altLang="en-US" sz="1400" b="1" dirty="0">
                      <a:solidFill>
                        <a:srgbClr val="FF0000"/>
                      </a:solidFill>
                      <a:latin typeface="LG스마트체 Regular" panose="020B0600000101010101" pitchFamily="50" charset="-127"/>
                      <a:ea typeface="LG스마트체 Regular" panose="020B0600000101010101" pitchFamily="50" charset="-127"/>
                    </a:rPr>
                    <a:t>백만원 </a:t>
                  </a:r>
                  <a:endParaRPr lang="en-US" altLang="ko-KR" sz="1400" b="1" dirty="0">
                    <a:solidFill>
                      <a:srgbClr val="FF000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endParaRPr>
                </a:p>
                <a:p>
                  <a:pPr algn="ctr">
                    <a:lnSpc>
                      <a:spcPct val="150000"/>
                    </a:lnSpc>
                    <a:tabLst>
                      <a:tab pos="1257300" algn="l"/>
                    </a:tabLst>
                  </a:pPr>
                  <a:r>
                    <a:rPr lang="en-US" altLang="ko-KR" sz="900" dirty="0">
                      <a:solidFill>
                        <a:srgbClr val="FF0000"/>
                      </a:solidFill>
                      <a:latin typeface="LG스마트체2.0 Regular" panose="020B0600000101010101" pitchFamily="50" charset="-127"/>
                      <a:ea typeface="LG스마트체2.0 Regular" panose="020B0600000101010101" pitchFamily="50" charset="-127"/>
                    </a:rPr>
                    <a:t>(</a:t>
                  </a:r>
                  <a:r>
                    <a:rPr lang="ko-KR" altLang="en-US" sz="900" dirty="0">
                      <a:solidFill>
                        <a:srgbClr val="FF0000"/>
                      </a:solidFill>
                      <a:latin typeface="LG스마트체2.0 Regular" panose="020B0600000101010101" pitchFamily="50" charset="-127"/>
                      <a:ea typeface="LG스마트체2.0 Regular" panose="020B0600000101010101" pitchFamily="50" charset="-127"/>
                    </a:rPr>
                    <a:t>실비 정산비용</a:t>
                  </a:r>
                  <a:r>
                    <a:rPr lang="en-US" altLang="ko-KR" sz="900" dirty="0">
                      <a:solidFill>
                        <a:srgbClr val="FF0000"/>
                      </a:solidFill>
                      <a:latin typeface="LG스마트체2.0 Regular" panose="020B0600000101010101" pitchFamily="50" charset="-127"/>
                      <a:ea typeface="LG스마트체2.0 Regular" panose="020B0600000101010101" pitchFamily="50" charset="-127"/>
                    </a:rPr>
                    <a:t>)</a:t>
                  </a:r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85B0939A-864A-7F1B-F673-5D9486B0BE91}"/>
                    </a:ext>
                  </a:extLst>
                </p:cNvPr>
                <p:cNvSpPr txBox="1"/>
                <p:nvPr/>
              </p:nvSpPr>
              <p:spPr>
                <a:xfrm>
                  <a:off x="3708242" y="2688436"/>
                  <a:ext cx="995785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800" dirty="0">
                      <a:solidFill>
                        <a:srgbClr val="FF0000"/>
                      </a:solidFill>
                      <a:latin typeface="LG스마트체2.0 Regular" panose="020B0600000101010101" pitchFamily="50" charset="-127"/>
                      <a:ea typeface="LG스마트체2.0 Regular" panose="020B0600000101010101" pitchFamily="50" charset="-127"/>
                    </a:rPr>
                    <a:t>Fee (7.5%) </a:t>
                  </a:r>
                  <a:r>
                    <a:rPr lang="ko-KR" altLang="en-US" sz="800" dirty="0">
                      <a:solidFill>
                        <a:srgbClr val="FF0000"/>
                      </a:solidFill>
                      <a:latin typeface="LG스마트체2.0 Regular" panose="020B0600000101010101" pitchFamily="50" charset="-127"/>
                      <a:ea typeface="LG스마트체2.0 Regular" panose="020B0600000101010101" pitchFamily="50" charset="-127"/>
                    </a:rPr>
                    <a:t>미포함</a:t>
                  </a:r>
                </a:p>
              </p:txBody>
            </p:sp>
          </p:grpSp>
        </p:grpSp>
        <p:sp>
          <p:nvSpPr>
            <p:cNvPr id="38" name="Text Box 2">
              <a:extLst>
                <a:ext uri="{FF2B5EF4-FFF2-40B4-BE49-F238E27FC236}">
                  <a16:creationId xmlns:a16="http://schemas.microsoft.com/office/drawing/2014/main" id="{873FF6E8-1C52-3BB0-A2F4-080236AB29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16460" y="6272915"/>
              <a:ext cx="779381" cy="339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50000"/>
                </a:lnSpc>
                <a:tabLst>
                  <a:tab pos="1257300" algn="l"/>
                </a:tabLst>
              </a:pPr>
              <a:r>
                <a:rPr lang="ko-KR" altLang="en-US" sz="12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분리 관리</a:t>
              </a:r>
              <a:endPara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41" name="실행 단추: 앞으로 또는 다음으로 이동 40">
              <a:extLst>
                <a:ext uri="{FF2B5EF4-FFF2-40B4-BE49-F238E27FC236}">
                  <a16:creationId xmlns:a16="http://schemas.microsoft.com/office/drawing/2014/main" id="{B031D3C8-49F2-62E5-C47F-73499A2A1291}"/>
                </a:ext>
              </a:extLst>
            </p:cNvPr>
            <p:cNvSpPr/>
            <p:nvPr/>
          </p:nvSpPr>
          <p:spPr>
            <a:xfrm>
              <a:off x="4698910" y="4444513"/>
              <a:ext cx="125914" cy="114724"/>
            </a:xfrm>
            <a:prstGeom prst="actionButtonForwardNext">
              <a:avLst/>
            </a:prstGeom>
            <a:solidFill>
              <a:srgbClr val="00FFFF"/>
            </a:solidFill>
            <a:ln w="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실행 단추: 앞으로 또는 다음으로 이동 43">
              <a:extLst>
                <a:ext uri="{FF2B5EF4-FFF2-40B4-BE49-F238E27FC236}">
                  <a16:creationId xmlns:a16="http://schemas.microsoft.com/office/drawing/2014/main" id="{11ED0154-E0D8-0F9A-9250-5B62EC34167B}"/>
                </a:ext>
              </a:extLst>
            </p:cNvPr>
            <p:cNvSpPr/>
            <p:nvPr/>
          </p:nvSpPr>
          <p:spPr>
            <a:xfrm>
              <a:off x="4698910" y="4665099"/>
              <a:ext cx="125914" cy="114724"/>
            </a:xfrm>
            <a:prstGeom prst="actionButtonForwardNext">
              <a:avLst/>
            </a:prstGeom>
            <a:solidFill>
              <a:srgbClr val="00FFFF"/>
            </a:solidFill>
            <a:ln w="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실행 단추: 앞으로 또는 다음으로 이동 49">
              <a:extLst>
                <a:ext uri="{FF2B5EF4-FFF2-40B4-BE49-F238E27FC236}">
                  <a16:creationId xmlns:a16="http://schemas.microsoft.com/office/drawing/2014/main" id="{B5A6E5A3-C5B9-4DB3-E7AF-CA6876A28924}"/>
                </a:ext>
              </a:extLst>
            </p:cNvPr>
            <p:cNvSpPr/>
            <p:nvPr/>
          </p:nvSpPr>
          <p:spPr>
            <a:xfrm>
              <a:off x="4698910" y="5129323"/>
              <a:ext cx="125914" cy="114724"/>
            </a:xfrm>
            <a:prstGeom prst="actionButtonForwardNext">
              <a:avLst/>
            </a:prstGeom>
            <a:solidFill>
              <a:srgbClr val="00FFFF"/>
            </a:solidFill>
            <a:ln w="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실행 단추: 앞으로 또는 다음으로 이동 53">
              <a:extLst>
                <a:ext uri="{FF2B5EF4-FFF2-40B4-BE49-F238E27FC236}">
                  <a16:creationId xmlns:a16="http://schemas.microsoft.com/office/drawing/2014/main" id="{76733B16-62FA-817D-0E18-B7D5F8589D28}"/>
                </a:ext>
              </a:extLst>
            </p:cNvPr>
            <p:cNvSpPr/>
            <p:nvPr/>
          </p:nvSpPr>
          <p:spPr>
            <a:xfrm>
              <a:off x="4706530" y="5574172"/>
              <a:ext cx="125914" cy="114724"/>
            </a:xfrm>
            <a:prstGeom prst="actionButtonForwardNext">
              <a:avLst/>
            </a:prstGeom>
            <a:solidFill>
              <a:srgbClr val="00CC99">
                <a:alpha val="94118"/>
              </a:srgbClr>
            </a:solidFill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실행 단추: 앞으로 또는 다음으로 이동 54">
              <a:extLst>
                <a:ext uri="{FF2B5EF4-FFF2-40B4-BE49-F238E27FC236}">
                  <a16:creationId xmlns:a16="http://schemas.microsoft.com/office/drawing/2014/main" id="{9F58CA04-5EBF-67FD-35C0-302D27F6FB71}"/>
                </a:ext>
              </a:extLst>
            </p:cNvPr>
            <p:cNvSpPr/>
            <p:nvPr/>
          </p:nvSpPr>
          <p:spPr>
            <a:xfrm>
              <a:off x="4706530" y="5882121"/>
              <a:ext cx="125914" cy="114724"/>
            </a:xfrm>
            <a:prstGeom prst="actionButtonForwardNext">
              <a:avLst/>
            </a:prstGeom>
            <a:solidFill>
              <a:srgbClr val="00CC99">
                <a:alpha val="94118"/>
              </a:srgbClr>
            </a:solidFill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실행 단추: 앞으로 또는 다음으로 이동 55">
              <a:extLst>
                <a:ext uri="{FF2B5EF4-FFF2-40B4-BE49-F238E27FC236}">
                  <a16:creationId xmlns:a16="http://schemas.microsoft.com/office/drawing/2014/main" id="{87BF894D-5554-AF81-4253-63FEAAFEDD9D}"/>
                </a:ext>
              </a:extLst>
            </p:cNvPr>
            <p:cNvSpPr/>
            <p:nvPr/>
          </p:nvSpPr>
          <p:spPr>
            <a:xfrm>
              <a:off x="4706530" y="6495239"/>
              <a:ext cx="125914" cy="114724"/>
            </a:xfrm>
            <a:prstGeom prst="actionButtonForwardNext">
              <a:avLst/>
            </a:prstGeom>
            <a:solidFill>
              <a:srgbClr val="00CC99">
                <a:alpha val="94118"/>
              </a:srgbClr>
            </a:solidFill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실행 단추: 앞으로 또는 다음으로 이동 56">
              <a:extLst>
                <a:ext uri="{FF2B5EF4-FFF2-40B4-BE49-F238E27FC236}">
                  <a16:creationId xmlns:a16="http://schemas.microsoft.com/office/drawing/2014/main" id="{62BD0228-D58C-943E-1E54-1D08EAE93B8B}"/>
                </a:ext>
              </a:extLst>
            </p:cNvPr>
            <p:cNvSpPr/>
            <p:nvPr/>
          </p:nvSpPr>
          <p:spPr>
            <a:xfrm>
              <a:off x="4706530" y="6187290"/>
              <a:ext cx="125914" cy="114724"/>
            </a:xfrm>
            <a:prstGeom prst="actionButtonForwardNext">
              <a:avLst/>
            </a:prstGeom>
            <a:solidFill>
              <a:srgbClr val="00CC99">
                <a:alpha val="94118"/>
              </a:srgbClr>
            </a:solidFill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실행 단추: 앞으로 또는 다음으로 이동 58">
              <a:extLst>
                <a:ext uri="{FF2B5EF4-FFF2-40B4-BE49-F238E27FC236}">
                  <a16:creationId xmlns:a16="http://schemas.microsoft.com/office/drawing/2014/main" id="{F403943C-F3AF-759B-871D-E290C1335DEF}"/>
                </a:ext>
              </a:extLst>
            </p:cNvPr>
            <p:cNvSpPr/>
            <p:nvPr/>
          </p:nvSpPr>
          <p:spPr>
            <a:xfrm>
              <a:off x="7721802" y="4638091"/>
              <a:ext cx="125914" cy="114724"/>
            </a:xfrm>
            <a:prstGeom prst="actionButtonForwardNext">
              <a:avLst/>
            </a:prstGeom>
            <a:solidFill>
              <a:srgbClr val="B6DF89"/>
            </a:solidFill>
            <a:ln w="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실행 단추: 앞으로 또는 다음으로 이동 59">
              <a:extLst>
                <a:ext uri="{FF2B5EF4-FFF2-40B4-BE49-F238E27FC236}">
                  <a16:creationId xmlns:a16="http://schemas.microsoft.com/office/drawing/2014/main" id="{57E63687-C050-4622-59B3-0D0D98FD5141}"/>
                </a:ext>
              </a:extLst>
            </p:cNvPr>
            <p:cNvSpPr/>
            <p:nvPr/>
          </p:nvSpPr>
          <p:spPr>
            <a:xfrm>
              <a:off x="7721802" y="4942763"/>
              <a:ext cx="125914" cy="114724"/>
            </a:xfrm>
            <a:prstGeom prst="actionButtonForwardNext">
              <a:avLst/>
            </a:prstGeom>
            <a:solidFill>
              <a:srgbClr val="B6DF89"/>
            </a:solidFill>
            <a:ln w="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실행 단추: 앞으로 또는 다음으로 이동 60">
              <a:extLst>
                <a:ext uri="{FF2B5EF4-FFF2-40B4-BE49-F238E27FC236}">
                  <a16:creationId xmlns:a16="http://schemas.microsoft.com/office/drawing/2014/main" id="{8E935DFD-DA7A-8043-EA36-4F5AD60EF529}"/>
                </a:ext>
              </a:extLst>
            </p:cNvPr>
            <p:cNvSpPr/>
            <p:nvPr/>
          </p:nvSpPr>
          <p:spPr>
            <a:xfrm>
              <a:off x="7721802" y="5544119"/>
              <a:ext cx="125914" cy="114724"/>
            </a:xfrm>
            <a:prstGeom prst="actionButtonForwardNext">
              <a:avLst/>
            </a:prstGeom>
            <a:solidFill>
              <a:srgbClr val="B6DF89"/>
            </a:solidFill>
            <a:ln w="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실행 단추: 앞으로 또는 다음으로 이동 61">
              <a:extLst>
                <a:ext uri="{FF2B5EF4-FFF2-40B4-BE49-F238E27FC236}">
                  <a16:creationId xmlns:a16="http://schemas.microsoft.com/office/drawing/2014/main" id="{3F6BAFEA-3C76-1615-6E02-29D6304126DC}"/>
                </a:ext>
              </a:extLst>
            </p:cNvPr>
            <p:cNvSpPr/>
            <p:nvPr/>
          </p:nvSpPr>
          <p:spPr>
            <a:xfrm>
              <a:off x="7721802" y="5861732"/>
              <a:ext cx="125914" cy="114724"/>
            </a:xfrm>
            <a:prstGeom prst="actionButtonForwardNext">
              <a:avLst/>
            </a:prstGeom>
            <a:solidFill>
              <a:srgbClr val="B6DF89"/>
            </a:solidFill>
            <a:ln w="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4" name="실행 단추: 앞으로 또는 다음으로 이동 1023">
              <a:extLst>
                <a:ext uri="{FF2B5EF4-FFF2-40B4-BE49-F238E27FC236}">
                  <a16:creationId xmlns:a16="http://schemas.microsoft.com/office/drawing/2014/main" id="{9EF70C2C-BFB8-3B2C-85BE-4D26DD7307C2}"/>
                </a:ext>
              </a:extLst>
            </p:cNvPr>
            <p:cNvSpPr/>
            <p:nvPr/>
          </p:nvSpPr>
          <p:spPr>
            <a:xfrm>
              <a:off x="7721802" y="6171984"/>
              <a:ext cx="125914" cy="114724"/>
            </a:xfrm>
            <a:prstGeom prst="actionButtonForwardNext">
              <a:avLst/>
            </a:prstGeom>
            <a:solidFill>
              <a:srgbClr val="B6DF89"/>
            </a:solidFill>
            <a:ln w="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49436825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95292</TotalTime>
  <Words>226</Words>
  <Application>Microsoft Office PowerPoint</Application>
  <PresentationFormat>화면 슬라이드 쇼(4:3)</PresentationFormat>
  <Paragraphs>42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맑은 고딕</vt:lpstr>
      <vt:lpstr>LG스마트체 Regular</vt:lpstr>
      <vt:lpstr>LG스마트체2.0 Regular</vt:lpstr>
      <vt:lpstr>Arial</vt:lpstr>
      <vt:lpstr>굴림</vt:lpstr>
      <vt:lpstr>기본 디자인</vt:lpstr>
      <vt:lpstr>PowerPoint 프레젠테이션</vt:lpstr>
    </vt:vector>
  </TitlesOfParts>
  <Company>-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주간회의 자료_(기숙사 및 사택)</dc:title>
  <dc:creator>기숙사및사택</dc:creator>
  <cp:lastModifiedBy>종근 이</cp:lastModifiedBy>
  <cp:revision>13152</cp:revision>
  <cp:lastPrinted>2020-02-23T21:33:24Z</cp:lastPrinted>
  <dcterms:created xsi:type="dcterms:W3CDTF">2011-01-17T23:14:04Z</dcterms:created>
  <dcterms:modified xsi:type="dcterms:W3CDTF">2025-01-08T21:31:21Z</dcterms:modified>
</cp:coreProperties>
</file>