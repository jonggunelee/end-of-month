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489" r:id="rId2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6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20" y="96"/>
      </p:cViewPr>
      <p:guideLst>
        <p:guide orient="horz" pos="55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01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8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11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63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098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82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89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83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24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710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940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34" y="329566"/>
            <a:ext cx="8678129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34" y="912498"/>
            <a:ext cx="8678129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10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06730-AE61-434B-A824-E6385C220A04}" type="datetimeFigureOut">
              <a:rPr lang="ko-KR" altLang="en-US" smtClean="0"/>
              <a:t>2025-07-10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C15DC-FFCA-4C88-B816-5EE8C652C9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48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60AC2325-F7EF-4254-B01D-050CA52A0E9F}"/>
              </a:ext>
            </a:extLst>
          </p:cNvPr>
          <p:cNvSpPr txBox="1"/>
          <p:nvPr/>
        </p:nvSpPr>
        <p:spPr>
          <a:xfrm>
            <a:off x="8058150" y="275271"/>
            <a:ext cx="1733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대전</a:t>
            </a:r>
            <a:r>
              <a:rPr lang="en-US" altLang="ko-KR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r>
              <a:rPr lang="ko-KR" altLang="en-US" sz="12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업무지원팀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281E31-39A7-40E5-80C0-EF2E5F26CE15}"/>
              </a:ext>
            </a:extLst>
          </p:cNvPr>
          <p:cNvSpPr/>
          <p:nvPr/>
        </p:nvSpPr>
        <p:spPr bwMode="auto">
          <a:xfrm>
            <a:off x="190073" y="741614"/>
            <a:ext cx="657717" cy="124246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 b="1" spc="-30" dirty="0">
                <a:solidFill>
                  <a:srgbClr val="000000"/>
                </a:solidFill>
                <a:latin typeface="Arial Narrow"/>
                <a:ea typeface="LG스마트체 Regular"/>
              </a:rPr>
              <a:t>교체</a:t>
            </a:r>
            <a:endParaRPr lang="en-US" altLang="ko-KR" sz="1300" b="1" spc="-30" dirty="0">
              <a:solidFill>
                <a:srgbClr val="000000"/>
              </a:solidFill>
              <a:latin typeface="Arial Narrow"/>
              <a:ea typeface="LG스마트체 Regular"/>
            </a:endParaRPr>
          </a:p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 b="1" spc="-30" dirty="0">
                <a:solidFill>
                  <a:srgbClr val="000000"/>
                </a:solidFill>
                <a:latin typeface="Arial Narrow"/>
                <a:ea typeface="LG스마트체 Regular"/>
              </a:rPr>
              <a:t>사유</a:t>
            </a:r>
            <a:endParaRPr lang="en-US" altLang="ko-KR" sz="1300" b="1" spc="-30" dirty="0">
              <a:solidFill>
                <a:srgbClr val="000000"/>
              </a:solidFill>
              <a:latin typeface="Arial Narrow"/>
              <a:ea typeface="LG스마트체 Regular"/>
            </a:endParaRPr>
          </a:p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 b="1" spc="-30" dirty="0">
                <a:solidFill>
                  <a:srgbClr val="000000"/>
                </a:solidFill>
                <a:latin typeface="Arial Narrow"/>
                <a:ea typeface="LG스마트체 Regular"/>
              </a:rPr>
              <a:t>및</a:t>
            </a:r>
            <a:endParaRPr lang="en-US" altLang="ko-KR" sz="1300" b="1" spc="-30" dirty="0">
              <a:solidFill>
                <a:srgbClr val="000000"/>
              </a:solidFill>
              <a:latin typeface="Arial Narrow"/>
              <a:ea typeface="LG스마트체 Regular"/>
            </a:endParaRPr>
          </a:p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 b="1" spc="-30" dirty="0">
                <a:solidFill>
                  <a:srgbClr val="000000"/>
                </a:solidFill>
                <a:latin typeface="Arial Narrow"/>
                <a:ea typeface="LG스마트체 Regular"/>
              </a:rPr>
              <a:t>운영</a:t>
            </a:r>
            <a:endParaRPr lang="en-US" altLang="ko-KR" sz="1300" b="1" spc="-30" dirty="0">
              <a:solidFill>
                <a:srgbClr val="000000"/>
              </a:solidFill>
              <a:latin typeface="Arial Narrow"/>
              <a:ea typeface="LG스마트체 Regular"/>
            </a:endParaRPr>
          </a:p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 b="1" spc="-30" dirty="0">
                <a:solidFill>
                  <a:srgbClr val="000000"/>
                </a:solidFill>
                <a:latin typeface="Arial Narrow"/>
                <a:ea typeface="LG스마트체 Regular"/>
              </a:rPr>
              <a:t>현황</a:t>
            </a:r>
            <a:endParaRPr lang="en-US" altLang="ko-KR" sz="1300" b="1" spc="-30" dirty="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3F19A01-24F5-4BC7-86AA-BBBAD5DA2B25}"/>
              </a:ext>
            </a:extLst>
          </p:cNvPr>
          <p:cNvCxnSpPr>
            <a:cxnSpLocks/>
          </p:cNvCxnSpPr>
          <p:nvPr/>
        </p:nvCxnSpPr>
        <p:spPr bwMode="auto">
          <a:xfrm>
            <a:off x="919796" y="764617"/>
            <a:ext cx="0" cy="1072809"/>
          </a:xfrm>
          <a:prstGeom prst="line">
            <a:avLst/>
          </a:prstGeom>
          <a:solidFill>
            <a:srgbClr val="BBE0E3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CDA822-832F-4D52-9B37-73A53DD072A5}"/>
              </a:ext>
            </a:extLst>
          </p:cNvPr>
          <p:cNvSpPr txBox="1"/>
          <p:nvPr/>
        </p:nvSpPr>
        <p:spPr>
          <a:xfrm>
            <a:off x="991802" y="736053"/>
            <a:ext cx="879989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44000" indent="-144000" defTabSz="9144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사택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기숙사 </a:t>
            </a:r>
            <a:r>
              <a:rPr lang="ko-KR" altLang="en-US" sz="1200" b="1" dirty="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무전전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전원공급 장치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(UPS: Uninterruptible Power Supply)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는 총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개소에서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기를 운영 중이며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10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 이상 사용 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UPS 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기기 교체 및</a:t>
            </a:r>
            <a:b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~7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 이상 사용한 배터리에 대해 교체를 진행하고자 함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  <a:endParaRPr lang="en-US" altLang="ko-KR" sz="12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7979C05B-422D-4104-A9AA-8240CE0E8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059315"/>
              </p:ext>
            </p:extLst>
          </p:nvPr>
        </p:nvGraphicFramePr>
        <p:xfrm>
          <a:off x="258617" y="260928"/>
          <a:ext cx="530541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5419">
                  <a:extLst>
                    <a:ext uri="{9D8B030D-6E8A-4147-A177-3AD203B41FA5}">
                      <a16:colId xmlns:a16="http://schemas.microsoft.com/office/drawing/2014/main" val="1927943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사택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기숙사 </a:t>
                      </a:r>
                      <a:r>
                        <a:rPr lang="ko-KR" altLang="en-US" dirty="0" err="1"/>
                        <a:t>무정전</a:t>
                      </a:r>
                      <a:r>
                        <a:rPr lang="ko-KR" altLang="en-US" dirty="0"/>
                        <a:t> 전원공급 장치 및 배터리 교체 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24310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CEBACF-90DE-4F06-B7FE-581C4CEC2F83}"/>
              </a:ext>
            </a:extLst>
          </p:cNvPr>
          <p:cNvSpPr txBox="1"/>
          <p:nvPr/>
        </p:nvSpPr>
        <p:spPr>
          <a:xfrm>
            <a:off x="1242206" y="4675516"/>
            <a:ext cx="74991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기기의 표준 </a:t>
            </a:r>
            <a:r>
              <a:rPr lang="ko-KR" altLang="en-US" sz="10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년수는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10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년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배터리는 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5~7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년임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배터리는 설치 후 교체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이력 없으며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HP</a:t>
            </a:r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社 기기는 고장 상태로 즉시 교체를 요하는 상황임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sz="10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1687A7E-96AC-49F5-B741-851B68908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857723"/>
              </p:ext>
            </p:extLst>
          </p:nvPr>
        </p:nvGraphicFramePr>
        <p:xfrm>
          <a:off x="1254188" y="1253544"/>
          <a:ext cx="8217617" cy="3421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201813886"/>
                    </a:ext>
                  </a:extLst>
                </a:gridCol>
                <a:gridCol w="1423390">
                  <a:extLst>
                    <a:ext uri="{9D8B030D-6E8A-4147-A177-3AD203B41FA5}">
                      <a16:colId xmlns:a16="http://schemas.microsoft.com/office/drawing/2014/main" val="4242561210"/>
                    </a:ext>
                  </a:extLst>
                </a:gridCol>
                <a:gridCol w="1423390">
                  <a:extLst>
                    <a:ext uri="{9D8B030D-6E8A-4147-A177-3AD203B41FA5}">
                      <a16:colId xmlns:a16="http://schemas.microsoft.com/office/drawing/2014/main" val="2186323197"/>
                    </a:ext>
                  </a:extLst>
                </a:gridCol>
                <a:gridCol w="1423390">
                  <a:extLst>
                    <a:ext uri="{9D8B030D-6E8A-4147-A177-3AD203B41FA5}">
                      <a16:colId xmlns:a16="http://schemas.microsoft.com/office/drawing/2014/main" val="3971139711"/>
                    </a:ext>
                  </a:extLst>
                </a:gridCol>
                <a:gridCol w="1423390">
                  <a:extLst>
                    <a:ext uri="{9D8B030D-6E8A-4147-A177-3AD203B41FA5}">
                      <a16:colId xmlns:a16="http://schemas.microsoft.com/office/drawing/2014/main" val="3344011218"/>
                    </a:ext>
                  </a:extLst>
                </a:gridCol>
                <a:gridCol w="1423390">
                  <a:extLst>
                    <a:ext uri="{9D8B030D-6E8A-4147-A177-3AD203B41FA5}">
                      <a16:colId xmlns:a16="http://schemas.microsoft.com/office/drawing/2014/main" val="3968848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AB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기숙사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기숙사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101~103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 사택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693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위치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관리사무소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4F 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중앙계단 창고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B1F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경비실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846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제조사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NetPlus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NetPlus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HP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NetPlus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404312"/>
                  </a:ext>
                </a:extLst>
              </a:tr>
              <a:tr h="1105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이미지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62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방송장비용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 보호용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설비자동제어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CCTV,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방송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차량 출입 통제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자동문 제어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컴퓨터 용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통신장비용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 보호용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방송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원격검침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컴퓨터용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방송장비용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513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용량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3KV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5KV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1KV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1KV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3KV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937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설치년도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‘19. 01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‘20. 10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‘20. 10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‘15. 01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‘19.01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90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납축전지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배터리 교체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12V 7A(8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배터리 교체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12V 7A(16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배터리 교체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12V 7A(3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기기 교체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현재 사용 불가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배터리 교체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12V 7A(8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785641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2CDB4A-EB09-494D-9DBC-51AB63633DE5}"/>
              </a:ext>
            </a:extLst>
          </p:cNvPr>
          <p:cNvSpPr/>
          <p:nvPr/>
        </p:nvSpPr>
        <p:spPr bwMode="auto">
          <a:xfrm>
            <a:off x="334085" y="5089330"/>
            <a:ext cx="657717" cy="55235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 b="1" spc="-30" dirty="0">
                <a:solidFill>
                  <a:srgbClr val="000000"/>
                </a:solidFill>
                <a:latin typeface="Arial Narrow"/>
                <a:ea typeface="LG스마트체 Regular"/>
              </a:rPr>
              <a:t>교체</a:t>
            </a:r>
            <a:endParaRPr lang="en-US" altLang="ko-KR" sz="1300" b="1" spc="-30" dirty="0">
              <a:solidFill>
                <a:srgbClr val="000000"/>
              </a:solidFill>
              <a:latin typeface="Arial Narrow"/>
              <a:ea typeface="LG스마트체 Regular"/>
            </a:endParaRPr>
          </a:p>
          <a:p>
            <a:pPr algn="ctr" defTabSz="91440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 b="1" spc="-30" dirty="0">
                <a:solidFill>
                  <a:srgbClr val="000000"/>
                </a:solidFill>
                <a:latin typeface="Arial Narrow"/>
                <a:ea typeface="LG스마트체 Regular"/>
              </a:rPr>
              <a:t>비용</a:t>
            </a:r>
            <a:endParaRPr lang="en-US" altLang="ko-KR" sz="1300" b="1" spc="-30" dirty="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41F0582-92B1-4B66-B0E0-8179FFEC2144}"/>
              </a:ext>
            </a:extLst>
          </p:cNvPr>
          <p:cNvCxnSpPr>
            <a:cxnSpLocks/>
          </p:cNvCxnSpPr>
          <p:nvPr/>
        </p:nvCxnSpPr>
        <p:spPr bwMode="auto">
          <a:xfrm>
            <a:off x="1063808" y="5112332"/>
            <a:ext cx="0" cy="1072809"/>
          </a:xfrm>
          <a:prstGeom prst="line">
            <a:avLst/>
          </a:prstGeom>
          <a:solidFill>
            <a:srgbClr val="BBE0E3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3" name="내용 개체 틀 3">
            <a:extLst>
              <a:ext uri="{FF2B5EF4-FFF2-40B4-BE49-F238E27FC236}">
                <a16:creationId xmlns:a16="http://schemas.microsoft.com/office/drawing/2014/main" id="{E099384F-D115-4859-B85C-846D7FDC5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67735" y="1995520"/>
            <a:ext cx="988976" cy="1080000"/>
          </a:xfrm>
        </p:spPr>
      </p:pic>
      <p:pic>
        <p:nvPicPr>
          <p:cNvPr id="26" name="그림 5">
            <a:extLst>
              <a:ext uri="{FF2B5EF4-FFF2-40B4-BE49-F238E27FC236}">
                <a16:creationId xmlns:a16="http://schemas.microsoft.com/office/drawing/2014/main" id="{652E6D8B-BC62-4307-8C34-D1FCF4C47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931" y="1995520"/>
            <a:ext cx="957866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내용 개체 틀 3">
            <a:extLst>
              <a:ext uri="{FF2B5EF4-FFF2-40B4-BE49-F238E27FC236}">
                <a16:creationId xmlns:a16="http://schemas.microsoft.com/office/drawing/2014/main" id="{F11269F8-A169-49EC-88C0-A6B836FB37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0" r="11982"/>
          <a:stretch/>
        </p:blipFill>
        <p:spPr>
          <a:xfrm>
            <a:off x="5218981" y="1995520"/>
            <a:ext cx="1380227" cy="1080000"/>
          </a:xfrm>
          <a:prstGeom prst="rect">
            <a:avLst/>
          </a:prstGeom>
        </p:spPr>
      </p:pic>
      <p:pic>
        <p:nvPicPr>
          <p:cNvPr id="28" name="내용 개체 틀 3">
            <a:extLst>
              <a:ext uri="{FF2B5EF4-FFF2-40B4-BE49-F238E27FC236}">
                <a16:creationId xmlns:a16="http://schemas.microsoft.com/office/drawing/2014/main" id="{75115108-8D66-4BA2-8A85-EE3A92059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09517" y="1995520"/>
            <a:ext cx="949417" cy="1080000"/>
          </a:xfrm>
          <a:prstGeom prst="rect">
            <a:avLst/>
          </a:prstGeom>
        </p:spPr>
      </p:pic>
      <p:pic>
        <p:nvPicPr>
          <p:cNvPr id="29" name="그림 6">
            <a:extLst>
              <a:ext uri="{FF2B5EF4-FFF2-40B4-BE49-F238E27FC236}">
                <a16:creationId xmlns:a16="http://schemas.microsoft.com/office/drawing/2014/main" id="{F34EB810-DACA-4B9B-9EA2-CCC56AC56E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713" y="1995520"/>
            <a:ext cx="992816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C14AD3B-DAB5-4182-BBDA-D885CB04A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808007"/>
              </p:ext>
            </p:extLst>
          </p:nvPr>
        </p:nvGraphicFramePr>
        <p:xfrm>
          <a:off x="1250830" y="5382758"/>
          <a:ext cx="8220964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5241">
                  <a:extLst>
                    <a:ext uri="{9D8B030D-6E8A-4147-A177-3AD203B41FA5}">
                      <a16:colId xmlns:a16="http://schemas.microsoft.com/office/drawing/2014/main" val="1304493981"/>
                    </a:ext>
                  </a:extLst>
                </a:gridCol>
                <a:gridCol w="2055241">
                  <a:extLst>
                    <a:ext uri="{9D8B030D-6E8A-4147-A177-3AD203B41FA5}">
                      <a16:colId xmlns:a16="http://schemas.microsoft.com/office/drawing/2014/main" val="4041798610"/>
                    </a:ext>
                  </a:extLst>
                </a:gridCol>
                <a:gridCol w="2055241">
                  <a:extLst>
                    <a:ext uri="{9D8B030D-6E8A-4147-A177-3AD203B41FA5}">
                      <a16:colId xmlns:a16="http://schemas.microsoft.com/office/drawing/2014/main" val="2020243181"/>
                    </a:ext>
                  </a:extLst>
                </a:gridCol>
                <a:gridCol w="2055241">
                  <a:extLst>
                    <a:ext uri="{9D8B030D-6E8A-4147-A177-3AD203B41FA5}">
                      <a16:colId xmlns:a16="http://schemas.microsoft.com/office/drawing/2014/main" val="646142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금액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내역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794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기기 교체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1,012,650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UPS 1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 교체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경상투자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제조사 변경</a:t>
                      </a:r>
                      <a:endParaRPr lang="en-US" altLang="ko-KR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(HP 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→ </a:t>
                      </a:r>
                      <a:r>
                        <a:rPr lang="en-US" altLang="ko-KR" sz="100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NetPlus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65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배터리 교체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6,209,200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배터리 </a:t>
                      </a:r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35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 교체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사택관리비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174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계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7,221,850</a:t>
                      </a:r>
                      <a:r>
                        <a:rPr lang="ko-KR" altLang="en-US" sz="10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44254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41A82A1-4123-4E92-8047-E3F521CBA9CD}"/>
              </a:ext>
            </a:extLst>
          </p:cNvPr>
          <p:cNvSpPr txBox="1"/>
          <p:nvPr/>
        </p:nvSpPr>
        <p:spPr>
          <a:xfrm>
            <a:off x="1166894" y="5068709"/>
            <a:ext cx="879989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144000" indent="-144000" defTabSz="9144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기기 교체는 경상투자 집행하여 자산 관리하겠으며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배터리 교체는 비용 처리 하고자 함</a:t>
            </a:r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3819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18718</TotalTime>
  <Words>258</Words>
  <Application>Microsoft Office PowerPoint</Application>
  <PresentationFormat>A4 용지(210x297mm)</PresentationFormat>
  <Paragraphs>77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LG스마트체 Regular</vt:lpstr>
      <vt:lpstr>LG스마트체2.0 Regular</vt:lpstr>
      <vt:lpstr>맑은 고딕</vt:lpstr>
      <vt:lpstr>Arial</vt:lpstr>
      <vt:lpstr>Arial Narrow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정준혁(Junhyuck Jung)[junhk]/선임/인사기획팀</dc:creator>
  <cp:lastModifiedBy>김규환(GYUHWAN KIM)[sisopapa8286]/책임/대전 업무지원팀</cp:lastModifiedBy>
  <cp:revision>289</cp:revision>
  <cp:lastPrinted>2023-09-13T06:05:21Z</cp:lastPrinted>
  <dcterms:created xsi:type="dcterms:W3CDTF">2023-08-30T01:13:09Z</dcterms:created>
  <dcterms:modified xsi:type="dcterms:W3CDTF">2025-07-10T00:24:31Z</dcterms:modified>
</cp:coreProperties>
</file>