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92" r:id="rId2"/>
  </p:sldIdLst>
  <p:sldSz cx="9144000" cy="6858000" type="screen4x3"/>
  <p:notesSz cx="7099300" cy="10234613"/>
  <p:embeddedFontLst>
    <p:embeddedFont>
      <p:font typeface="LG스마트체 Regular" panose="020B0600000101010101" pitchFamily="50" charset="-127"/>
      <p:regular r:id="rId5"/>
    </p:embeddedFont>
    <p:embeddedFont>
      <p:font typeface="맑은 고딕" panose="020B0503020000020004" pitchFamily="50" charset="-127"/>
      <p:regular r:id="rId6"/>
      <p:bold r:id="rId7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4186">
          <p15:clr>
            <a:srgbClr val="A4A3A4"/>
          </p15:clr>
        </p15:guide>
        <p15:guide id="3" pos="2880">
          <p15:clr>
            <a:srgbClr val="A4A3A4"/>
          </p15:clr>
        </p15:guide>
        <p15:guide id="4" orient="horz" pos="4319">
          <p15:clr>
            <a:srgbClr val="A4A3A4"/>
          </p15:clr>
        </p15:guide>
        <p15:guide id="5" pos="5759">
          <p15:clr>
            <a:srgbClr val="A4A3A4"/>
          </p15:clr>
        </p15:guide>
        <p15:guide id="6" pos="5647">
          <p15:clr>
            <a:srgbClr val="A4A3A4"/>
          </p15:clr>
        </p15:guide>
        <p15:guide id="7" orient="horz" pos="346">
          <p15:clr>
            <a:srgbClr val="A4A3A4"/>
          </p15:clr>
        </p15:guide>
        <p15:guide id="8" orient="horz" pos="4201">
          <p15:clr>
            <a:srgbClr val="A4A3A4"/>
          </p15:clr>
        </p15:guide>
        <p15:guide id="9" orient="horz" pos="527">
          <p15:clr>
            <a:srgbClr val="A4A3A4"/>
          </p15:clr>
        </p15:guide>
        <p15:guide id="10" pos="113">
          <p15:clr>
            <a:srgbClr val="A4A3A4"/>
          </p15:clr>
        </p15:guide>
        <p15:guide id="11" orient="horz" pos="391">
          <p15:clr>
            <a:srgbClr val="A4A3A4"/>
          </p15:clr>
        </p15:guide>
        <p15:guide id="12" orient="horz" pos="4247">
          <p15:clr>
            <a:srgbClr val="A4A3A4"/>
          </p15:clr>
        </p15:guide>
        <p15:guide id="13" orient="horz" pos="572">
          <p15:clr>
            <a:srgbClr val="A4A3A4"/>
          </p15:clr>
        </p15:guide>
        <p15:guide id="14" pos="5057">
          <p15:clr>
            <a:srgbClr val="A4A3A4"/>
          </p15:clr>
        </p15:guide>
        <p15:guide id="15" pos="5692">
          <p15:clr>
            <a:srgbClr val="A4A3A4"/>
          </p15:clr>
        </p15:guide>
        <p15:guide id="16" pos="5375">
          <p15:clr>
            <a:srgbClr val="A4A3A4"/>
          </p15:clr>
        </p15:guide>
        <p15:guide id="17" pos="385">
          <p15:clr>
            <a:srgbClr val="A4A3A4"/>
          </p15:clr>
        </p15:guide>
        <p15:guide id="18" pos="256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종근/dandi/서브원" initials="이" lastIdx="1" clrIdx="0">
    <p:extLst>
      <p:ext uri="{19B8F6BF-5375-455C-9EA6-DF929625EA0E}">
        <p15:presenceInfo xmlns:p15="http://schemas.microsoft.com/office/powerpoint/2012/main" userId="S-1-5-21-2119971784-3125889115-3444914974-8433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E6E6"/>
    <a:srgbClr val="FF00FF"/>
    <a:srgbClr val="FFFFCC"/>
    <a:srgbClr val="FC74D8"/>
    <a:srgbClr val="0000CC"/>
    <a:srgbClr val="FF0000"/>
    <a:srgbClr val="B2B2B2"/>
    <a:srgbClr val="000000"/>
    <a:srgbClr val="272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93" autoAdjust="0"/>
    <p:restoredTop sz="96051" autoAdjust="0"/>
  </p:normalViewPr>
  <p:slideViewPr>
    <p:cSldViewPr showGuides="1">
      <p:cViewPr varScale="1">
        <p:scale>
          <a:sx n="105" d="100"/>
          <a:sy n="105" d="100"/>
        </p:scale>
        <p:origin x="2100" y="108"/>
      </p:cViewPr>
      <p:guideLst>
        <p:guide orient="horz" pos="2160"/>
        <p:guide orient="horz" pos="4186"/>
        <p:guide pos="2880"/>
        <p:guide orient="horz" pos="4319"/>
        <p:guide pos="5759"/>
        <p:guide pos="5647"/>
        <p:guide orient="horz" pos="346"/>
        <p:guide orient="horz" pos="4201"/>
        <p:guide orient="horz" pos="527"/>
        <p:guide pos="113"/>
        <p:guide orient="horz" pos="391"/>
        <p:guide orient="horz" pos="4247"/>
        <p:guide orient="horz" pos="572"/>
        <p:guide pos="5057"/>
        <p:guide pos="5692"/>
        <p:guide pos="5375"/>
        <p:guide pos="385"/>
        <p:guide pos="256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143" cy="513284"/>
          </a:xfrm>
          <a:prstGeom prst="rect">
            <a:avLst/>
          </a:prstGeom>
        </p:spPr>
        <p:txBody>
          <a:bodyPr vert="horz" lIns="94630" tIns="47315" rIns="94630" bIns="47315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1503" y="0"/>
            <a:ext cx="3076143" cy="513284"/>
          </a:xfrm>
          <a:prstGeom prst="rect">
            <a:avLst/>
          </a:prstGeom>
        </p:spPr>
        <p:txBody>
          <a:bodyPr vert="horz" lIns="94630" tIns="47315" rIns="94630" bIns="47315" rtlCol="0"/>
          <a:lstStyle>
            <a:lvl1pPr algn="r">
              <a:defRPr sz="1200"/>
            </a:lvl1pPr>
          </a:lstStyle>
          <a:p>
            <a:fld id="{A0F62228-CAE5-4101-9F37-8A3363A75659}" type="datetimeFigureOut">
              <a:rPr lang="ko-KR" altLang="en-US" smtClean="0"/>
              <a:pPr/>
              <a:t>2025-03-04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331"/>
            <a:ext cx="3076143" cy="513284"/>
          </a:xfrm>
          <a:prstGeom prst="rect">
            <a:avLst/>
          </a:prstGeom>
        </p:spPr>
        <p:txBody>
          <a:bodyPr vert="horz" lIns="94630" tIns="47315" rIns="94630" bIns="47315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1503" y="9721331"/>
            <a:ext cx="3076143" cy="513284"/>
          </a:xfrm>
          <a:prstGeom prst="rect">
            <a:avLst/>
          </a:prstGeom>
        </p:spPr>
        <p:txBody>
          <a:bodyPr vert="horz" lIns="94630" tIns="47315" rIns="94630" bIns="47315" rtlCol="0" anchor="b"/>
          <a:lstStyle>
            <a:lvl1pPr algn="r">
              <a:defRPr sz="1200"/>
            </a:lvl1pPr>
          </a:lstStyle>
          <a:p>
            <a:fld id="{89E49348-0B67-4D72-AB33-11F30245CC8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54539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143" cy="511649"/>
          </a:xfrm>
          <a:prstGeom prst="rect">
            <a:avLst/>
          </a:prstGeom>
        </p:spPr>
        <p:txBody>
          <a:bodyPr vert="horz" lIns="94630" tIns="47315" rIns="94630" bIns="47315" rtlCol="0"/>
          <a:lstStyle>
            <a:lvl1pPr algn="l">
              <a:defRPr sz="1200" dirty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503" y="0"/>
            <a:ext cx="3076143" cy="511649"/>
          </a:xfrm>
          <a:prstGeom prst="rect">
            <a:avLst/>
          </a:prstGeom>
        </p:spPr>
        <p:txBody>
          <a:bodyPr vert="horz" lIns="94630" tIns="47315" rIns="94630" bIns="47315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F6DF022C-E1F5-4BB1-A34B-FAEFC5AE6399}" type="datetimeFigureOut">
              <a:rPr lang="ko-KR" altLang="en-US"/>
              <a:pPr>
                <a:defRPr/>
              </a:pPr>
              <a:t>2025-03-04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0" tIns="47315" rIns="94630" bIns="47315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263" y="4861483"/>
            <a:ext cx="5678778" cy="4604841"/>
          </a:xfrm>
          <a:prstGeom prst="rect">
            <a:avLst/>
          </a:prstGeom>
        </p:spPr>
        <p:txBody>
          <a:bodyPr vert="horz" lIns="94630" tIns="47315" rIns="94630" bIns="47315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330"/>
            <a:ext cx="3076143" cy="511648"/>
          </a:xfrm>
          <a:prstGeom prst="rect">
            <a:avLst/>
          </a:prstGeom>
        </p:spPr>
        <p:txBody>
          <a:bodyPr vert="horz" lIns="94630" tIns="47315" rIns="94630" bIns="47315" rtlCol="0" anchor="b"/>
          <a:lstStyle>
            <a:lvl1pPr algn="l">
              <a:defRPr sz="1200" dirty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503" y="9721330"/>
            <a:ext cx="3076143" cy="511648"/>
          </a:xfrm>
          <a:prstGeom prst="rect">
            <a:avLst/>
          </a:prstGeom>
        </p:spPr>
        <p:txBody>
          <a:bodyPr vert="horz" lIns="94630" tIns="47315" rIns="94630" bIns="47315" rtlCol="0" anchor="b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81B96BF0-D2B1-4964-8B2F-89004441ECA2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85647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5E156-8D46-4336-8812-4AF59D9F4E4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D2F43B-ECCC-4E9B-AF0A-B9B16139EEB2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BAB8E9-60C0-4131-9001-E79280F1392C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555623-A00A-4228-93E4-D2D8C500B58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FA612D-DFE8-4A66-B995-E02B42280628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3A2F3-A752-41E9-88A8-0C6D28AC5AB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86E077-098C-4160-B7C9-44423B86BF2F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AA956B-FA34-44F1-82FA-D41B9E80667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2579B1-386A-4972-B368-F5237B25BF6D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A3EEE-905C-48D0-997A-1EBA51F2AA6F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63EEEF-5283-4086-AC8A-FCDFCB60A82B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765468-6B2A-4017-8F13-2C98AFC277E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46B4B3F1-E5F3-4A17-BC19-31189CBF9C95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60358191-A0C8-06DA-C1AF-27C4837C6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20" y="105287"/>
            <a:ext cx="58753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tabLst>
                <a:tab pos="1257300" algn="l"/>
              </a:tabLst>
            </a:pPr>
            <a:r>
              <a:rPr lang="ko-KR" altLang="en-US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사택 어린이집 주방 바닥 </a:t>
            </a:r>
            <a:r>
              <a:rPr lang="ko-KR" altLang="en-US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트렌치</a:t>
            </a:r>
            <a:r>
              <a:rPr lang="ko-KR" altLang="en-US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바닥 </a:t>
            </a:r>
            <a:r>
              <a:rPr lang="ko-KR" altLang="en-US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줄눈</a:t>
            </a:r>
            <a:r>
              <a:rPr lang="ko-KR" altLang="en-US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부분 </a:t>
            </a:r>
            <a:r>
              <a:rPr lang="ko-KR" altLang="en-US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보수 작업 현황</a:t>
            </a:r>
            <a:endParaRPr lang="en-US" altLang="ko-KR" sz="10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2D5F73F7-A48A-0911-9673-3AA7C5641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1162" y="149225"/>
            <a:ext cx="129875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S&amp;I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운영센터 사택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FCF89CF-D48A-BB16-0DFD-312FF39C1715}"/>
              </a:ext>
            </a:extLst>
          </p:cNvPr>
          <p:cNvCxnSpPr/>
          <p:nvPr/>
        </p:nvCxnSpPr>
        <p:spPr>
          <a:xfrm>
            <a:off x="0" y="505618"/>
            <a:ext cx="9144000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2">
            <a:extLst>
              <a:ext uri="{FF2B5EF4-FFF2-40B4-BE49-F238E27FC236}">
                <a16:creationId xmlns:a16="http://schemas.microsoft.com/office/drawing/2014/main" id="{FDB8FE25-E3B1-1A78-58CA-7CD193EBE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6418" y="585982"/>
            <a:ext cx="83038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■ 부분 보수일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( 2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28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: 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보양 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1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줄눈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제거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누수오염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  </a:t>
            </a:r>
            <a:r>
              <a:rPr lang="ko-KR" altLang="en-US" sz="11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줄눈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홈 내부 건조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1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열풍기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  </a:t>
            </a:r>
            <a:r>
              <a:rPr lang="ko-KR" altLang="en-US" sz="11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줄눈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홈 내부 및 바닥 타일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오염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백색 시멘트 작업</a:t>
            </a:r>
            <a:endParaRPr lang="ko-KR" altLang="en-US" sz="1100" b="1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738F9C15-7E42-F4B5-70A5-63411AE7CA2F}"/>
              </a:ext>
            </a:extLst>
          </p:cNvPr>
          <p:cNvGrpSpPr/>
          <p:nvPr/>
        </p:nvGrpSpPr>
        <p:grpSpPr>
          <a:xfrm>
            <a:off x="293076" y="815268"/>
            <a:ext cx="7859314" cy="5806745"/>
            <a:chOff x="311364" y="815268"/>
            <a:chExt cx="7859314" cy="580674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FA423500-B1FA-F97E-B409-0DCAC877688B}"/>
                </a:ext>
              </a:extLst>
            </p:cNvPr>
            <p:cNvGrpSpPr/>
            <p:nvPr/>
          </p:nvGrpSpPr>
          <p:grpSpPr>
            <a:xfrm>
              <a:off x="311364" y="815268"/>
              <a:ext cx="7859314" cy="1879251"/>
              <a:chOff x="404709" y="920043"/>
              <a:chExt cx="7859314" cy="1879251"/>
            </a:xfrm>
          </p:grpSpPr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195D6A92-5E63-FD74-1F25-5B6090EC0038}"/>
                  </a:ext>
                </a:extLst>
              </p:cNvPr>
              <p:cNvGrpSpPr/>
              <p:nvPr/>
            </p:nvGrpSpPr>
            <p:grpSpPr>
              <a:xfrm>
                <a:off x="404709" y="976483"/>
                <a:ext cx="7859314" cy="1822811"/>
                <a:chOff x="404709" y="976483"/>
                <a:chExt cx="7859314" cy="1822811"/>
              </a:xfrm>
            </p:grpSpPr>
            <p:pic>
              <p:nvPicPr>
                <p:cNvPr id="7" name="그림 6">
                  <a:extLst>
                    <a:ext uri="{FF2B5EF4-FFF2-40B4-BE49-F238E27FC236}">
                      <a16:creationId xmlns:a16="http://schemas.microsoft.com/office/drawing/2014/main" id="{7CC8B863-66A2-99EE-60F6-3650A5D1B3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r="15839"/>
                <a:stretch/>
              </p:blipFill>
              <p:spPr>
                <a:xfrm>
                  <a:off x="404709" y="976483"/>
                  <a:ext cx="2727131" cy="1822811"/>
                </a:xfrm>
                <a:prstGeom prst="rect">
                  <a:avLst/>
                </a:prstGeom>
              </p:spPr>
            </p:pic>
            <p:pic>
              <p:nvPicPr>
                <p:cNvPr id="21" name="그림 20">
                  <a:extLst>
                    <a:ext uri="{FF2B5EF4-FFF2-40B4-BE49-F238E27FC236}">
                      <a16:creationId xmlns:a16="http://schemas.microsoft.com/office/drawing/2014/main" id="{9BFCD1A5-E8D6-AC09-9457-FFB0219450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r="29174"/>
                <a:stretch/>
              </p:blipFill>
              <p:spPr>
                <a:xfrm>
                  <a:off x="3194304" y="976483"/>
                  <a:ext cx="2291017" cy="1819635"/>
                </a:xfrm>
                <a:prstGeom prst="rect">
                  <a:avLst/>
                </a:prstGeom>
              </p:spPr>
            </p:pic>
            <p:pic>
              <p:nvPicPr>
                <p:cNvPr id="24" name="Picture 2">
                  <a:extLst>
                    <a:ext uri="{FF2B5EF4-FFF2-40B4-BE49-F238E27FC236}">
                      <a16:creationId xmlns:a16="http://schemas.microsoft.com/office/drawing/2014/main" id="{E401D8F0-AC90-85AA-8A56-F70BEC80B99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870" t="9122" r="18743"/>
                <a:stretch/>
              </p:blipFill>
              <p:spPr bwMode="auto">
                <a:xfrm>
                  <a:off x="5544954" y="976483"/>
                  <a:ext cx="2719069" cy="181963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29" name="Text Box 2">
                <a:extLst>
                  <a:ext uri="{FF2B5EF4-FFF2-40B4-BE49-F238E27FC236}">
                    <a16:creationId xmlns:a16="http://schemas.microsoft.com/office/drawing/2014/main" id="{8EA874D0-8CF1-5335-2C40-1842BFB984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573" y="926999"/>
                <a:ext cx="1068643" cy="2154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◎ </a:t>
                </a:r>
                <a:r>
                  <a:rPr lang="ko-KR" altLang="en-US" sz="1200" b="1" dirty="0" err="1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비닐보양</a:t>
                </a:r>
                <a:endParaRPr lang="en-US" altLang="ko-KR" sz="1100" b="1" dirty="0">
                  <a:highlight>
                    <a:srgbClr val="FFFF00"/>
                  </a:highlight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33" name="Text Box 2">
                <a:extLst>
                  <a:ext uri="{FF2B5EF4-FFF2-40B4-BE49-F238E27FC236}">
                    <a16:creationId xmlns:a16="http://schemas.microsoft.com/office/drawing/2014/main" id="{CC3D098F-FAB3-C42C-7D9B-565D90479E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1866" y="920043"/>
                <a:ext cx="1268582" cy="2224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◎ </a:t>
                </a:r>
                <a:r>
                  <a:rPr lang="ko-KR" altLang="en-US" sz="1200" b="1" dirty="0" err="1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트렌치</a:t>
                </a:r>
                <a:r>
                  <a:rPr lang="ko-KR" altLang="en-US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홈 건조</a:t>
                </a:r>
                <a:r>
                  <a:rPr lang="en-US" altLang="ko-KR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-1</a:t>
                </a:r>
                <a:endParaRPr lang="en-US" altLang="ko-KR" sz="1100" b="1" dirty="0">
                  <a:highlight>
                    <a:srgbClr val="FFFF00"/>
                  </a:highlight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37" name="Text Box 2">
                <a:extLst>
                  <a:ext uri="{FF2B5EF4-FFF2-40B4-BE49-F238E27FC236}">
                    <a16:creationId xmlns:a16="http://schemas.microsoft.com/office/drawing/2014/main" id="{64BC70F5-E3E4-51F9-0D80-5098DE3984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44954" y="920043"/>
                <a:ext cx="1885448" cy="2192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◎ 신규 </a:t>
                </a:r>
                <a:r>
                  <a:rPr lang="ko-KR" altLang="en-US" sz="1200" b="1" dirty="0" err="1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줄눈</a:t>
                </a:r>
                <a:r>
                  <a:rPr lang="ko-KR" altLang="en-US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작업 </a:t>
                </a:r>
                <a:r>
                  <a:rPr lang="en-US" altLang="ko-KR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(</a:t>
                </a:r>
                <a:r>
                  <a:rPr lang="ko-KR" altLang="en-US" sz="1200" b="1" dirty="0" err="1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트렌치</a:t>
                </a:r>
                <a:r>
                  <a:rPr lang="ko-KR" altLang="en-US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</a:t>
                </a:r>
                <a:r>
                  <a:rPr lang="en-US" altLang="ko-KR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)-1</a:t>
                </a:r>
                <a:endParaRPr lang="en-US" altLang="ko-KR" sz="1100" b="1" dirty="0">
                  <a:highlight>
                    <a:srgbClr val="FFFF00"/>
                  </a:highlight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EC051938-C61E-3F34-646D-819F691D755A}"/>
                </a:ext>
              </a:extLst>
            </p:cNvPr>
            <p:cNvGrpSpPr/>
            <p:nvPr/>
          </p:nvGrpSpPr>
          <p:grpSpPr>
            <a:xfrm>
              <a:off x="311364" y="4722194"/>
              <a:ext cx="7859314" cy="1899819"/>
              <a:chOff x="404709" y="4760294"/>
              <a:chExt cx="7859314" cy="1899819"/>
            </a:xfrm>
          </p:grpSpPr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20321BC7-B288-ECB8-9948-8A2FAFBCED59}"/>
                  </a:ext>
                </a:extLst>
              </p:cNvPr>
              <p:cNvGrpSpPr/>
              <p:nvPr/>
            </p:nvGrpSpPr>
            <p:grpSpPr>
              <a:xfrm>
                <a:off x="404709" y="4786719"/>
                <a:ext cx="7859314" cy="1873394"/>
                <a:chOff x="404709" y="4786719"/>
                <a:chExt cx="7859314" cy="1873394"/>
              </a:xfrm>
            </p:grpSpPr>
            <p:pic>
              <p:nvPicPr>
                <p:cNvPr id="9" name="그림 8">
                  <a:extLst>
                    <a:ext uri="{FF2B5EF4-FFF2-40B4-BE49-F238E27FC236}">
                      <a16:creationId xmlns:a16="http://schemas.microsoft.com/office/drawing/2014/main" id="{706B7E94-ED09-6ECB-85F4-15FCD57682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r="15839"/>
                <a:stretch/>
              </p:blipFill>
              <p:spPr>
                <a:xfrm>
                  <a:off x="404709" y="4837302"/>
                  <a:ext cx="2727131" cy="1822811"/>
                </a:xfrm>
                <a:prstGeom prst="rect">
                  <a:avLst/>
                </a:prstGeom>
              </p:spPr>
            </p:pic>
            <p:pic>
              <p:nvPicPr>
                <p:cNvPr id="20" name="그림 19">
                  <a:extLst>
                    <a:ext uri="{FF2B5EF4-FFF2-40B4-BE49-F238E27FC236}">
                      <a16:creationId xmlns:a16="http://schemas.microsoft.com/office/drawing/2014/main" id="{52499CB3-657F-9EF9-E74C-D4500C69B6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34785" r="41432" b="66478"/>
                <a:stretch/>
              </p:blipFill>
              <p:spPr>
                <a:xfrm>
                  <a:off x="3194304" y="4843653"/>
                  <a:ext cx="2291016" cy="1816459"/>
                </a:xfrm>
                <a:prstGeom prst="rect">
                  <a:avLst/>
                </a:prstGeom>
              </p:spPr>
            </p:pic>
            <p:pic>
              <p:nvPicPr>
                <p:cNvPr id="26" name="그림 25">
                  <a:extLst>
                    <a:ext uri="{FF2B5EF4-FFF2-40B4-BE49-F238E27FC236}">
                      <a16:creationId xmlns:a16="http://schemas.microsoft.com/office/drawing/2014/main" id="{77E73A67-82F2-6429-D93A-3AC9115467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l="15895" t="1495" r="20319" b="22489"/>
                <a:stretch/>
              </p:blipFill>
              <p:spPr>
                <a:xfrm>
                  <a:off x="5544954" y="4837303"/>
                  <a:ext cx="2719069" cy="1822810"/>
                </a:xfrm>
                <a:prstGeom prst="rect">
                  <a:avLst/>
                </a:prstGeom>
              </p:spPr>
            </p:pic>
            <p:sp>
              <p:nvSpPr>
                <p:cNvPr id="34" name="Text Box 2">
                  <a:extLst>
                    <a:ext uri="{FF2B5EF4-FFF2-40B4-BE49-F238E27FC236}">
                      <a16:creationId xmlns:a16="http://schemas.microsoft.com/office/drawing/2014/main" id="{E51A2C4C-17A9-9ADB-23B1-554F6FE9DE6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4573" y="4800049"/>
                  <a:ext cx="1267107" cy="19384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anchor="ctr" anchorCtr="0">
                  <a:no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1200" b="1" dirty="0">
                      <a:highlight>
                        <a:srgbClr val="FFFF00"/>
                      </a:highlight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◎ 기존 </a:t>
                  </a:r>
                  <a:r>
                    <a:rPr lang="ko-KR" altLang="en-US" sz="1200" b="1" dirty="0" err="1">
                      <a:highlight>
                        <a:srgbClr val="FFFF00"/>
                      </a:highlight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줄눈</a:t>
                  </a:r>
                  <a:r>
                    <a:rPr lang="ko-KR" altLang="en-US" sz="1200" b="1" dirty="0">
                      <a:highlight>
                        <a:srgbClr val="FFFF00"/>
                      </a:highlight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제거</a:t>
                  </a:r>
                  <a:r>
                    <a:rPr lang="en-US" altLang="ko-KR" sz="1200" b="1" dirty="0">
                      <a:highlight>
                        <a:srgbClr val="FFFF00"/>
                      </a:highlight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-2</a:t>
                  </a:r>
                  <a:endParaRPr lang="en-US" altLang="ko-KR" sz="11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36" name="Text Box 2">
                  <a:extLst>
                    <a:ext uri="{FF2B5EF4-FFF2-40B4-BE49-F238E27FC236}">
                      <a16:creationId xmlns:a16="http://schemas.microsoft.com/office/drawing/2014/main" id="{133069CA-51FA-78F7-C88C-1F27EECE2C7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21866" y="4786719"/>
                  <a:ext cx="1268582" cy="22240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0" tIns="0" rIns="0" bIns="0" anchor="ctr" anchorCtr="0">
                  <a:no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1200" b="1" dirty="0">
                      <a:highlight>
                        <a:srgbClr val="FFFF00"/>
                      </a:highlight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◎ </a:t>
                  </a:r>
                  <a:r>
                    <a:rPr lang="ko-KR" altLang="en-US" sz="1200" b="1" dirty="0" err="1">
                      <a:highlight>
                        <a:srgbClr val="FFFF00"/>
                      </a:highlight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트렌치</a:t>
                  </a:r>
                  <a:r>
                    <a:rPr lang="ko-KR" altLang="en-US" sz="1200" b="1" dirty="0">
                      <a:highlight>
                        <a:srgbClr val="FFFF00"/>
                      </a:highlight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홈 건조</a:t>
                  </a:r>
                  <a:r>
                    <a:rPr lang="en-US" altLang="ko-KR" sz="1200" b="1" dirty="0">
                      <a:highlight>
                        <a:srgbClr val="FFFF00"/>
                      </a:highlight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-3</a:t>
                  </a:r>
                  <a:endParaRPr lang="en-US" altLang="ko-KR" sz="11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</p:grpSp>
          <p:sp>
            <p:nvSpPr>
              <p:cNvPr id="39" name="Text Box 2">
                <a:extLst>
                  <a:ext uri="{FF2B5EF4-FFF2-40B4-BE49-F238E27FC236}">
                    <a16:creationId xmlns:a16="http://schemas.microsoft.com/office/drawing/2014/main" id="{C027FB6D-E043-73E6-5446-63806EF21B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44954" y="4760294"/>
                <a:ext cx="2173480" cy="2434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◎ 신규 </a:t>
                </a:r>
                <a:r>
                  <a:rPr lang="ko-KR" altLang="en-US" sz="1200" b="1" dirty="0" err="1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줄눈</a:t>
                </a:r>
                <a:r>
                  <a:rPr lang="ko-KR" altLang="en-US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작업</a:t>
                </a:r>
                <a:r>
                  <a:rPr lang="en-US" altLang="ko-KR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( </a:t>
                </a:r>
                <a:r>
                  <a:rPr lang="ko-KR" altLang="en-US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훼손 바닥 타일</a:t>
                </a:r>
                <a:r>
                  <a:rPr lang="en-US" altLang="ko-KR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)</a:t>
                </a:r>
                <a:endParaRPr lang="en-US" altLang="ko-KR" sz="1100" b="1" dirty="0">
                  <a:highlight>
                    <a:srgbClr val="FFFF00"/>
                  </a:highlight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3B6BC968-971E-0125-5693-39CF2C0A3F8C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>
              <a:off x="1674930" y="2676231"/>
              <a:ext cx="0" cy="171144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0C1DC0FE-A72A-40A4-DBFF-F77D2A28EFA4}"/>
                </a:ext>
              </a:extLst>
            </p:cNvPr>
            <p:cNvGrpSpPr/>
            <p:nvPr/>
          </p:nvGrpSpPr>
          <p:grpSpPr>
            <a:xfrm>
              <a:off x="311364" y="2815639"/>
              <a:ext cx="7859314" cy="1854547"/>
              <a:chOff x="404709" y="2851081"/>
              <a:chExt cx="7859314" cy="1854547"/>
            </a:xfrm>
          </p:grpSpPr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0875D6D4-823C-526E-3015-0C58FC3DFD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r="15839"/>
              <a:stretch/>
            </p:blipFill>
            <p:spPr>
              <a:xfrm>
                <a:off x="404709" y="2882817"/>
                <a:ext cx="2727131" cy="1822811"/>
              </a:xfrm>
              <a:prstGeom prst="rect">
                <a:avLst/>
              </a:prstGeom>
            </p:spPr>
          </p:pic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B7448EBA-DF4D-D1EE-81A3-3D9ADA0DE4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r="29174"/>
              <a:stretch/>
            </p:blipFill>
            <p:spPr>
              <a:xfrm>
                <a:off x="3194304" y="2885992"/>
                <a:ext cx="2291017" cy="1819636"/>
              </a:xfrm>
              <a:prstGeom prst="rect">
                <a:avLst/>
              </a:prstGeom>
            </p:spPr>
          </p:pic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3A0AFAE2-17F8-6E89-80B4-1FEE9AA3D7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l="14079" t="-1" r="21347" b="23181"/>
              <a:stretch/>
            </p:blipFill>
            <p:spPr>
              <a:xfrm>
                <a:off x="5544954" y="2882817"/>
                <a:ext cx="2719069" cy="1819635"/>
              </a:xfrm>
              <a:prstGeom prst="rect">
                <a:avLst/>
              </a:prstGeom>
            </p:spPr>
          </p:pic>
          <p:sp>
            <p:nvSpPr>
              <p:cNvPr id="31" name="Text Box 2">
                <a:extLst>
                  <a:ext uri="{FF2B5EF4-FFF2-40B4-BE49-F238E27FC236}">
                    <a16:creationId xmlns:a16="http://schemas.microsoft.com/office/drawing/2014/main" id="{BDD9E162-09E8-6B58-8B43-800B3236C2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573" y="2882817"/>
                <a:ext cx="1267107" cy="1938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◎ 기존 </a:t>
                </a:r>
                <a:r>
                  <a:rPr lang="ko-KR" altLang="en-US" sz="1200" b="1" dirty="0" err="1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줄눈</a:t>
                </a:r>
                <a:r>
                  <a:rPr lang="ko-KR" altLang="en-US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제거</a:t>
                </a:r>
                <a:r>
                  <a:rPr lang="en-US" altLang="ko-KR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-1</a:t>
                </a:r>
                <a:endParaRPr lang="en-US" altLang="ko-KR" sz="1100" b="1" dirty="0">
                  <a:highlight>
                    <a:srgbClr val="FFFF00"/>
                  </a:highlight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35" name="Text Box 2">
                <a:extLst>
                  <a:ext uri="{FF2B5EF4-FFF2-40B4-BE49-F238E27FC236}">
                    <a16:creationId xmlns:a16="http://schemas.microsoft.com/office/drawing/2014/main" id="{861BA1E5-2ECC-7F0E-0E01-43BADADE12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1866" y="2851081"/>
                <a:ext cx="1268582" cy="2224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◎ </a:t>
                </a:r>
                <a:r>
                  <a:rPr lang="ko-KR" altLang="en-US" sz="1200" b="1" dirty="0" err="1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트렌치</a:t>
                </a:r>
                <a:r>
                  <a:rPr lang="ko-KR" altLang="en-US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홈 건조</a:t>
                </a:r>
                <a:r>
                  <a:rPr lang="en-US" altLang="ko-KR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-2</a:t>
                </a:r>
                <a:endParaRPr lang="en-US" altLang="ko-KR" sz="1100" b="1" dirty="0">
                  <a:highlight>
                    <a:srgbClr val="FFFF00"/>
                  </a:highlight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40" name="Text Box 2">
                <a:extLst>
                  <a:ext uri="{FF2B5EF4-FFF2-40B4-BE49-F238E27FC236}">
                    <a16:creationId xmlns:a16="http://schemas.microsoft.com/office/drawing/2014/main" id="{B887C5DD-0531-C449-0A41-9A774ED468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44954" y="2852668"/>
                <a:ext cx="1885448" cy="2192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◎ 신규 </a:t>
                </a:r>
                <a:r>
                  <a:rPr lang="ko-KR" altLang="en-US" sz="1200" b="1" dirty="0" err="1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줄눈</a:t>
                </a:r>
                <a:r>
                  <a:rPr lang="ko-KR" altLang="en-US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작업 </a:t>
                </a:r>
                <a:r>
                  <a:rPr lang="en-US" altLang="ko-KR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(</a:t>
                </a:r>
                <a:r>
                  <a:rPr lang="ko-KR" altLang="en-US" sz="1200" b="1" dirty="0" err="1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트렌치</a:t>
                </a:r>
                <a:r>
                  <a:rPr lang="ko-KR" altLang="en-US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 </a:t>
                </a:r>
                <a:r>
                  <a:rPr lang="en-US" altLang="ko-KR" sz="1200" b="1" dirty="0">
                    <a:highlight>
                      <a:srgbClr val="FFFF00"/>
                    </a:highlight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)-2 </a:t>
                </a:r>
                <a:endParaRPr lang="en-US" altLang="ko-KR" sz="1100" b="1" dirty="0">
                  <a:highlight>
                    <a:srgbClr val="FFFF00"/>
                  </a:highlight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FB7BF7F8-B7EF-AFBF-52E9-2FF7BCBC687B}"/>
                </a:ext>
              </a:extLst>
            </p:cNvPr>
            <p:cNvCxnSpPr>
              <a:cxnSpLocks/>
            </p:cNvCxnSpPr>
            <p:nvPr/>
          </p:nvCxnSpPr>
          <p:spPr>
            <a:xfrm>
              <a:off x="1674930" y="4659150"/>
              <a:ext cx="0" cy="180669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0999DBAB-C29D-75CF-AE1D-7808D99A1369}"/>
                </a:ext>
              </a:extLst>
            </p:cNvPr>
            <p:cNvCxnSpPr>
              <a:cxnSpLocks/>
            </p:cNvCxnSpPr>
            <p:nvPr/>
          </p:nvCxnSpPr>
          <p:spPr>
            <a:xfrm>
              <a:off x="4246467" y="2676231"/>
              <a:ext cx="0" cy="171144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A9D2F428-2D1A-7FDC-4122-AF05ED881D93}"/>
                </a:ext>
              </a:extLst>
            </p:cNvPr>
            <p:cNvCxnSpPr>
              <a:cxnSpLocks/>
            </p:cNvCxnSpPr>
            <p:nvPr/>
          </p:nvCxnSpPr>
          <p:spPr>
            <a:xfrm>
              <a:off x="4246467" y="4659150"/>
              <a:ext cx="0" cy="180669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DA0EFC88-730B-BEF0-CD18-041965643129}"/>
                </a:ext>
              </a:extLst>
            </p:cNvPr>
            <p:cNvCxnSpPr>
              <a:cxnSpLocks/>
            </p:cNvCxnSpPr>
            <p:nvPr/>
          </p:nvCxnSpPr>
          <p:spPr>
            <a:xfrm>
              <a:off x="6710903" y="2676231"/>
              <a:ext cx="0" cy="171144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990B4641-47C3-A119-CCFA-F969E757F529}"/>
                </a:ext>
              </a:extLst>
            </p:cNvPr>
            <p:cNvCxnSpPr>
              <a:cxnSpLocks/>
            </p:cNvCxnSpPr>
            <p:nvPr/>
          </p:nvCxnSpPr>
          <p:spPr>
            <a:xfrm>
              <a:off x="6710903" y="4659150"/>
              <a:ext cx="0" cy="180669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5E9AC1BA-443F-642B-D49C-B1FF79679A80}"/>
                </a:ext>
              </a:extLst>
            </p:cNvPr>
            <p:cNvCxnSpPr>
              <a:cxnSpLocks/>
            </p:cNvCxnSpPr>
            <p:nvPr/>
          </p:nvCxnSpPr>
          <p:spPr>
            <a:xfrm>
              <a:off x="3057545" y="871708"/>
              <a:ext cx="0" cy="575030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F9A43087-FF2E-475C-B596-66421D856A52}"/>
                </a:ext>
              </a:extLst>
            </p:cNvPr>
            <p:cNvCxnSpPr>
              <a:cxnSpLocks/>
            </p:cNvCxnSpPr>
            <p:nvPr/>
          </p:nvCxnSpPr>
          <p:spPr>
            <a:xfrm>
              <a:off x="5409945" y="871708"/>
              <a:ext cx="0" cy="575030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3727A89A-7B50-C081-16A0-504034B75E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0781" y="892146"/>
            <a:ext cx="1780003" cy="1232310"/>
          </a:xfrm>
          <a:prstGeom prst="rect">
            <a:avLst/>
          </a:prstGeom>
          <a:ln w="57150">
            <a:solidFill>
              <a:schemeClr val="bg1"/>
            </a:solidFill>
          </a:ln>
        </p:spPr>
      </p:pic>
      <p:sp>
        <p:nvSpPr>
          <p:cNvPr id="46" name="Text Box 2">
            <a:extLst>
              <a:ext uri="{FF2B5EF4-FFF2-40B4-BE49-F238E27FC236}">
                <a16:creationId xmlns:a16="http://schemas.microsoft.com/office/drawing/2014/main" id="{3D3AE077-8645-498A-D997-A4EFDBBE7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4204" y="647091"/>
            <a:ext cx="76976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200" b="1" dirty="0">
                <a:highlight>
                  <a:srgbClr val="00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◆ </a:t>
            </a:r>
            <a:r>
              <a:rPr lang="ko-KR" altLang="en-US" sz="1200" b="1" dirty="0" err="1">
                <a:highlight>
                  <a:srgbClr val="00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키플랜</a:t>
            </a:r>
            <a:endParaRPr lang="ko-KR" altLang="en-US" sz="1200" b="1" dirty="0">
              <a:highlight>
                <a:srgbClr val="00FF00"/>
              </a:highlight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652592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80323</TotalTime>
  <Words>113</Words>
  <Application>Microsoft Office PowerPoint</Application>
  <PresentationFormat>화면 슬라이드 쇼(4:3)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굴림</vt:lpstr>
      <vt:lpstr>맑은 고딕</vt:lpstr>
      <vt:lpstr>LG스마트체 Regular</vt:lpstr>
      <vt:lpstr>기본 디자인</vt:lpstr>
      <vt:lpstr>PowerPoint 프레젠테이션</vt:lpstr>
    </vt:vector>
  </TitlesOfParts>
  <Company>SERVEONE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SERVEONE</dc:creator>
  <cp:lastModifiedBy>종근 이</cp:lastModifiedBy>
  <cp:revision>9649</cp:revision>
  <cp:lastPrinted>2020-02-23T21:33:24Z</cp:lastPrinted>
  <dcterms:created xsi:type="dcterms:W3CDTF">2011-01-17T23:14:04Z</dcterms:created>
  <dcterms:modified xsi:type="dcterms:W3CDTF">2025-03-03T20:22:47Z</dcterms:modified>
</cp:coreProperties>
</file>