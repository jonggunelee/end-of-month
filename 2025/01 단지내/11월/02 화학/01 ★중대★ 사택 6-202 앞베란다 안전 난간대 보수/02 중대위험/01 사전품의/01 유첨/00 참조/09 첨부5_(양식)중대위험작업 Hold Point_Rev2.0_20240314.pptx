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1" r:id="rId2"/>
    <p:sldId id="280" r:id="rId3"/>
    <p:sldId id="282" r:id="rId4"/>
    <p:sldId id="275" r:id="rId5"/>
    <p:sldId id="284" r:id="rId6"/>
    <p:sldId id="285" r:id="rId7"/>
    <p:sldId id="286" r:id="rId8"/>
    <p:sldId id="277" r:id="rId9"/>
    <p:sldId id="273" r:id="rId10"/>
    <p:sldId id="283" r:id="rId11"/>
    <p:sldId id="276" r:id="rId12"/>
    <p:sldId id="272" r:id="rId13"/>
    <p:sldId id="278" r:id="rId14"/>
    <p:sldId id="274" r:id="rId15"/>
    <p:sldId id="279" r:id="rId16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9" userDrawn="1">
          <p15:clr>
            <a:srgbClr val="A4A3A4"/>
          </p15:clr>
        </p15:guide>
        <p15:guide id="3" orient="horz" pos="1706">
          <p15:clr>
            <a:srgbClr val="A4A3A4"/>
          </p15:clr>
        </p15:guide>
        <p15:guide id="4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4660" autoAdjust="0"/>
  </p:normalViewPr>
  <p:slideViewPr>
    <p:cSldViewPr showGuides="1">
      <p:cViewPr varScale="1">
        <p:scale>
          <a:sx n="78" d="100"/>
          <a:sy n="78" d="100"/>
        </p:scale>
        <p:origin x="108" y="810"/>
      </p:cViewPr>
      <p:guideLst>
        <p:guide orient="horz" pos="3339"/>
        <p:guide orient="horz" pos="17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147C50-B012-4247-A61F-B7316BF2BF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3053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72D97-4539-4DCC-8CEE-144ACF03C2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56BE1-2CAA-40EF-B71A-3287D86857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B59B4-716B-46A9-8201-5468C1785D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E7912-FB56-441B-8B87-78ED946D75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838D1-AC5B-4B25-B576-49208D4235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6A093-DA79-478B-949F-225C25022E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881DA-728E-4074-9A7D-ABDAB8A5438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5AF5F-7A4A-40AA-B461-405EC5604E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91A80-52FA-4CF9-AE71-47EC998F27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BAC06-D2EC-47CE-BAA2-E454E4B9E1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57E7B-D4F6-4786-A9EB-E0A5FA82F5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B85EFC6-5205-4214-B56C-71C68C00FC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448205"/>
              </p:ext>
            </p:extLst>
          </p:nvPr>
        </p:nvGraphicFramePr>
        <p:xfrm>
          <a:off x="128464" y="692696"/>
          <a:ext cx="9562271" cy="588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89073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1-1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외벽 로프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자체제어하강기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 상태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작업하중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(22.9kN 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 인증서 확인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및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 손상 여부 확인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부식 또는 과도하게 닳거나 손상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변형된 부분 발견 시 폐기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1866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작업발판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탑승 前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 결속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로프를 결속할 시설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청소용고리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콘크리트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철골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철재 구조물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의 상태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고정상태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강도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부식여부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 확인하고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작업로프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생명로프를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각각 </a:t>
                      </a:r>
                      <a:r>
                        <a:rPr lang="en-US" altLang="ko-KR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 지점에 매듭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실시</a:t>
                      </a:r>
                      <a:endParaRPr lang="en-US" altLang="ko-KR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매듭 지점에는 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자가 임의로 손을 대지 못하도록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자물쇠를 설치하거나 “작업중</a:t>
                      </a:r>
                      <a:r>
                        <a:rPr lang="en-US" altLang="ko-KR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매듭해체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금지” 표지를 부착</a:t>
                      </a:r>
                      <a:endParaRPr lang="en-US" altLang="ko-KR" sz="1200" b="1" u="none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로프와 건물 벽체가 접하는 모서리에 로프 보호를 위한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로프보호대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</a:t>
                      </a:r>
                      <a:endParaRPr lang="en-US" altLang="ko-KR" sz="1200" b="1" u="none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735610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추락방지대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로립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체결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추락방지장치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아삽락 등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설치방향</a:t>
                      </a:r>
                      <a:r>
                        <a:rPr lang="ko-KR" altLang="en-US" sz="1200" b="0" u="none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적정한지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확인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아래 방향으로 순간적인 힘을 가해 흘러 내려가지 않는지 확인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하고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추락방지장치</a:t>
                      </a:r>
                      <a:r>
                        <a:rPr lang="en-US" altLang="ko-KR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아삽락 등</a:t>
                      </a:r>
                      <a:r>
                        <a:rPr lang="en-US" altLang="ko-KR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생명로프에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체결한 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상태에서 작업 시작</a:t>
                      </a:r>
                      <a:endParaRPr lang="en-US" altLang="ko-KR" sz="1200" b="1" u="none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861266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b="16855"/>
          <a:stretch/>
        </p:blipFill>
        <p:spPr>
          <a:xfrm>
            <a:off x="8718877" y="2072426"/>
            <a:ext cx="753632" cy="56672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1" t="15751" r="17697" b="12265"/>
          <a:stretch/>
        </p:blipFill>
        <p:spPr>
          <a:xfrm>
            <a:off x="8718877" y="2682964"/>
            <a:ext cx="753632" cy="56698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257" y="3308170"/>
            <a:ext cx="750873" cy="57781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833B1B-9CDE-45EF-B77C-32ED7CCE7904}"/>
              </a:ext>
            </a:extLst>
          </p:cNvPr>
          <p:cNvSpPr/>
          <p:nvPr/>
        </p:nvSpPr>
        <p:spPr>
          <a:xfrm>
            <a:off x="4088904" y="2801091"/>
            <a:ext cx="2952328" cy="507079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기본 중대위험작업 </a:t>
            </a: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Hold Point</a:t>
            </a: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656F65-1B4A-4523-8C90-884C12E80CE6}"/>
              </a:ext>
            </a:extLst>
          </p:cNvPr>
          <p:cNvSpPr/>
          <p:nvPr/>
        </p:nvSpPr>
        <p:spPr>
          <a:xfrm>
            <a:off x="2983311" y="5315686"/>
            <a:ext cx="5426073" cy="849618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현장 특성을 반영하여 </a:t>
            </a: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Hold Point</a:t>
            </a: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추가</a:t>
            </a: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(</a:t>
            </a: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필요하다 판단될 경우</a:t>
            </a: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텍스트로 구체적으로 설명이 되어 있으면 사진 예시가 없어도 됨</a:t>
            </a:r>
            <a:endParaRPr kumimoji="0" lang="en-US" altLang="ko-KR" sz="1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490821-516C-437B-9C0F-37BEADE046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678" t="23344"/>
          <a:stretch/>
        </p:blipFill>
        <p:spPr>
          <a:xfrm>
            <a:off x="8749972" y="3992011"/>
            <a:ext cx="696357" cy="73076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B000D4E-CA71-4495-BCF1-065A9654C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549" y="1245707"/>
            <a:ext cx="778593" cy="7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48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969081"/>
              </p:ext>
            </p:extLst>
          </p:nvPr>
        </p:nvGraphicFramePr>
        <p:xfrm>
          <a:off x="128464" y="692696"/>
          <a:ext cx="9562271" cy="588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89073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1-2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외벽 로프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달비계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 상태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두께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작업로프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20mm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생명로프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16mm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및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 손상 여부 확인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부식 또는 과도하게 닳거나 손상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변형된 부분 발견 시 폐기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18662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작업발판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탑승 前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 결속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로프를 결속할 시설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청소용고리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콘크리트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철골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철재 구조물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의 상태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고정상태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강도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부식여부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 확인하고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작업로프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생명로프를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각각 </a:t>
                      </a:r>
                      <a:r>
                        <a:rPr lang="en-US" altLang="ko-KR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 지점에 매듭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실시</a:t>
                      </a:r>
                      <a:endParaRPr lang="en-US" altLang="ko-KR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매듭 지점에는 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자가 임의로 손을 대지 못하도록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자물쇠를 설치하거나 “작업중</a:t>
                      </a:r>
                      <a:r>
                        <a:rPr lang="en-US" altLang="ko-KR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매듭해체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금지” 표지를 부착</a:t>
                      </a:r>
                      <a:endParaRPr lang="en-US" altLang="ko-KR" sz="1200" b="1" u="none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로프와 건물 벽체가 접하는 모서리에 로프 보호를 위한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로프보호대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</a:t>
                      </a:r>
                      <a:endParaRPr lang="en-US" altLang="ko-KR" sz="1200" b="1" u="none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735610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추락방지대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로립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체결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추락방지대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로립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설치방향</a:t>
                      </a:r>
                      <a:r>
                        <a:rPr lang="ko-KR" altLang="en-US" sz="1200" b="0" u="none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적정한지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확인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아래 방향으로 순간적인 힘을 가해 흘러 내려가지 않는지 확인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하고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추락방지대</a:t>
                      </a:r>
                      <a:r>
                        <a:rPr lang="en-US" altLang="ko-KR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로립</a:t>
                      </a:r>
                      <a:r>
                        <a:rPr lang="en-US" altLang="ko-KR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생명로프에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체결한 상태에서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작업발판에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탑승</a:t>
                      </a:r>
                      <a:endParaRPr lang="en-US" altLang="ko-KR" sz="1200" b="1" u="none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861266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7" r="21615"/>
          <a:stretch/>
        </p:blipFill>
        <p:spPr>
          <a:xfrm rot="5400000">
            <a:off x="8730311" y="1099165"/>
            <a:ext cx="730763" cy="97864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b="16855"/>
          <a:stretch/>
        </p:blipFill>
        <p:spPr>
          <a:xfrm>
            <a:off x="8718877" y="2072426"/>
            <a:ext cx="753632" cy="56672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1" t="15751" r="17697" b="12265"/>
          <a:stretch/>
        </p:blipFill>
        <p:spPr>
          <a:xfrm>
            <a:off x="8718877" y="2682964"/>
            <a:ext cx="753632" cy="56698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257" y="3308170"/>
            <a:ext cx="750873" cy="577817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157" y="3985500"/>
            <a:ext cx="1016864" cy="73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39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273773"/>
              </p:ext>
            </p:extLst>
          </p:nvPr>
        </p:nvGraphicFramePr>
        <p:xfrm>
          <a:off x="128464" y="692696"/>
          <a:ext cx="9562271" cy="55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33231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2-1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스카이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고소작업차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차량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주변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아웃트리거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설치지점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평탄하고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견고한지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확인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개의 아웃트리거를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최대로 확장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접지판이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모두 지면에 밀착되도록 설치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작업대의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안전난간대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설치여부 확인 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 중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안전난간대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임의 해체 금지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endParaRPr lang="en-US" altLang="ko-KR" sz="1200" b="0" u="none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외부인이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접근하지 못하도록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안전구획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안전테이프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라바콘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 활용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설치하고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통제자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신호수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</a:t>
                      </a:r>
                      <a:r>
                        <a:rPr lang="en-US" altLang="ko-KR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배치</a:t>
                      </a: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추락 예방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확인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-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건물 옥상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수직 생명줄 설치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및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추락 방지대 체결 확인</a:t>
                      </a:r>
                      <a:b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(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불가시 스카이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작업대 혹은 붐대에 안전고리 체결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8" r="16411"/>
          <a:stretch/>
        </p:blipFill>
        <p:spPr>
          <a:xfrm>
            <a:off x="8628133" y="1208249"/>
            <a:ext cx="956759" cy="78739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l="42835" b="32565"/>
          <a:stretch/>
        </p:blipFill>
        <p:spPr>
          <a:xfrm>
            <a:off x="8769424" y="2072876"/>
            <a:ext cx="681342" cy="58320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rcRect r="36045"/>
          <a:stretch/>
        </p:blipFill>
        <p:spPr>
          <a:xfrm>
            <a:off x="8633678" y="2756326"/>
            <a:ext cx="971218" cy="7642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89F6166-4901-43F1-BB82-2BA11807DD8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5"/>
          <a:srcRect l="30061" t="44004" r="20405"/>
          <a:stretch/>
        </p:blipFill>
        <p:spPr>
          <a:xfrm>
            <a:off x="9273603" y="4010732"/>
            <a:ext cx="378000" cy="379329"/>
          </a:xfrm>
          <a:prstGeom prst="rect">
            <a:avLst/>
          </a:prstGeom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872B46C6-E8EF-4592-96E3-B56B13A91030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5"/>
          <a:stretch/>
        </p:blipFill>
        <p:spPr bwMode="auto">
          <a:xfrm>
            <a:off x="8562438" y="3620861"/>
            <a:ext cx="719035" cy="78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 descr="D:\2014년 업무\14년 FM대학 교육실시 자료\참고자료\서브원자료\도형\087.png">
            <a:extLst>
              <a:ext uri="{FF2B5EF4-FFF2-40B4-BE49-F238E27FC236}">
                <a16:creationId xmlns:a16="http://schemas.microsoft.com/office/drawing/2014/main" id="{3E42D7E1-9D8B-4EDD-A982-A3ACCEB36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39943" flipH="1" flipV="1">
            <a:off x="9187934" y="3726644"/>
            <a:ext cx="368494" cy="20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26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332882"/>
              </p:ext>
            </p:extLst>
          </p:nvPr>
        </p:nvGraphicFramePr>
        <p:xfrm>
          <a:off x="128464" y="692696"/>
          <a:ext cx="9562271" cy="58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33231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2-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이동식 크레인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차량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주변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아웃트리거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설치지점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평탄하고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견고한지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확인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개의 아웃트리거를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최대로 확장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접지판이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모두 지면에 밀착되도록 설치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차량 이동 시 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이동 동선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및 인양 작업 시 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장해물</a:t>
                      </a:r>
                      <a:r>
                        <a:rPr lang="en-US" altLang="ko-KR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구조물</a:t>
                      </a:r>
                      <a:r>
                        <a:rPr lang="en-US" altLang="ko-KR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전선 등</a:t>
                      </a:r>
                      <a:r>
                        <a:rPr lang="en-US" altLang="ko-KR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사전</a:t>
                      </a:r>
                      <a:b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확인</a:t>
                      </a:r>
                      <a:endParaRPr lang="en-US" altLang="ko-KR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외부인이 접근하지 못하도록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안전구획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안전테이프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라바콘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 활용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설치하고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통제자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신호수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</a:t>
                      </a:r>
                      <a:r>
                        <a:rPr lang="en-US" altLang="ko-KR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배치</a:t>
                      </a: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안전장치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 및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작동 상태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확인</a:t>
                      </a:r>
                      <a:b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권과방지장치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과부하방지장치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훅해지장치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경사각 지시장치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</a:t>
                      </a:r>
                      <a:b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비상정지장치</a:t>
                      </a:r>
                      <a:b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제어장치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 및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작동 상태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확인</a:t>
                      </a:r>
                      <a:b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컨트롤러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및 모니터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붐회전방지장치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역회전방지 브레이크</a:t>
                      </a:r>
                      <a:b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8" r="16411"/>
          <a:stretch/>
        </p:blipFill>
        <p:spPr>
          <a:xfrm>
            <a:off x="8628133" y="1208249"/>
            <a:ext cx="956759" cy="78739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r="36045"/>
          <a:stretch/>
        </p:blipFill>
        <p:spPr>
          <a:xfrm>
            <a:off x="8608701" y="2744083"/>
            <a:ext cx="971218" cy="7642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3D60D17-1A01-4339-961D-8860555E7A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838" y="3783797"/>
            <a:ext cx="1025348" cy="7642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0C1AA22-B1AB-4DA0-A63D-59D3BFDD2BA3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615477" y="2053431"/>
            <a:ext cx="969415" cy="6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09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841012"/>
              </p:ext>
            </p:extLst>
          </p:nvPr>
        </p:nvGraphicFramePr>
        <p:xfrm>
          <a:off x="128464" y="692696"/>
          <a:ext cx="9562271" cy="55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33231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2-3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지게차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작업계획서는 작성 및 특별안전보건교육 실시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여부 확인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보험증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등록증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면허증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중량물 취급 계획서 등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관리감독자 작업 감독 및 전도방지 조치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여부</a:t>
                      </a: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지반상태 및 경사로 확인 등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내리막길 운전 시 후진 운행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후진 경고음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작업등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경보기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방향지시등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와이퍼 등 정상작동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상태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장비 상태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양호 여부 확인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권상용 체인 상태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포크 및 연장포크 결속 상태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타이어 마모 상태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안전장치 설치 및 작동상태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벨울림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등 확인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후방 감지기 등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B8B8259B-E627-44EF-8D9B-0607C5D01DEC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625408" y="1196752"/>
            <a:ext cx="936000" cy="7200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D4CABED-DFC5-4357-9C34-A56C02DAA4FF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25407" y="1971209"/>
            <a:ext cx="964673" cy="7200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1B5BB26-1289-4782-B358-C6D79CC4C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672" y="2758192"/>
            <a:ext cx="991254" cy="720081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96C6A3EC-604B-40C7-92B2-1D7B14C8108F}"/>
              </a:ext>
            </a:extLst>
          </p:cNvPr>
          <p:cNvGrpSpPr/>
          <p:nvPr/>
        </p:nvGrpSpPr>
        <p:grpSpPr>
          <a:xfrm>
            <a:off x="8578114" y="3545176"/>
            <a:ext cx="1067063" cy="786984"/>
            <a:chOff x="1800098" y="5578382"/>
            <a:chExt cx="2348092" cy="157401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D9A2675-FFC1-494E-A650-B3AED5C92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4565" y="5578382"/>
              <a:ext cx="2333625" cy="790575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92D1415-564B-4D51-A292-915888CAD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00098" y="6361819"/>
              <a:ext cx="2333625" cy="790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511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032453"/>
              </p:ext>
            </p:extLst>
          </p:nvPr>
        </p:nvGraphicFramePr>
        <p:xfrm>
          <a:off x="128464" y="692696"/>
          <a:ext cx="9562271" cy="54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310474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2-4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굴착기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유압식 버켓연결 커플러 안전핀 체결 여부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백호우 사용 용도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굴착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적정 여부</a:t>
                      </a: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주 용도 외 사용 금지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근로자가 위험해질 우려가 없는 경우 제외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안전장치 설치 및 작동상태 확인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후진 경고음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작업등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경보기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방향지시등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와이퍼 등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제어장치 설치 및 작동상태 확인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유압장치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브레이크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클러치 및 운정장치 기능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2955FB06-AC2B-48D4-AD11-5F8C87FD330F}"/>
              </a:ext>
            </a:extLst>
          </p:cNvPr>
          <p:cNvGrpSpPr/>
          <p:nvPr/>
        </p:nvGrpSpPr>
        <p:grpSpPr>
          <a:xfrm>
            <a:off x="8553400" y="1268760"/>
            <a:ext cx="1001285" cy="1432644"/>
            <a:chOff x="4300066" y="4818440"/>
            <a:chExt cx="1001285" cy="143264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D7095B3-A5AE-4159-83F6-FB654DC3E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0066" y="4818440"/>
              <a:ext cx="1001285" cy="80102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9B3FD9B-1294-4626-B35E-2884C092E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00066" y="5450060"/>
              <a:ext cx="996402" cy="801024"/>
            </a:xfrm>
            <a:prstGeom prst="rect">
              <a:avLst/>
            </a:prstGeom>
          </p:spPr>
        </p:pic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2A8980A3-894A-44A0-984F-D55B4649E4E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80" y="3068250"/>
            <a:ext cx="977222" cy="721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2266524-5654-4515-BEDF-B663A0163AD9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78" y="3964571"/>
            <a:ext cx="977223" cy="72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100316"/>
              </p:ext>
            </p:extLst>
          </p:nvPr>
        </p:nvGraphicFramePr>
        <p:xfrm>
          <a:off x="128464" y="692696"/>
          <a:ext cx="9562271" cy="55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33231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2-5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고소작업대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60cm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이상 과상승방지봉 유지 여부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고소작업대 풋스위치 덮개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비상정지장치 설치 및 상태 양호 여부</a:t>
                      </a: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외부인이 접근하지 못하도록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안전구획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안전테이프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라바콘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 활용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설치하고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통제자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신호수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배치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4A120AC1-16B2-4ABB-9ABA-096DB998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458" y="3567242"/>
            <a:ext cx="986625" cy="7920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4B4D0C-0385-4C00-B2CB-2650F945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530" y="1337880"/>
            <a:ext cx="840480" cy="79208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9BEAAFD6-A250-49EB-8EF1-FFBF58F35190}"/>
              </a:ext>
            </a:extLst>
          </p:cNvPr>
          <p:cNvGrpSpPr/>
          <p:nvPr/>
        </p:nvGrpSpPr>
        <p:grpSpPr>
          <a:xfrm>
            <a:off x="8692262" y="2284518"/>
            <a:ext cx="807748" cy="1006240"/>
            <a:chOff x="8454732" y="2284518"/>
            <a:chExt cx="1012546" cy="170744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1BAE725-7E2D-4654-84F5-27E746DDD5F7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4732" y="2284518"/>
              <a:ext cx="1012546" cy="85697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835866A-11C5-499A-B0D7-05FF0336E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54732" y="3142525"/>
              <a:ext cx="1012546" cy="8494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7286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570731"/>
              </p:ext>
            </p:extLst>
          </p:nvPr>
        </p:nvGraphicFramePr>
        <p:xfrm>
          <a:off x="128464" y="692696"/>
          <a:ext cx="9562271" cy="47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122400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비계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접근통제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및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보호구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외부인이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접근하지 못하도록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안전구획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안전테이프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라바콘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 활용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설치하고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통제자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신호수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</a:t>
                      </a:r>
                      <a:r>
                        <a:rPr lang="en-US" altLang="ko-KR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배치</a:t>
                      </a:r>
                      <a:br>
                        <a:rPr lang="en-US" altLang="ko-KR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개인보호구 착용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상태 확인</a:t>
                      </a:r>
                      <a:endParaRPr lang="en-US" altLang="ko-KR" sz="1200" b="0" u="none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-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안전모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안전화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각반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전체식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안전대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등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안전구획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및 신호수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사진촬영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122400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안전대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걸이시설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비계 조립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·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해체 中 작업자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추락방지를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위한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걸이시설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생명로프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16mm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34622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290931"/>
                  </a:ext>
                </a:extLst>
              </a:tr>
            </a:tbl>
          </a:graphicData>
        </a:graphic>
      </p:graphicFrame>
      <p:pic>
        <p:nvPicPr>
          <p:cNvPr id="16" name="그림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741619" y="2498488"/>
            <a:ext cx="727021" cy="100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97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112785"/>
              </p:ext>
            </p:extLst>
          </p:nvPr>
        </p:nvGraphicFramePr>
        <p:xfrm>
          <a:off x="128464" y="692696"/>
          <a:ext cx="9562271" cy="402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7999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5999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1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2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89073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기계식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주차설비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Lock-out, Tag-out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작업자 外 인원에 의한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주차설비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작동 금지를 위해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주전원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차단 및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조작판넬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잠금장치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설치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열쇠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별도보관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및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조작금지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태그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작업내용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작업일시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담당자 연락처 등 기재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부착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추락방지조치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주차설비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內 추락의 우려가 있는 지점에서 작업하는 경우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안전대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걸이시설을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설치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로프 또는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기존시설물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활용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하거나 주변의 시설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설비를 이용하여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안전대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Hook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 체결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후 작업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495034"/>
                  </a:ext>
                </a:extLst>
              </a:tr>
              <a:tr h="89073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030023"/>
                  </a:ext>
                </a:extLst>
              </a:tr>
            </a:tbl>
          </a:graphicData>
        </a:graphic>
      </p:graphicFrame>
      <p:pic>
        <p:nvPicPr>
          <p:cNvPr id="36" name="그림 36" descr="fig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377" y="2132856"/>
            <a:ext cx="927639" cy="758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EF461F7C-82BA-46EE-833B-F8649D7C8E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79" b="4302"/>
          <a:stretch/>
        </p:blipFill>
        <p:spPr>
          <a:xfrm>
            <a:off x="8606369" y="1222591"/>
            <a:ext cx="1002720" cy="76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8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725567"/>
              </p:ext>
            </p:extLst>
          </p:nvPr>
        </p:nvGraphicFramePr>
        <p:xfrm>
          <a:off x="128464" y="692696"/>
          <a:ext cx="9562271" cy="554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206308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5-1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산소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알곤</a:t>
                      </a:r>
                      <a:br>
                        <a:rPr lang="en-US" altLang="ko-KR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용접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·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용단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절단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화재예방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LPG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역화방지기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밸브 옆</a:t>
                      </a:r>
                      <a:r>
                        <a:rPr lang="en-US" altLang="ko-KR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여부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확인</a:t>
                      </a:r>
                    </a:p>
                    <a:p>
                      <a:pPr algn="l" latinLnBrk="1"/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전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비눗물이나 가스누출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탐지제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보글체크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등을 사용하여 가스 누설 검사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실시 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작업장 주변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소화기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및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불티비산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방지포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가연물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제거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확인</a:t>
                      </a:r>
                      <a:endParaRPr lang="en-US" altLang="ko-KR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질식 예방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작업장 내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환기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상태 및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환기 시설 설치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상태 확인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환기 상태</a:t>
                      </a:r>
                      <a:endParaRPr lang="en-US" altLang="ko-KR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확인이 가능한</a:t>
                      </a:r>
                      <a:endParaRPr lang="en-US" altLang="ko-KR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작업장 사진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631870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37527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l="25409" t="24052" r="24356" b="23682"/>
          <a:stretch/>
        </p:blipFill>
        <p:spPr>
          <a:xfrm>
            <a:off x="8691889" y="2527323"/>
            <a:ext cx="843200" cy="58768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146" y="1261996"/>
            <a:ext cx="922227" cy="49055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rcRect b="28666"/>
          <a:stretch/>
        </p:blipFill>
        <p:spPr>
          <a:xfrm>
            <a:off x="8645947" y="1844789"/>
            <a:ext cx="942858" cy="5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72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53598"/>
              </p:ext>
            </p:extLst>
          </p:nvPr>
        </p:nvGraphicFramePr>
        <p:xfrm>
          <a:off x="128464" y="692696"/>
          <a:ext cx="9562271" cy="532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838944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5-2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아크</a:t>
                      </a:r>
                      <a:br>
                        <a:rPr lang="en-US" altLang="ko-KR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용접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·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용단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절단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화재예방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작업장 주변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소화기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및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불티비산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방지포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가연물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제거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확인</a:t>
                      </a:r>
                      <a:endParaRPr lang="en-US" altLang="ko-KR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질식 예방</a:t>
                      </a:r>
                      <a:endParaRPr lang="en-US" altLang="ko-KR" sz="1200" b="0" u="none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9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알곤 작업 限</a:t>
                      </a:r>
                      <a:r>
                        <a:rPr lang="en-US" altLang="ko-KR" sz="9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작업장 내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환기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상태 및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환기 시설 설치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상태 확인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환기 상태</a:t>
                      </a:r>
                      <a:endParaRPr lang="en-US" altLang="ko-KR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확인이 가능한</a:t>
                      </a:r>
                      <a:endParaRPr lang="en-US" altLang="ko-KR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/>
                      <a:r>
                        <a:rPr lang="ko-KR" altLang="en-US" sz="12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작업장 사진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631870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 中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감전예방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용접기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전격방지기 설치</a:t>
                      </a:r>
                      <a:r>
                        <a:rPr lang="en-US" altLang="ko-KR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여부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052476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100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37527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l="25409" t="24052" r="24356" b="23682"/>
          <a:stretch/>
        </p:blipFill>
        <p:spPr>
          <a:xfrm>
            <a:off x="8697416" y="1340768"/>
            <a:ext cx="843200" cy="58768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A003827-CFB8-4CF1-9691-5C5079A25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222" y="3212976"/>
            <a:ext cx="1046025" cy="58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46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129285"/>
              </p:ext>
            </p:extLst>
          </p:nvPr>
        </p:nvGraphicFramePr>
        <p:xfrm>
          <a:off x="128464" y="692696"/>
          <a:ext cx="9562271" cy="571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3456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6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밀폐공간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물탱크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정화조 등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작업을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개시하기 전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휴식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등으로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전원 철수 후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해당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공간재투입시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밀폐작업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두통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메스꺼움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등 신체 변화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감지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시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가스농도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측정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및 환기 등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밀폐공간 內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가스농도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측정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산소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황화수소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일산화탄소 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  -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산소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(18~23.5%),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황화수소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(10ppm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미만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),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일산화탄소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(30ppm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미만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),</a:t>
                      </a:r>
                    </a:p>
                    <a:p>
                      <a:pPr algn="l" latinLnBrk="1"/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   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이산화탄소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(1.5%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미만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),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가연성가스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(10%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미만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l" latinLnBrk="1"/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밀폐공간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환기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작업을 시작하기 전과 작업 중에는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적정공기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상태가 유지되도록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배풍기를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이용하여 환기 실시</a:t>
                      </a: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  -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밀폐작업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15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분 이상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급기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 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-</a:t>
                      </a: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밀폐작업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: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작업종료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시 까지 지속적 환기</a:t>
                      </a:r>
                    </a:p>
                    <a:p>
                      <a:pPr algn="l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밀폐공간 외부에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감시인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배치 </a:t>
                      </a: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  -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밀폐공간 외부에 배치하여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밀폐공간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물탱크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정화조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출입인원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성명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인원수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및 출입시간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농도측정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결과 기록관리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무전기 등을 활용하여 밀폐공간 작업자와 감시인 간의 연락 유지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 중 특이사항 유무 상시 감시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838027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40986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368401"/>
                  </a:ext>
                </a:extLst>
              </a:tr>
            </a:tbl>
          </a:graphicData>
        </a:graphic>
      </p:graphicFrame>
      <p:pic>
        <p:nvPicPr>
          <p:cNvPr id="32" name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816" y="3575099"/>
            <a:ext cx="733558" cy="964642"/>
          </a:xfrm>
          <a:prstGeom prst="rect">
            <a:avLst/>
          </a:prstGeom>
        </p:spPr>
      </p:pic>
      <p:pic>
        <p:nvPicPr>
          <p:cNvPr id="33" name="그림 32"/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91980" y="2620260"/>
            <a:ext cx="858151" cy="979545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28" y="1405955"/>
            <a:ext cx="997200" cy="86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91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783350"/>
              </p:ext>
            </p:extLst>
          </p:nvPr>
        </p:nvGraphicFramePr>
        <p:xfrm>
          <a:off x="128464" y="692696"/>
          <a:ext cx="9562271" cy="474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234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수변전설비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작업구역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차단기 차단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작업구역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차단기를 순차적으로 차단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(2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차측 →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작업구역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→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차측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활선여부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확인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특고압검전기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전압에 맞는 검진기 사용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를 활용하여 각상에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비접촉으로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활선여부를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확인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활선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시 점등 및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경보음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발생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</a:t>
                      </a: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방전 작업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- DS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봉 또는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방전봉의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접지선측을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접지단자에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확실하게 고정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- DS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봉을 </a:t>
                      </a: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L1, L2, L3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각 상 노출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도전부에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접촉시켜 </a:t>
                      </a:r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잔류전하를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방전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97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37527"/>
                  </a:ext>
                </a:extLst>
              </a:tr>
              <a:tr h="97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78501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4F27D345-0794-45B3-BFC4-584767B8C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957" y="1249476"/>
            <a:ext cx="878517" cy="59798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B89116F-88CC-4679-BBC4-B3AFC10E4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200" y="1946016"/>
            <a:ext cx="861274" cy="64473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3618890-673D-472A-8759-C93C029B5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199" y="2692236"/>
            <a:ext cx="861275" cy="73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80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454942"/>
              </p:ext>
            </p:extLst>
          </p:nvPr>
        </p:nvGraphicFramePr>
        <p:xfrm>
          <a:off x="128464" y="692696"/>
          <a:ext cx="9562271" cy="31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90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8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승강기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추락방지조치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추락위험이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있는 곳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높이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2m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에는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추락방지 조치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 실시</a:t>
                      </a:r>
                      <a:b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-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안전난간대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안전대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걸이 시설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수직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구명줄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개구부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덮개 등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40986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696140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89277"/>
                  </a:ext>
                </a:extLst>
              </a:tr>
            </a:tbl>
          </a:graphicData>
        </a:graphic>
      </p:graphicFrame>
      <p:pic>
        <p:nvPicPr>
          <p:cNvPr id="39" name="그림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283" y="1196752"/>
            <a:ext cx="979545" cy="75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86435"/>
              </p:ext>
            </p:extLst>
          </p:nvPr>
        </p:nvGraphicFramePr>
        <p:xfrm>
          <a:off x="128464" y="692696"/>
          <a:ext cx="9562271" cy="33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108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고소작업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(4m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추락사고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예방을 위한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안전벨트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걸이시설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여부 확인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주변에 안전벨트 고리를 체결할 수 있는 시설물이 있는 경우 해당 시설물에 고리 체결   </a:t>
                      </a: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37527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650499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892226"/>
                  </a:ext>
                </a:extLst>
              </a:tr>
            </a:tbl>
          </a:graphicData>
        </a:graphic>
      </p:graphicFrame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705" y="1412776"/>
            <a:ext cx="942757" cy="65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6884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3754</TotalTime>
  <Words>1682</Words>
  <Application>Microsoft Office PowerPoint</Application>
  <PresentationFormat>A4 용지(210x297mm)</PresentationFormat>
  <Paragraphs>295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굴림</vt:lpstr>
      <vt:lpstr>맑은 고딕 Semilight</vt:lpstr>
      <vt:lpstr>Calibri</vt:lpstr>
      <vt:lpstr>LG스마트체 Regular</vt:lpstr>
      <vt:lpstr>Wingdings</vt:lpstr>
      <vt:lpstr>맑은 고딕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노시우</cp:lastModifiedBy>
  <cp:revision>174</cp:revision>
  <cp:lastPrinted>2022-05-26T02:49:20Z</cp:lastPrinted>
  <dcterms:created xsi:type="dcterms:W3CDTF">2010-10-27T23:29:57Z</dcterms:created>
  <dcterms:modified xsi:type="dcterms:W3CDTF">2025-05-30T08:33:49Z</dcterms:modified>
</cp:coreProperties>
</file>