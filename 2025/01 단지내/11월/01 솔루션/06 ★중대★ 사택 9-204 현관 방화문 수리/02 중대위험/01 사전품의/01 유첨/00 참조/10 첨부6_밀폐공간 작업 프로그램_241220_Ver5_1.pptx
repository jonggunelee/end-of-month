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  <p:sldMasterId id="2147483697" r:id="rId2"/>
    <p:sldMasterId id="2147483678" r:id="rId3"/>
  </p:sldMasterIdLst>
  <p:notesMasterIdLst>
    <p:notesMasterId r:id="rId38"/>
  </p:notesMasterIdLst>
  <p:handoutMasterIdLst>
    <p:handoutMasterId r:id="rId39"/>
  </p:handoutMasterIdLst>
  <p:sldIdLst>
    <p:sldId id="691" r:id="rId4"/>
    <p:sldId id="260" r:id="rId5"/>
    <p:sldId id="659" r:id="rId6"/>
    <p:sldId id="658" r:id="rId7"/>
    <p:sldId id="660" r:id="rId8"/>
    <p:sldId id="661" r:id="rId9"/>
    <p:sldId id="663" r:id="rId10"/>
    <p:sldId id="664" r:id="rId11"/>
    <p:sldId id="666" r:id="rId12"/>
    <p:sldId id="667" r:id="rId13"/>
    <p:sldId id="668" r:id="rId14"/>
    <p:sldId id="669" r:id="rId15"/>
    <p:sldId id="670" r:id="rId16"/>
    <p:sldId id="671" r:id="rId17"/>
    <p:sldId id="672" r:id="rId18"/>
    <p:sldId id="673" r:id="rId19"/>
    <p:sldId id="674" r:id="rId20"/>
    <p:sldId id="675" r:id="rId21"/>
    <p:sldId id="676" r:id="rId22"/>
    <p:sldId id="752" r:id="rId23"/>
    <p:sldId id="677" r:id="rId24"/>
    <p:sldId id="686" r:id="rId25"/>
    <p:sldId id="687" r:id="rId26"/>
    <p:sldId id="689" r:id="rId27"/>
    <p:sldId id="690" r:id="rId28"/>
    <p:sldId id="688" r:id="rId29"/>
    <p:sldId id="679" r:id="rId30"/>
    <p:sldId id="680" r:id="rId31"/>
    <p:sldId id="681" r:id="rId32"/>
    <p:sldId id="682" r:id="rId33"/>
    <p:sldId id="683" r:id="rId34"/>
    <p:sldId id="685" r:id="rId35"/>
    <p:sldId id="684" r:id="rId36"/>
    <p:sldId id="753" r:id="rId37"/>
  </p:sldIdLst>
  <p:sldSz cx="10693400" cy="7556500"/>
  <p:notesSz cx="6797675" cy="9926638"/>
  <p:embeddedFontLst>
    <p:embeddedFont>
      <p:font typeface="LG스마트체2.0 Bold" panose="020B0600000101010101" charset="-127"/>
      <p:bold r:id="rId40"/>
    </p:embeddedFont>
    <p:embeddedFont>
      <p:font typeface="LG스마트체2.0 Regular" panose="020B0600000101010101" charset="-127"/>
      <p:regular r:id="rId41"/>
    </p:embeddedFont>
    <p:embeddedFont>
      <p:font typeface="LG스마트체2.0 SemiBold" panose="020B0600000101010101" charset="-127"/>
      <p:bold r:id="rId42"/>
    </p:embeddedFont>
    <p:embeddedFont>
      <p:font typeface="Cambria Math" panose="02040503050406030204" pitchFamily="18" charset="0"/>
      <p:regular r:id="rId43"/>
    </p:embeddedFont>
    <p:embeddedFont>
      <p:font typeface="LG스마트체 Regular" panose="020B0600000101010101" pitchFamily="50" charset="-127"/>
      <p:regular r:id="rId44"/>
    </p:embeddedFont>
    <p:embeddedFont>
      <p:font typeface="LG스마트체 SemiBold" panose="020B0600000101010101" pitchFamily="50" charset="-127"/>
      <p:bold r:id="rId45"/>
    </p:embeddedFont>
    <p:embeddedFont>
      <p:font typeface="Wingdings 2" panose="05020102010507070707" pitchFamily="18" charset="2"/>
      <p:regular r:id="rId46"/>
    </p:embeddedFont>
    <p:embeddedFont>
      <p:font typeface="맑은 고딕" panose="020B0503020000020004" pitchFamily="50" charset="-127"/>
      <p:regular r:id="rId47"/>
      <p:bold r:id="rId48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9" pos="6702" userDrawn="1">
          <p15:clr>
            <a:srgbClr val="A4A3A4"/>
          </p15:clr>
        </p15:guide>
        <p15:guide id="10" orient="horz" pos="21" userDrawn="1">
          <p15:clr>
            <a:srgbClr val="A4A3A4"/>
          </p15:clr>
        </p15:guide>
        <p15:guide id="11" pos="10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3D3D"/>
    <a:srgbClr val="FE8C8C"/>
    <a:srgbClr val="0000FF"/>
    <a:srgbClr val="E6E6EE"/>
    <a:srgbClr val="FE6E6E"/>
    <a:srgbClr val="F93E0B"/>
    <a:srgbClr val="5F5F5F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538" autoAdjust="0"/>
    <p:restoredTop sz="95587" autoAdjust="0"/>
  </p:normalViewPr>
  <p:slideViewPr>
    <p:cSldViewPr>
      <p:cViewPr varScale="1">
        <p:scale>
          <a:sx n="104" d="100"/>
          <a:sy n="104" d="100"/>
        </p:scale>
        <p:origin x="1956" y="108"/>
      </p:cViewPr>
      <p:guideLst>
        <p:guide pos="6702"/>
        <p:guide orient="horz" pos="21"/>
        <p:guide pos="10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94"/>
    </p:cViewPr>
  </p:sorterViewPr>
  <p:notesViewPr>
    <p:cSldViewPr>
      <p:cViewPr varScale="1">
        <p:scale>
          <a:sx n="85" d="100"/>
          <a:sy n="85" d="100"/>
        </p:scale>
        <p:origin x="3906" y="102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font" Target="fonts/font5.fntdata"/><Relationship Id="rId52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8" Type="http://schemas.openxmlformats.org/officeDocument/2006/relationships/slide" Target="slides/slide5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7.fntdata"/><Relationship Id="rId20" Type="http://schemas.openxmlformats.org/officeDocument/2006/relationships/slide" Target="slides/slide17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5428A6-CC4D-423C-A067-3F870C488EE0}" type="datetimeFigureOut">
              <a:rPr lang="ko-KR" altLang="en-US" smtClean="0"/>
              <a:t>2024-12-20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0FC41D-FE4E-4A0C-8956-D918303E59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675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6FDFAE-2414-4E27-A322-DFB194605503}" type="datetimeFigureOut">
              <a:rPr lang="ko-KR" altLang="en-US" smtClean="0"/>
              <a:t>2024-12-20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65175" y="744538"/>
            <a:ext cx="52673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EBA2C6-68A6-4E3F-86DC-D2D9812462F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7329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830" y="753915"/>
            <a:ext cx="3914775" cy="504825"/>
          </a:xfrm>
          <a:prstGeom prst="rect">
            <a:avLst/>
          </a:prstGeom>
        </p:spPr>
      </p:pic>
      <p:sp>
        <p:nvSpPr>
          <p:cNvPr id="10" name="내용 개체 틀 9"/>
          <p:cNvSpPr>
            <a:spLocks noGrp="1"/>
          </p:cNvSpPr>
          <p:nvPr>
            <p:ph sz="quarter" idx="10" hasCustomPrompt="1"/>
          </p:nvPr>
        </p:nvSpPr>
        <p:spPr>
          <a:xfrm>
            <a:off x="5130676" y="2865389"/>
            <a:ext cx="5184576" cy="49262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3200" b="1" spc="-150" baseline="0">
                <a:solidFill>
                  <a:schemeClr val="tx1">
                    <a:lumMod val="65000"/>
                    <a:lumOff val="3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1</a:t>
            </a:r>
            <a:r>
              <a:rPr lang="ko-KR" altLang="en-US" dirty="0"/>
              <a:t>월 </a:t>
            </a:r>
            <a:r>
              <a:rPr lang="en-US" altLang="ko-KR" dirty="0"/>
              <a:t>Monthly Report</a:t>
            </a:r>
            <a:endParaRPr lang="ko-KR" altLang="en-US" dirty="0"/>
          </a:p>
        </p:txBody>
      </p:sp>
      <p:sp>
        <p:nvSpPr>
          <p:cNvPr id="11" name="내용 개체 틀 9"/>
          <p:cNvSpPr>
            <a:spLocks noGrp="1"/>
          </p:cNvSpPr>
          <p:nvPr>
            <p:ph sz="quarter" idx="11" hasCustomPrompt="1"/>
          </p:nvPr>
        </p:nvSpPr>
        <p:spPr>
          <a:xfrm>
            <a:off x="5634732" y="3500687"/>
            <a:ext cx="4680520" cy="50311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2600" b="0" spc="-150" baseline="0">
                <a:solidFill>
                  <a:schemeClr val="tx1">
                    <a:lumMod val="50000"/>
                    <a:lumOff val="50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</a:lstStyle>
          <a:p>
            <a:pPr lvl="0"/>
            <a:r>
              <a:rPr lang="ko-KR" altLang="en-US" dirty="0" err="1"/>
              <a:t>그랑서울빌딩</a:t>
            </a:r>
            <a:endParaRPr lang="ko-KR" altLang="en-US" dirty="0"/>
          </a:p>
        </p:txBody>
      </p:sp>
      <p:sp>
        <p:nvSpPr>
          <p:cNvPr id="12" name="내용 개체 틀 9"/>
          <p:cNvSpPr>
            <a:spLocks noGrp="1"/>
          </p:cNvSpPr>
          <p:nvPr>
            <p:ph sz="quarter" idx="12" hasCustomPrompt="1"/>
          </p:nvPr>
        </p:nvSpPr>
        <p:spPr>
          <a:xfrm>
            <a:off x="3474492" y="3130178"/>
            <a:ext cx="1728192" cy="4840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3200" b="0" spc="-3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ko-KR" dirty="0"/>
              <a:t>2016</a:t>
            </a:r>
            <a:r>
              <a:rPr lang="ko-KR" altLang="en-US" dirty="0"/>
              <a:t>년</a:t>
            </a:r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3605" y="7003759"/>
            <a:ext cx="2495128" cy="402313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686AB-25C3-45D7-8571-0AB58706FBE8}" type="slidenum">
              <a:rPr lang="ko-KR" altLang="en-US" smtClean="0"/>
              <a:t>‹#›</a:t>
            </a:fld>
            <a:endParaRPr lang="ko-KR" altLang="en-US" dirty="0"/>
          </a:p>
        </p:txBody>
      </p:sp>
      <p:grpSp>
        <p:nvGrpSpPr>
          <p:cNvPr id="4" name="그룹 3"/>
          <p:cNvGrpSpPr/>
          <p:nvPr userDrawn="1"/>
        </p:nvGrpSpPr>
        <p:grpSpPr>
          <a:xfrm>
            <a:off x="4194572" y="6700132"/>
            <a:ext cx="7056784" cy="570506"/>
            <a:chOff x="4194572" y="6700132"/>
            <a:chExt cx="7056784" cy="570506"/>
          </a:xfrm>
        </p:grpSpPr>
        <p:pic>
          <p:nvPicPr>
            <p:cNvPr id="2" name="그림 1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77907" y="6700132"/>
              <a:ext cx="1001241" cy="318478"/>
            </a:xfrm>
            <a:prstGeom prst="rect">
              <a:avLst/>
            </a:prstGeom>
          </p:spPr>
        </p:pic>
        <p:sp>
          <p:nvSpPr>
            <p:cNvPr id="3" name="TextBox 2"/>
            <p:cNvSpPr txBox="1"/>
            <p:nvPr userDrawn="1"/>
          </p:nvSpPr>
          <p:spPr>
            <a:xfrm>
              <a:off x="4194572" y="7032111"/>
              <a:ext cx="7056784" cy="2385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50" dirty="0" err="1">
                  <a:solidFill>
                    <a:schemeClr val="bg1">
                      <a:lumMod val="65000"/>
                    </a:schemeClr>
                  </a:solidFill>
                  <a:latin typeface="LG스마트체2.0 Bold" panose="020B0600000101010101" pitchFamily="50" charset="-127"/>
                  <a:ea typeface="LG스마트체2.0 Bold" panose="020B0600000101010101" pitchFamily="50" charset="-127"/>
                </a:rPr>
                <a:t>에스앤아이의</a:t>
              </a:r>
              <a:r>
                <a:rPr lang="ko-KR" altLang="en-US" sz="950" dirty="0">
                  <a:solidFill>
                    <a:schemeClr val="bg1">
                      <a:lumMod val="65000"/>
                    </a:schemeClr>
                  </a:solidFill>
                  <a:latin typeface="LG스마트체2.0 Bold" panose="020B0600000101010101" pitchFamily="50" charset="-127"/>
                  <a:ea typeface="LG스마트체2.0 Bold" panose="020B0600000101010101" pitchFamily="50" charset="-127"/>
                </a:rPr>
                <a:t> 사전 승인 없이 본 내용의 전부 또는 일부에 대한 복사</a:t>
              </a:r>
              <a:r>
                <a:rPr lang="en-US" altLang="ko-KR" sz="950" dirty="0">
                  <a:solidFill>
                    <a:schemeClr val="bg1">
                      <a:lumMod val="65000"/>
                    </a:schemeClr>
                  </a:solidFill>
                  <a:latin typeface="LG스마트체2.0 Bold" panose="020B0600000101010101" pitchFamily="50" charset="-127"/>
                  <a:ea typeface="LG스마트체2.0 Bold" panose="020B0600000101010101" pitchFamily="50" charset="-127"/>
                </a:rPr>
                <a:t>, </a:t>
              </a:r>
              <a:r>
                <a:rPr lang="ko-KR" altLang="en-US" sz="950" dirty="0">
                  <a:solidFill>
                    <a:schemeClr val="bg1">
                      <a:lumMod val="65000"/>
                    </a:schemeClr>
                  </a:solidFill>
                  <a:latin typeface="LG스마트체2.0 Bold" panose="020B0600000101010101" pitchFamily="50" charset="-127"/>
                  <a:ea typeface="LG스마트체2.0 Bold" panose="020B0600000101010101" pitchFamily="50" charset="-127"/>
                </a:rPr>
                <a:t>전재</a:t>
              </a:r>
              <a:r>
                <a:rPr lang="en-US" altLang="ko-KR" sz="950" dirty="0">
                  <a:solidFill>
                    <a:schemeClr val="bg1">
                      <a:lumMod val="65000"/>
                    </a:schemeClr>
                  </a:solidFill>
                  <a:latin typeface="LG스마트체2.0 Bold" panose="020B0600000101010101" pitchFamily="50" charset="-127"/>
                  <a:ea typeface="LG스마트체2.0 Bold" panose="020B0600000101010101" pitchFamily="50" charset="-127"/>
                </a:rPr>
                <a:t>, </a:t>
              </a:r>
              <a:r>
                <a:rPr lang="ko-KR" altLang="en-US" sz="950" dirty="0">
                  <a:solidFill>
                    <a:schemeClr val="bg1">
                      <a:lumMod val="65000"/>
                    </a:schemeClr>
                  </a:solidFill>
                  <a:latin typeface="LG스마트체2.0 Bold" panose="020B0600000101010101" pitchFamily="50" charset="-127"/>
                  <a:ea typeface="LG스마트체2.0 Bold" panose="020B0600000101010101" pitchFamily="50" charset="-127"/>
                </a:rPr>
                <a:t>배포</a:t>
              </a:r>
              <a:r>
                <a:rPr lang="en-US" altLang="ko-KR" sz="950" dirty="0">
                  <a:solidFill>
                    <a:schemeClr val="bg1">
                      <a:lumMod val="65000"/>
                    </a:schemeClr>
                  </a:solidFill>
                  <a:latin typeface="LG스마트체2.0 Bold" panose="020B0600000101010101" pitchFamily="50" charset="-127"/>
                  <a:ea typeface="LG스마트체2.0 Bold" panose="020B0600000101010101" pitchFamily="50" charset="-127"/>
                </a:rPr>
                <a:t>, </a:t>
              </a:r>
              <a:r>
                <a:rPr lang="ko-KR" altLang="en-US" sz="950" dirty="0">
                  <a:solidFill>
                    <a:schemeClr val="bg1">
                      <a:lumMod val="65000"/>
                    </a:schemeClr>
                  </a:solidFill>
                  <a:latin typeface="LG스마트체2.0 Bold" panose="020B0600000101010101" pitchFamily="50" charset="-127"/>
                  <a:ea typeface="LG스마트체2.0 Bold" panose="020B0600000101010101" pitchFamily="50" charset="-127"/>
                </a:rPr>
                <a:t>사용 등을 금합니다</a:t>
              </a:r>
              <a:r>
                <a:rPr lang="en-US" altLang="ko-KR" sz="950" dirty="0">
                  <a:solidFill>
                    <a:schemeClr val="bg1">
                      <a:lumMod val="65000"/>
                    </a:schemeClr>
                  </a:solidFill>
                  <a:latin typeface="LG스마트체2.0 Bold" panose="020B0600000101010101" pitchFamily="50" charset="-127"/>
                  <a:ea typeface="LG스마트체2.0 Bold" panose="020B0600000101010101" pitchFamily="50" charset="-127"/>
                </a:rPr>
                <a:t>.</a:t>
              </a:r>
              <a:endParaRPr lang="ko-KR" altLang="en-US" sz="950" dirty="0">
                <a:solidFill>
                  <a:schemeClr val="bg1">
                    <a:lumMod val="65000"/>
                  </a:schemeClr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92339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8846516" y="946151"/>
            <a:ext cx="1152648" cy="575469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600" spc="-300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dirty="0"/>
              <a:t>목차</a:t>
            </a:r>
          </a:p>
        </p:txBody>
      </p:sp>
      <p:pic>
        <p:nvPicPr>
          <p:cNvPr id="4" name="Picture 2" descr="\\psf\Home\Desktop\04 PNG file\04 엣스퍼트 BI 슬로건 상하 조합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8148" y="518979"/>
            <a:ext cx="1231468" cy="6669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4134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620" y="6686377"/>
            <a:ext cx="5314950" cy="504825"/>
          </a:xfrm>
          <a:prstGeom prst="rect">
            <a:avLst/>
          </a:prstGeom>
        </p:spPr>
      </p:pic>
      <p:sp>
        <p:nvSpPr>
          <p:cNvPr id="10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2487614" y="3130104"/>
            <a:ext cx="7395592" cy="576138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4400" b="1" i="0" spc="-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2</a:t>
            </a:r>
            <a:r>
              <a:rPr lang="ko-KR" altLang="en-US" dirty="0"/>
              <a:t>월 </a:t>
            </a:r>
            <a:r>
              <a:rPr lang="ko-KR" altLang="en-US" dirty="0" err="1"/>
              <a:t>상주형</a:t>
            </a:r>
            <a:r>
              <a:rPr lang="ko-KR" altLang="en-US" dirty="0"/>
              <a:t> 고객 리포트</a:t>
            </a:r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176" y="753914"/>
            <a:ext cx="3914775" cy="504825"/>
          </a:xfrm>
          <a:prstGeom prst="rect">
            <a:avLst/>
          </a:prstGeom>
        </p:spPr>
      </p:pic>
      <p:sp>
        <p:nvSpPr>
          <p:cNvPr id="5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3605" y="7003759"/>
            <a:ext cx="2495128" cy="402313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686AB-25C3-45D7-8571-0AB58706FBE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104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콘텐츠 2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255464" y="280715"/>
            <a:ext cx="4350567" cy="429766"/>
          </a:xfrm>
        </p:spPr>
        <p:txBody>
          <a:bodyPr>
            <a:normAutofit/>
          </a:bodyPr>
          <a:lstStyle>
            <a:lvl1pPr marL="0" indent="0" algn="l">
              <a:buFontTx/>
              <a:buNone/>
              <a:defRPr sz="2400" b="1" spc="-300" baseline="0">
                <a:solidFill>
                  <a:schemeClr val="bg1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05. </a:t>
            </a:r>
            <a:r>
              <a:rPr lang="ko-KR" altLang="en-US" dirty="0"/>
              <a:t>서비스 수행실적 </a:t>
            </a:r>
            <a:r>
              <a:rPr lang="en-US" altLang="ko-KR" dirty="0"/>
              <a:t>– </a:t>
            </a:r>
            <a:r>
              <a:rPr lang="ko-KR" altLang="en-US" dirty="0"/>
              <a:t>미화</a:t>
            </a:r>
          </a:p>
        </p:txBody>
      </p:sp>
      <p:sp>
        <p:nvSpPr>
          <p:cNvPr id="11" name="내용 개체 틀 9"/>
          <p:cNvSpPr>
            <a:spLocks noGrp="1"/>
          </p:cNvSpPr>
          <p:nvPr>
            <p:ph sz="quarter" idx="14" hasCustomPrompt="1"/>
          </p:nvPr>
        </p:nvSpPr>
        <p:spPr>
          <a:xfrm>
            <a:off x="6031807" y="431974"/>
            <a:ext cx="4350567" cy="321940"/>
          </a:xfrm>
        </p:spPr>
        <p:txBody>
          <a:bodyPr>
            <a:normAutofit/>
          </a:bodyPr>
          <a:lstStyle>
            <a:lvl1pPr marL="0" indent="0" algn="r">
              <a:buFontTx/>
              <a:buNone/>
              <a:defRPr sz="1800" b="0" spc="-150" baseline="0">
                <a:solidFill>
                  <a:schemeClr val="bg1">
                    <a:lumMod val="8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0000 </a:t>
            </a:r>
            <a:r>
              <a:rPr lang="ko-KR" altLang="en-US" dirty="0"/>
              <a:t>센터</a:t>
            </a:r>
          </a:p>
        </p:txBody>
      </p:sp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749" y="7083376"/>
            <a:ext cx="685800" cy="257175"/>
          </a:xfrm>
          <a:prstGeom prst="rect">
            <a:avLst/>
          </a:prstGeom>
        </p:spPr>
      </p:pic>
      <p:sp>
        <p:nvSpPr>
          <p:cNvPr id="14" name="직사각형 13"/>
          <p:cNvSpPr/>
          <p:nvPr userDrawn="1"/>
        </p:nvSpPr>
        <p:spPr>
          <a:xfrm>
            <a:off x="950020" y="7232824"/>
            <a:ext cx="9221217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089107" y="7029296"/>
            <a:ext cx="2495128" cy="402313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686AB-25C3-45D7-8571-0AB58706FBE8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2" name="직사각형 1"/>
          <p:cNvSpPr/>
          <p:nvPr userDrawn="1"/>
        </p:nvSpPr>
        <p:spPr>
          <a:xfrm>
            <a:off x="10027219" y="7173659"/>
            <a:ext cx="5549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08B686AB-25C3-45D7-8571-0AB58706FBE8}" type="slidenum">
              <a:rPr lang="ko-KR" altLang="en-US" sz="120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pPr algn="r"/>
              <a:t>‹#›</a:t>
            </a:fld>
            <a:endParaRPr lang="ko-KR" altLang="en-US" sz="1200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0696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콘텐츠 2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2394372" y="540173"/>
            <a:ext cx="5328592" cy="429766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800" b="1" spc="-3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대청소 서비스 확인서</a:t>
            </a:r>
          </a:p>
        </p:txBody>
      </p:sp>
      <p:cxnSp>
        <p:nvCxnSpPr>
          <p:cNvPr id="3" name="직선 연결선 2"/>
          <p:cNvCxnSpPr/>
          <p:nvPr userDrawn="1"/>
        </p:nvCxnSpPr>
        <p:spPr>
          <a:xfrm>
            <a:off x="3330477" y="1041946"/>
            <a:ext cx="3528392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424732"/>
            <a:ext cx="685800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120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336676" y="1236664"/>
            <a:ext cx="8020050" cy="263048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36676" y="3968750"/>
            <a:ext cx="8020050" cy="18240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23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71" indent="0" algn="ctr">
              <a:buNone/>
              <a:defRPr sz="1600"/>
            </a:lvl4pPr>
            <a:lvl5pPr marL="1828894" indent="0" algn="ctr">
              <a:buNone/>
              <a:defRPr sz="1600"/>
            </a:lvl5pPr>
            <a:lvl6pPr marL="2286117" indent="0" algn="ctr">
              <a:buNone/>
              <a:defRPr sz="1600"/>
            </a:lvl6pPr>
            <a:lvl7pPr marL="2743340" indent="0" algn="ctr">
              <a:buNone/>
              <a:defRPr sz="1600"/>
            </a:lvl7pPr>
            <a:lvl8pPr marL="3200564" indent="0" algn="ctr">
              <a:buNone/>
              <a:defRPr sz="1600"/>
            </a:lvl8pPr>
            <a:lvl9pPr marL="3657787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2024-12-20</a:t>
            </a:fld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61192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2024-12-20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849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0250" y="1884363"/>
            <a:ext cx="9221788" cy="31432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0250" y="5056188"/>
            <a:ext cx="9221788" cy="16541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23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4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7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9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1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3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5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78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2024-12-20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1248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735014" y="2011363"/>
            <a:ext cx="4535487" cy="47942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422901" y="2011363"/>
            <a:ext cx="4535487" cy="47942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2024-12-20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3082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401638"/>
            <a:ext cx="9223376" cy="14605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6602" y="1852613"/>
            <a:ext cx="4524374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23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71" indent="0">
              <a:buNone/>
              <a:defRPr sz="1600" b="1"/>
            </a:lvl4pPr>
            <a:lvl5pPr marL="1828894" indent="0">
              <a:buNone/>
              <a:defRPr sz="1600" b="1"/>
            </a:lvl5pPr>
            <a:lvl6pPr marL="2286117" indent="0">
              <a:buNone/>
              <a:defRPr sz="1600" b="1"/>
            </a:lvl6pPr>
            <a:lvl7pPr marL="2743340" indent="0">
              <a:buNone/>
              <a:defRPr sz="1600" b="1"/>
            </a:lvl7pPr>
            <a:lvl8pPr marL="3200564" indent="0">
              <a:buNone/>
              <a:defRPr sz="1600" b="1"/>
            </a:lvl8pPr>
            <a:lvl9pPr marL="3657787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736602" y="2760664"/>
            <a:ext cx="4524374" cy="405923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413376" y="1852613"/>
            <a:ext cx="4546600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23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71" indent="0">
              <a:buNone/>
              <a:defRPr sz="1600" b="1"/>
            </a:lvl4pPr>
            <a:lvl5pPr marL="1828894" indent="0">
              <a:buNone/>
              <a:defRPr sz="1600" b="1"/>
            </a:lvl5pPr>
            <a:lvl6pPr marL="2286117" indent="0">
              <a:buNone/>
              <a:defRPr sz="1600" b="1"/>
            </a:lvl6pPr>
            <a:lvl7pPr marL="2743340" indent="0">
              <a:buNone/>
              <a:defRPr sz="1600" b="1"/>
            </a:lvl7pPr>
            <a:lvl8pPr marL="3200564" indent="0">
              <a:buNone/>
              <a:defRPr sz="1600" b="1"/>
            </a:lvl8pPr>
            <a:lvl9pPr marL="3657787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413376" y="2760664"/>
            <a:ext cx="4546600" cy="405923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2024-12-20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0148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2024-12-20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0353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2024-12-20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6926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503238"/>
            <a:ext cx="3449639" cy="17637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46601" y="1087438"/>
            <a:ext cx="5413375" cy="53705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36600" y="2266951"/>
            <a:ext cx="3449639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23" indent="0">
              <a:buNone/>
              <a:defRPr sz="1400"/>
            </a:lvl2pPr>
            <a:lvl3pPr marL="914446" indent="0">
              <a:buNone/>
              <a:defRPr sz="1200"/>
            </a:lvl3pPr>
            <a:lvl4pPr marL="1371671" indent="0">
              <a:buNone/>
              <a:defRPr sz="1000"/>
            </a:lvl4pPr>
            <a:lvl5pPr marL="1828894" indent="0">
              <a:buNone/>
              <a:defRPr sz="1000"/>
            </a:lvl5pPr>
            <a:lvl6pPr marL="2286117" indent="0">
              <a:buNone/>
              <a:defRPr sz="1000"/>
            </a:lvl6pPr>
            <a:lvl7pPr marL="2743340" indent="0">
              <a:buNone/>
              <a:defRPr sz="1000"/>
            </a:lvl7pPr>
            <a:lvl8pPr marL="3200564" indent="0">
              <a:buNone/>
              <a:defRPr sz="1000"/>
            </a:lvl8pPr>
            <a:lvl9pPr marL="3657787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2024-12-20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41678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503238"/>
            <a:ext cx="3449639" cy="17637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546601" y="1087438"/>
            <a:ext cx="5413375" cy="5370512"/>
          </a:xfrm>
        </p:spPr>
        <p:txBody>
          <a:bodyPr/>
          <a:lstStyle>
            <a:lvl1pPr marL="0" indent="0">
              <a:buNone/>
              <a:defRPr sz="3200"/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71" indent="0">
              <a:buNone/>
              <a:defRPr sz="2000"/>
            </a:lvl4pPr>
            <a:lvl5pPr marL="1828894" indent="0">
              <a:buNone/>
              <a:defRPr sz="2000"/>
            </a:lvl5pPr>
            <a:lvl6pPr marL="2286117" indent="0">
              <a:buNone/>
              <a:defRPr sz="2000"/>
            </a:lvl6pPr>
            <a:lvl7pPr marL="2743340" indent="0">
              <a:buNone/>
              <a:defRPr sz="2000"/>
            </a:lvl7pPr>
            <a:lvl8pPr marL="3200564" indent="0">
              <a:buNone/>
              <a:defRPr sz="2000"/>
            </a:lvl8pPr>
            <a:lvl9pPr marL="3657787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36600" y="2266951"/>
            <a:ext cx="3449639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23" indent="0">
              <a:buNone/>
              <a:defRPr sz="1400"/>
            </a:lvl2pPr>
            <a:lvl3pPr marL="914446" indent="0">
              <a:buNone/>
              <a:defRPr sz="1200"/>
            </a:lvl3pPr>
            <a:lvl4pPr marL="1371671" indent="0">
              <a:buNone/>
              <a:defRPr sz="1000"/>
            </a:lvl4pPr>
            <a:lvl5pPr marL="1828894" indent="0">
              <a:buNone/>
              <a:defRPr sz="1000"/>
            </a:lvl5pPr>
            <a:lvl6pPr marL="2286117" indent="0">
              <a:buNone/>
              <a:defRPr sz="1000"/>
            </a:lvl6pPr>
            <a:lvl7pPr marL="2743340" indent="0">
              <a:buNone/>
              <a:defRPr sz="1000"/>
            </a:lvl7pPr>
            <a:lvl8pPr marL="3200564" indent="0">
              <a:buNone/>
              <a:defRPr sz="1000"/>
            </a:lvl8pPr>
            <a:lvl9pPr marL="3657787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2024-12-20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08941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2024-12-20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45715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653339" y="401638"/>
            <a:ext cx="2305049" cy="64039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735014" y="401638"/>
            <a:ext cx="6765926" cy="64039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2024-12-20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25837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8846517" y="946150"/>
            <a:ext cx="1152648" cy="575469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600" spc="-300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dirty="0"/>
              <a:t>목차</a:t>
            </a:r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3605" y="7003758"/>
            <a:ext cx="2495127" cy="402313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686AB-25C3-45D7-8571-0AB58706FBE8}" type="slidenum">
              <a:rPr lang="ko-KR" altLang="en-US" smtClean="0"/>
              <a:t>‹#›</a:t>
            </a:fld>
            <a:endParaRPr lang="ko-KR" altLang="en-US" dirty="0"/>
          </a:p>
        </p:txBody>
      </p:sp>
      <p:grpSp>
        <p:nvGrpSpPr>
          <p:cNvPr id="6" name="그룹 5"/>
          <p:cNvGrpSpPr/>
          <p:nvPr userDrawn="1"/>
        </p:nvGrpSpPr>
        <p:grpSpPr>
          <a:xfrm>
            <a:off x="3466927" y="6711619"/>
            <a:ext cx="6416277" cy="523015"/>
            <a:chOff x="3466927" y="6711619"/>
            <a:chExt cx="6416277" cy="523015"/>
          </a:xfrm>
        </p:grpSpPr>
        <p:pic>
          <p:nvPicPr>
            <p:cNvPr id="7" name="그림 6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057735" y="6711619"/>
              <a:ext cx="681453" cy="234983"/>
            </a:xfrm>
            <a:prstGeom prst="rect">
              <a:avLst/>
            </a:prstGeom>
          </p:spPr>
        </p:pic>
        <p:sp>
          <p:nvSpPr>
            <p:cNvPr id="11" name="직사각형 10"/>
            <p:cNvSpPr/>
            <p:nvPr userDrawn="1"/>
          </p:nvSpPr>
          <p:spPr>
            <a:xfrm>
              <a:off x="3466927" y="6973024"/>
              <a:ext cx="6416277" cy="261610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9pPr>
            </a:lstStyle>
            <a:p>
              <a:pPr marL="0" lvl="1" algn="ctr" eaLnBrk="1" latinLnBrk="1" hangingPunct="1">
                <a:spcBef>
                  <a:spcPts val="600"/>
                </a:spcBef>
                <a:spcAft>
                  <a:spcPts val="600"/>
                </a:spcAft>
                <a:defRPr/>
              </a:pPr>
              <a:r>
                <a:rPr lang="ko-KR" altLang="en-US" sz="1100" b="0" dirty="0" err="1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에스앤아이</a:t>
              </a:r>
              <a:r>
                <a:rPr lang="ko-KR" altLang="en-US" sz="1100" b="0" dirty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r>
                <a:rPr lang="ko-KR" altLang="en-US" sz="1100" b="0" dirty="0" err="1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코퍼레이션의</a:t>
              </a:r>
              <a:r>
                <a:rPr lang="ko-KR" altLang="en-US" sz="1100" b="0" dirty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사전 승인 없이 본 내용의 전부 또는 일부에 대한 복사</a:t>
              </a:r>
              <a:r>
                <a:rPr lang="en-US" altLang="ko-KR" sz="1100" b="0" dirty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, </a:t>
              </a:r>
              <a:r>
                <a:rPr lang="ko-KR" altLang="en-US" sz="1100" b="0" dirty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전재</a:t>
              </a:r>
              <a:r>
                <a:rPr lang="en-US" altLang="ko-KR" sz="1100" b="0" dirty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, </a:t>
              </a:r>
              <a:r>
                <a:rPr lang="ko-KR" altLang="en-US" sz="1100" b="0" dirty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배포</a:t>
              </a:r>
              <a:r>
                <a:rPr lang="en-US" altLang="ko-KR" sz="1100" b="0" dirty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, </a:t>
              </a:r>
              <a:r>
                <a:rPr lang="ko-KR" altLang="en-US" sz="1100" b="0" dirty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사용 등을 금합니다</a:t>
              </a:r>
              <a:r>
                <a:rPr lang="en-US" altLang="ko-KR" sz="1100" b="0" dirty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.</a:t>
              </a:r>
              <a:endParaRPr lang="ko-KR" altLang="ko-KR" sz="1100" b="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pic>
        <p:nvPicPr>
          <p:cNvPr id="12" name="Picture 2" descr="\\psf\Home\Desktop\04 PNG file\04 엣스퍼트 BI 슬로건 상하 조합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8148" y="518979"/>
            <a:ext cx="1231468" cy="6669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433438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336675" y="1236663"/>
            <a:ext cx="8020050" cy="263048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36675" y="3968750"/>
            <a:ext cx="8020050" cy="18240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2024-12-20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89816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2024-12-20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12755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0250" y="1884363"/>
            <a:ext cx="9221788" cy="31432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0250" y="5056188"/>
            <a:ext cx="9221788" cy="16541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2024-12-20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16680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735013" y="2011363"/>
            <a:ext cx="4535487" cy="479425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422900" y="2011363"/>
            <a:ext cx="4535488" cy="479425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2024-12-20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25349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401638"/>
            <a:ext cx="9223375" cy="14605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6600" y="1852613"/>
            <a:ext cx="4524375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736600" y="2760663"/>
            <a:ext cx="4524375" cy="40592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413375" y="1852613"/>
            <a:ext cx="4546600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413375" y="2760663"/>
            <a:ext cx="4546600" cy="40592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2024-12-20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3243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2024-12-20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3560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2024-12-20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2077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503238"/>
            <a:ext cx="3449638" cy="17637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46600" y="1087438"/>
            <a:ext cx="5413375" cy="53705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36600" y="2266950"/>
            <a:ext cx="3449638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2024-12-20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45923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503238"/>
            <a:ext cx="3449638" cy="17637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546600" y="1087438"/>
            <a:ext cx="5413375" cy="53705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36600" y="2266950"/>
            <a:ext cx="3449638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2024-12-20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52159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2024-12-20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6009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653338" y="401638"/>
            <a:ext cx="2305050" cy="64039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735013" y="401638"/>
            <a:ext cx="6765925" cy="64039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2024-12-20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28892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sz="quarter" idx="10" hasCustomPrompt="1"/>
          </p:nvPr>
        </p:nvSpPr>
        <p:spPr>
          <a:xfrm>
            <a:off x="5130676" y="2865388"/>
            <a:ext cx="5184576" cy="49262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3200" b="1" spc="-150" baseline="0">
                <a:solidFill>
                  <a:schemeClr val="tx1">
                    <a:lumMod val="65000"/>
                    <a:lumOff val="3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1</a:t>
            </a:r>
            <a:r>
              <a:rPr lang="ko-KR" altLang="en-US" dirty="0"/>
              <a:t>월 </a:t>
            </a:r>
            <a:r>
              <a:rPr lang="en-US" altLang="ko-KR" dirty="0"/>
              <a:t>Monthly Report</a:t>
            </a:r>
            <a:endParaRPr lang="ko-KR" altLang="en-US" dirty="0"/>
          </a:p>
        </p:txBody>
      </p:sp>
      <p:sp>
        <p:nvSpPr>
          <p:cNvPr id="11" name="내용 개체 틀 9"/>
          <p:cNvSpPr>
            <a:spLocks noGrp="1"/>
          </p:cNvSpPr>
          <p:nvPr>
            <p:ph sz="quarter" idx="11" hasCustomPrompt="1"/>
          </p:nvPr>
        </p:nvSpPr>
        <p:spPr>
          <a:xfrm>
            <a:off x="5634732" y="3500686"/>
            <a:ext cx="4680520" cy="50311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2600" b="0" spc="-150" baseline="0">
                <a:solidFill>
                  <a:schemeClr val="tx1">
                    <a:lumMod val="50000"/>
                    <a:lumOff val="50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</a:lstStyle>
          <a:p>
            <a:pPr lvl="0"/>
            <a:r>
              <a:rPr lang="ko-KR" altLang="en-US" dirty="0" err="1"/>
              <a:t>그랑서울빌딩</a:t>
            </a:r>
            <a:endParaRPr lang="ko-KR" altLang="en-US" dirty="0"/>
          </a:p>
        </p:txBody>
      </p:sp>
      <p:sp>
        <p:nvSpPr>
          <p:cNvPr id="12" name="내용 개체 틀 9"/>
          <p:cNvSpPr>
            <a:spLocks noGrp="1"/>
          </p:cNvSpPr>
          <p:nvPr>
            <p:ph sz="quarter" idx="12" hasCustomPrompt="1"/>
          </p:nvPr>
        </p:nvSpPr>
        <p:spPr>
          <a:xfrm>
            <a:off x="3474492" y="3130178"/>
            <a:ext cx="1728192" cy="4840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3200" b="0" spc="-3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ko-KR" dirty="0"/>
              <a:t>2016</a:t>
            </a:r>
            <a:r>
              <a:rPr lang="ko-KR" altLang="en-US" dirty="0"/>
              <a:t>년</a:t>
            </a:r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3605" y="7003758"/>
            <a:ext cx="2495127" cy="402313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8B686AB-25C3-45D7-8571-0AB58706FBE8}" type="slidenum">
              <a:rPr kumimoji="1" lang="ko-K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pic>
        <p:nvPicPr>
          <p:cNvPr id="16" name="Picture 2" descr="\\psf\Home\Desktop\04 PNG file\04 엣스퍼트 BI 슬로건 상하 조합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8148" y="681906"/>
            <a:ext cx="1231468" cy="666983"/>
          </a:xfrm>
          <a:prstGeom prst="rect">
            <a:avLst/>
          </a:prstGeom>
          <a:noFill/>
        </p:spPr>
      </p:pic>
      <p:sp>
        <p:nvSpPr>
          <p:cNvPr id="18" name="직사각형 17"/>
          <p:cNvSpPr/>
          <p:nvPr userDrawn="1"/>
        </p:nvSpPr>
        <p:spPr>
          <a:xfrm>
            <a:off x="3466927" y="6973024"/>
            <a:ext cx="6416277" cy="261610"/>
          </a:xfrm>
          <a:prstGeom prst="rect">
            <a:avLst/>
          </a:prstGeom>
          <a:effectLst/>
        </p:spPr>
        <p:txBody>
          <a:bodyPr wrap="square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9pPr>
          </a:lstStyle>
          <a:p>
            <a:pPr marL="0" lvl="1" algn="ctr" eaLnBrk="1" latin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ko-KR" altLang="en-US" sz="1100" b="0" dirty="0" err="1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에스앤아이</a:t>
            </a:r>
            <a:r>
              <a:rPr lang="ko-KR" altLang="en-US" sz="1100" b="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100" b="0" dirty="0" err="1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코퍼레인션의</a:t>
            </a:r>
            <a:r>
              <a:rPr lang="ko-KR" altLang="en-US" sz="1100" b="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사전 승인 없이 본 내용의 전부 또는 일부에 대한 복사</a:t>
            </a:r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b="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전재</a:t>
            </a:r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b="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배포</a:t>
            </a:r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b="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사용 등을 금합니다</a:t>
            </a:r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lang="ko-KR" altLang="ko-KR" sz="1100" b="0" dirty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7100" y="6673471"/>
            <a:ext cx="818501" cy="25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59216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8846517" y="946150"/>
            <a:ext cx="1152648" cy="575469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600" spc="-300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dirty="0"/>
              <a:t>목차</a:t>
            </a:r>
          </a:p>
        </p:txBody>
      </p:sp>
      <p:pic>
        <p:nvPicPr>
          <p:cNvPr id="7" name="Picture 2" descr="\\psf\Home\Desktop\04 PNG file\04 엣스퍼트 BI 슬로건 상하 조합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8148" y="518979"/>
            <a:ext cx="1231468" cy="666983"/>
          </a:xfrm>
          <a:prstGeom prst="rect">
            <a:avLst/>
          </a:prstGeom>
          <a:noFill/>
        </p:spPr>
      </p:pic>
      <p:sp>
        <p:nvSpPr>
          <p:cNvPr id="9" name="직사각형 8"/>
          <p:cNvSpPr/>
          <p:nvPr userDrawn="1"/>
        </p:nvSpPr>
        <p:spPr>
          <a:xfrm>
            <a:off x="3466927" y="6973024"/>
            <a:ext cx="6416277" cy="261610"/>
          </a:xfrm>
          <a:prstGeom prst="rect">
            <a:avLst/>
          </a:prstGeom>
          <a:effectLst/>
        </p:spPr>
        <p:txBody>
          <a:bodyPr wrap="square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9pPr>
          </a:lstStyle>
          <a:p>
            <a:pPr marL="0" lvl="1" algn="ctr" eaLnBrk="1" latin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ko-KR" altLang="en-US" sz="1100" b="0" dirty="0" err="1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에스앤아이</a:t>
            </a:r>
            <a:r>
              <a:rPr lang="ko-KR" altLang="en-US" sz="1100" b="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100" b="0" dirty="0" err="1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코퍼레인션의</a:t>
            </a:r>
            <a:r>
              <a:rPr lang="ko-KR" altLang="en-US" sz="1100" b="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사전 승인 없이 본 내용의 전부 또는 일부에 대한 복사</a:t>
            </a:r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b="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전재</a:t>
            </a:r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b="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배포</a:t>
            </a:r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b="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사용 등을 금합니다</a:t>
            </a:r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lang="ko-KR" altLang="ko-KR" sz="1100" b="0" dirty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7100" y="6673471"/>
            <a:ext cx="818501" cy="25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0959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2487613" y="3130104"/>
            <a:ext cx="7395591" cy="576138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4400" b="1" i="0" spc="-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2</a:t>
            </a:r>
            <a:r>
              <a:rPr lang="ko-KR" altLang="en-US" dirty="0"/>
              <a:t>월 </a:t>
            </a:r>
            <a:r>
              <a:rPr lang="ko-KR" altLang="en-US" dirty="0" err="1"/>
              <a:t>상주형</a:t>
            </a:r>
            <a:r>
              <a:rPr lang="ko-KR" altLang="en-US" dirty="0"/>
              <a:t> 고객 리포트</a:t>
            </a:r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3605" y="7003758"/>
            <a:ext cx="2495127" cy="402313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8B686AB-25C3-45D7-8571-0AB58706FBE8}" type="slidenum">
              <a:rPr kumimoji="1" lang="ko-K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pic>
        <p:nvPicPr>
          <p:cNvPr id="12" name="Picture 2" descr="\\psf\Home\Desktop\04 PNG file\04 엣스퍼트 BI 슬로건 상하 조합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8148" y="681906"/>
            <a:ext cx="1231468" cy="666983"/>
          </a:xfrm>
          <a:prstGeom prst="rect">
            <a:avLst/>
          </a:prstGeom>
          <a:noFill/>
        </p:spPr>
      </p:pic>
      <p:sp>
        <p:nvSpPr>
          <p:cNvPr id="9" name="직사각형 8"/>
          <p:cNvSpPr/>
          <p:nvPr userDrawn="1"/>
        </p:nvSpPr>
        <p:spPr>
          <a:xfrm>
            <a:off x="3466927" y="6973024"/>
            <a:ext cx="6416277" cy="261610"/>
          </a:xfrm>
          <a:prstGeom prst="rect">
            <a:avLst/>
          </a:prstGeom>
          <a:effectLst/>
        </p:spPr>
        <p:txBody>
          <a:bodyPr wrap="square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9pPr>
          </a:lstStyle>
          <a:p>
            <a:pPr marL="0" lvl="1" algn="ctr" eaLnBrk="1" latin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ko-KR" altLang="en-US" sz="1100" b="0" dirty="0" err="1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에스앤아이</a:t>
            </a:r>
            <a:r>
              <a:rPr lang="ko-KR" altLang="en-US" sz="1100" b="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100" b="0" dirty="0" err="1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코퍼레인션의</a:t>
            </a:r>
            <a:r>
              <a:rPr lang="ko-KR" altLang="en-US" sz="1100" b="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사전 승인 없이 본 내용의 전부 또는 일부에 대한 복사</a:t>
            </a:r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b="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전재</a:t>
            </a:r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b="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배포</a:t>
            </a:r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b="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사용 등을 금합니다</a:t>
            </a:r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lang="ko-KR" altLang="ko-KR" sz="1100" b="0" dirty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7100" y="6673471"/>
            <a:ext cx="818501" cy="25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30342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콘텐츠 2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255464" y="280715"/>
            <a:ext cx="4350568" cy="429766"/>
          </a:xfrm>
        </p:spPr>
        <p:txBody>
          <a:bodyPr>
            <a:normAutofit/>
          </a:bodyPr>
          <a:lstStyle>
            <a:lvl1pPr marL="0" indent="0" algn="l">
              <a:buFontTx/>
              <a:buNone/>
              <a:defRPr sz="2400" b="1" spc="-300" baseline="0">
                <a:solidFill>
                  <a:schemeClr val="bg1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05. </a:t>
            </a:r>
            <a:r>
              <a:rPr lang="ko-KR" altLang="en-US" dirty="0"/>
              <a:t>서비스 수행실적 </a:t>
            </a:r>
            <a:r>
              <a:rPr lang="en-US" altLang="ko-KR" dirty="0"/>
              <a:t>– </a:t>
            </a:r>
            <a:r>
              <a:rPr lang="ko-KR" altLang="en-US" dirty="0"/>
              <a:t>미화</a:t>
            </a:r>
          </a:p>
        </p:txBody>
      </p:sp>
      <p:sp>
        <p:nvSpPr>
          <p:cNvPr id="11" name="내용 개체 틀 9"/>
          <p:cNvSpPr>
            <a:spLocks noGrp="1"/>
          </p:cNvSpPr>
          <p:nvPr>
            <p:ph sz="quarter" idx="14" hasCustomPrompt="1"/>
          </p:nvPr>
        </p:nvSpPr>
        <p:spPr>
          <a:xfrm>
            <a:off x="6031806" y="431974"/>
            <a:ext cx="4350568" cy="321940"/>
          </a:xfrm>
        </p:spPr>
        <p:txBody>
          <a:bodyPr>
            <a:normAutofit/>
          </a:bodyPr>
          <a:lstStyle>
            <a:lvl1pPr marL="0" indent="0" algn="r">
              <a:buFontTx/>
              <a:buNone/>
              <a:defRPr sz="1800" b="0" spc="-150" baseline="0">
                <a:solidFill>
                  <a:schemeClr val="bg1">
                    <a:lumMod val="8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0000 </a:t>
            </a:r>
            <a:r>
              <a:rPr lang="ko-KR" altLang="en-US" dirty="0"/>
              <a:t>센터</a:t>
            </a:r>
          </a:p>
        </p:txBody>
      </p:sp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748" y="7083375"/>
            <a:ext cx="685800" cy="257175"/>
          </a:xfrm>
          <a:prstGeom prst="rect">
            <a:avLst/>
          </a:prstGeom>
        </p:spPr>
      </p:pic>
      <p:sp>
        <p:nvSpPr>
          <p:cNvPr id="14" name="직사각형 13"/>
          <p:cNvSpPr/>
          <p:nvPr userDrawn="1"/>
        </p:nvSpPr>
        <p:spPr>
          <a:xfrm>
            <a:off x="950019" y="7232824"/>
            <a:ext cx="9221217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089107" y="7029295"/>
            <a:ext cx="2495127" cy="402313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8B686AB-25C3-45D7-8571-0AB58706FBE8}" type="slidenum">
              <a:rPr kumimoji="1" lang="ko-K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2" name="직사각형 1"/>
          <p:cNvSpPr/>
          <p:nvPr userDrawn="1"/>
        </p:nvSpPr>
        <p:spPr>
          <a:xfrm>
            <a:off x="10027220" y="7173659"/>
            <a:ext cx="5549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8B686AB-25C3-45D7-8571-0AB58706FBE8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2.0 Regular" panose="020B0600000101010101" pitchFamily="50" charset="-127"/>
              <a:ea typeface="LG스마트체2.0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885729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콘텐츠 2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2394372" y="540172"/>
            <a:ext cx="5328592" cy="429766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800" b="1" spc="-3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대청소 서비스 확인서</a:t>
            </a:r>
          </a:p>
        </p:txBody>
      </p:sp>
      <p:cxnSp>
        <p:nvCxnSpPr>
          <p:cNvPr id="3" name="직선 연결선 2"/>
          <p:cNvCxnSpPr/>
          <p:nvPr userDrawn="1"/>
        </p:nvCxnSpPr>
        <p:spPr>
          <a:xfrm>
            <a:off x="3330476" y="1041946"/>
            <a:ext cx="3528392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424731"/>
            <a:ext cx="685800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62723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336675" y="1236663"/>
            <a:ext cx="8020050" cy="263048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36675" y="3968750"/>
            <a:ext cx="8020050" cy="18240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2024-12-20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82308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2024-12-20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802419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0250" y="1884363"/>
            <a:ext cx="9221788" cy="31432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0250" y="5056188"/>
            <a:ext cx="9221788" cy="16541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2024-12-20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248331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735013" y="2011363"/>
            <a:ext cx="4535487" cy="47942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422900" y="2011363"/>
            <a:ext cx="4535488" cy="47942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2024-12-20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919231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401638"/>
            <a:ext cx="9223375" cy="14605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6600" y="1852613"/>
            <a:ext cx="4524375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736600" y="2760663"/>
            <a:ext cx="4524375" cy="405923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413375" y="1852613"/>
            <a:ext cx="4546600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413375" y="2760663"/>
            <a:ext cx="4546600" cy="405923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2024-12-20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479620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2024-12-20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65006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2024-12-20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132812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503238"/>
            <a:ext cx="3449638" cy="17637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46600" y="1087438"/>
            <a:ext cx="5413375" cy="53705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36600" y="2266950"/>
            <a:ext cx="3449638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2024-12-20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537223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503238"/>
            <a:ext cx="3449638" cy="17637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546600" y="1087438"/>
            <a:ext cx="5413375" cy="53705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36600" y="2266950"/>
            <a:ext cx="3449638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2024-12-20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988450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2024-12-20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698675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653338" y="401638"/>
            <a:ext cx="2305050" cy="64039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735013" y="401638"/>
            <a:ext cx="6765925" cy="64039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2024-12-20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562126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 userDrawn="1"/>
        </p:nvSpPr>
        <p:spPr>
          <a:xfrm>
            <a:off x="2676525" y="2798586"/>
            <a:ext cx="5524500" cy="861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104243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4997" b="0" i="0" u="none" strike="noStrike" kern="1200" cap="none" spc="0" normalizeH="0" baseline="0" noProof="0" dirty="0">
                <a:ln>
                  <a:noFill/>
                </a:ln>
                <a:solidFill>
                  <a:srgbClr val="CD0F46"/>
                </a:solidFill>
                <a:effectLst/>
                <a:uLnTx/>
                <a:uFillTx/>
                <a:latin typeface="LG스마트체 SemiBold" pitchFamily="50" charset="-127"/>
                <a:ea typeface="LG스마트체 SemiBold" pitchFamily="50" charset="-127"/>
                <a:cs typeface="+mn-cs"/>
              </a:rPr>
              <a:t>Thank you</a:t>
            </a:r>
            <a:endParaRPr kumimoji="1" lang="ko-KR" altLang="en-US" sz="499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pic>
        <p:nvPicPr>
          <p:cNvPr id="1026" name="Picture 2" descr="\\psf\Home\Desktop\04 PNG file\04 엣스퍼트 BI 슬로건 상하 조합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9640" y="6092161"/>
            <a:ext cx="1505806" cy="79800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20075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44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735013" y="401638"/>
            <a:ext cx="9223376" cy="1460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5013" y="2011363"/>
            <a:ext cx="9223376" cy="4794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735014" y="7004050"/>
            <a:ext cx="24066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85B425-81EA-4539-BE6C-928227732D98}" type="datetimeFigureOut">
              <a:rPr lang="ko-KR" altLang="en-US" smtClean="0"/>
              <a:t>2024-12-20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541714" y="7004050"/>
            <a:ext cx="3609975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551739" y="7004050"/>
            <a:ext cx="24066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033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</p:sldLayoutIdLst>
  <p:txStyles>
    <p:titleStyle>
      <a:lvl1pPr algn="l" defTabSz="914446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2" indent="-228612" algn="l" defTabSz="914446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35" indent="-228612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8" indent="-228612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1" indent="-228612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6" indent="-228612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9" indent="-228612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52" indent="-228612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5" indent="-228612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400" indent="-228612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71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4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7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40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4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7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735013" y="401638"/>
            <a:ext cx="9223375" cy="1460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5013" y="2011363"/>
            <a:ext cx="9223375" cy="4794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735013" y="7004050"/>
            <a:ext cx="24066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E0F446-C1D4-4F46-9D8A-25CB61739800}" type="datetimeFigureOut">
              <a:rPr lang="ko-KR" altLang="en-US" smtClean="0"/>
              <a:t>2024-12-20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541713" y="7004050"/>
            <a:ext cx="3609975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551738" y="7004050"/>
            <a:ext cx="24066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1454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735013" y="401638"/>
            <a:ext cx="9223375" cy="1460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5013" y="2011363"/>
            <a:ext cx="9223375" cy="4794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735013" y="7004050"/>
            <a:ext cx="24066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2024-12-20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541713" y="7004050"/>
            <a:ext cx="3609975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551738" y="7004050"/>
            <a:ext cx="24066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1891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6.png"/><Relationship Id="rId4" Type="http://schemas.openxmlformats.org/officeDocument/2006/relationships/image" Target="../media/image15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1.emf"/><Relationship Id="rId4" Type="http://schemas.openxmlformats.org/officeDocument/2006/relationships/package" Target="../embeddings/Microsoft_Excel_Worksheet1.xlsx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>
          <a:xfrm>
            <a:off x="3762524" y="2865388"/>
            <a:ext cx="6552728" cy="492621"/>
          </a:xfrm>
        </p:spPr>
        <p:txBody>
          <a:bodyPr/>
          <a:lstStyle/>
          <a:p>
            <a:r>
              <a:rPr lang="ko-KR" altLang="en-US" dirty="0"/>
              <a:t>밀폐공간 작업 프로그램</a:t>
            </a:r>
            <a:endParaRPr lang="ko-KR" altLang="en-US" sz="2000" dirty="0"/>
          </a:p>
        </p:txBody>
      </p:sp>
      <p:sp>
        <p:nvSpPr>
          <p:cNvPr id="5" name="내용 개체 틀 4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dirty="0"/>
              <a:t>000 </a:t>
            </a:r>
            <a:r>
              <a:rPr lang="ko-KR" altLang="en-US" dirty="0" err="1"/>
              <a:t>운영센터</a:t>
            </a:r>
            <a:endParaRPr lang="en-US" altLang="ko-KR" dirty="0"/>
          </a:p>
          <a:p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1933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856477"/>
              </p:ext>
            </p:extLst>
          </p:nvPr>
        </p:nvGraphicFramePr>
        <p:xfrm>
          <a:off x="470643" y="1401986"/>
          <a:ext cx="9772601" cy="5357194"/>
        </p:xfrm>
        <a:graphic>
          <a:graphicData uri="http://schemas.openxmlformats.org/drawingml/2006/table">
            <a:tbl>
              <a:tblPr/>
              <a:tblGrid>
                <a:gridCol w="3765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59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905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8406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일 자</a:t>
                      </a: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 유</a:t>
                      </a: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53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2017. 04. 11</a:t>
                      </a: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최초 제정</a:t>
                      </a: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밀폐공간 작업 프로그램 제정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53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2018.11. 27</a:t>
                      </a: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개정</a:t>
                      </a: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가이드 제작 및 자료 업데이트로 인한 개정</a:t>
                      </a: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53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2019.08.27</a:t>
                      </a: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개정</a:t>
                      </a: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내용 일부 수정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53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2024.04.22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개정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자료 업데이트 및 내용 일부 수정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53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2024.10.04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개정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법적 사항 충족을 위한 내용 일부 수정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53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</a:t>
                      </a: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53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</a:t>
                      </a: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653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</a:t>
                      </a: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6653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</a:t>
                      </a: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" name="내용 개체 틀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 · </a:t>
            </a:r>
            <a:r>
              <a:rPr lang="ko-KR" altLang="en-US" dirty="0"/>
              <a:t>개정 이력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밀폐공간 작업 프로그램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778581" y="1762027"/>
            <a:ext cx="3560007" cy="39032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605" tIns="47302" rIns="94605" bIns="47302" rtlCol="0" anchor="t"/>
          <a:lstStyle/>
          <a:p>
            <a:pPr marL="342917" indent="-342917">
              <a:lnSpc>
                <a:spcPct val="150000"/>
              </a:lnSpc>
              <a:buAutoNum type="arabicPeriod"/>
              <a:defRPr/>
            </a:pPr>
            <a:r>
              <a:rPr lang="ko-KR" altLang="en-US" sz="1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목 적</a:t>
            </a:r>
            <a:endParaRPr lang="en-US" altLang="ko-KR" sz="1600" b="1" kern="0" dirty="0">
              <a:solidFill>
                <a:schemeClr val="tx1">
                  <a:lumMod val="75000"/>
                  <a:lumOff val="2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342917" indent="-342917">
              <a:lnSpc>
                <a:spcPct val="150000"/>
              </a:lnSpc>
              <a:buAutoNum type="arabicPeriod" startAt="2"/>
              <a:defRPr/>
            </a:pPr>
            <a:r>
              <a:rPr lang="ko-KR" altLang="en-US" sz="1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작 업 장 소</a:t>
            </a:r>
            <a:endParaRPr lang="en-US" altLang="ko-KR" sz="1600" b="1" kern="0" dirty="0">
              <a:solidFill>
                <a:schemeClr val="tx1">
                  <a:lumMod val="75000"/>
                  <a:lumOff val="2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342917" indent="-342917">
              <a:lnSpc>
                <a:spcPct val="150000"/>
              </a:lnSpc>
              <a:buAutoNum type="arabicPeriod" startAt="2"/>
              <a:defRPr/>
            </a:pPr>
            <a:r>
              <a:rPr lang="ko-KR" altLang="en-US" sz="1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재 해 현 황</a:t>
            </a:r>
            <a:endParaRPr lang="en-US" altLang="ko-KR" sz="1600" b="1" kern="0" dirty="0">
              <a:solidFill>
                <a:schemeClr val="tx1">
                  <a:lumMod val="75000"/>
                  <a:lumOff val="2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342917" indent="-342917">
              <a:lnSpc>
                <a:spcPct val="150000"/>
              </a:lnSpc>
              <a:buAutoNum type="arabicPeriod" startAt="2"/>
              <a:defRPr/>
            </a:pPr>
            <a:r>
              <a:rPr lang="ko-KR" altLang="en-US" sz="1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조직  및 운영</a:t>
            </a:r>
            <a:endParaRPr lang="en-US" altLang="ko-KR" sz="1600" b="1" kern="0" dirty="0">
              <a:solidFill>
                <a:schemeClr val="tx1">
                  <a:lumMod val="75000"/>
                  <a:lumOff val="2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342917" indent="-342917">
              <a:lnSpc>
                <a:spcPct val="150000"/>
              </a:lnSpc>
              <a:buAutoNum type="arabicPeriod" startAt="2"/>
              <a:defRPr/>
            </a:pPr>
            <a:r>
              <a:rPr lang="ko-KR" altLang="en-US" sz="1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밀폐공간 작업허가</a:t>
            </a:r>
            <a:endParaRPr lang="en-US" altLang="ko-KR" sz="1600" b="1" kern="0" dirty="0">
              <a:solidFill>
                <a:schemeClr val="tx1">
                  <a:lumMod val="75000"/>
                  <a:lumOff val="2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342917" indent="-342917">
              <a:lnSpc>
                <a:spcPct val="150000"/>
              </a:lnSpc>
              <a:buAutoNum type="arabicPeriod" startAt="2"/>
              <a:defRPr/>
            </a:pPr>
            <a:r>
              <a:rPr lang="ko-KR" altLang="en-US" sz="1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밀폐공간 작업</a:t>
            </a:r>
            <a:endParaRPr lang="en-US" altLang="ko-KR" sz="1600" b="1" kern="0" dirty="0">
              <a:solidFill>
                <a:schemeClr val="tx1">
                  <a:lumMod val="75000"/>
                  <a:lumOff val="2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342917" indent="-342917">
              <a:lnSpc>
                <a:spcPct val="150000"/>
              </a:lnSpc>
              <a:buAutoNum type="arabicPeriod" startAt="2"/>
              <a:defRPr/>
            </a:pPr>
            <a:r>
              <a:rPr lang="ko-KR" altLang="en-US" sz="1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산소 및 유해가스 농도 측정</a:t>
            </a:r>
            <a:endParaRPr lang="en-US" altLang="ko-KR" sz="1600" b="1" kern="0" dirty="0">
              <a:solidFill>
                <a:schemeClr val="tx1">
                  <a:lumMod val="75000"/>
                  <a:lumOff val="2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342917" indent="-342917">
              <a:lnSpc>
                <a:spcPct val="150000"/>
              </a:lnSpc>
              <a:buAutoNum type="arabicPeriod" startAt="2"/>
              <a:defRPr/>
            </a:pPr>
            <a:r>
              <a:rPr lang="ko-KR" altLang="en-US" sz="1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밀폐공간에서의 환기</a:t>
            </a:r>
            <a:endParaRPr lang="en-US" altLang="ko-KR" sz="1600" b="1" kern="0" dirty="0">
              <a:solidFill>
                <a:schemeClr val="tx1">
                  <a:lumMod val="75000"/>
                  <a:lumOff val="2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342917" indent="-342917">
              <a:lnSpc>
                <a:spcPct val="150000"/>
              </a:lnSpc>
              <a:buAutoNum type="arabicPeriod" startAt="2"/>
              <a:defRPr/>
            </a:pPr>
            <a:r>
              <a:rPr lang="ko-KR" altLang="en-US" sz="1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보호구의 사용</a:t>
            </a:r>
            <a:endParaRPr lang="en-US" altLang="ko-KR" sz="1600" b="1" kern="0" dirty="0">
              <a:solidFill>
                <a:schemeClr val="tx1">
                  <a:lumMod val="75000"/>
                  <a:lumOff val="2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342917" indent="-342917">
              <a:lnSpc>
                <a:spcPct val="150000"/>
              </a:lnSpc>
              <a:buAutoNum type="arabicPeriod" startAt="2"/>
              <a:defRPr/>
            </a:pPr>
            <a:r>
              <a:rPr lang="ko-KR" altLang="en-US" sz="1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응급처치</a:t>
            </a:r>
            <a:endParaRPr lang="en-US" altLang="ko-KR" sz="1600" b="1" kern="0" dirty="0">
              <a:solidFill>
                <a:schemeClr val="tx1">
                  <a:lumMod val="75000"/>
                  <a:lumOff val="2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342917" indent="-342917">
              <a:lnSpc>
                <a:spcPct val="150000"/>
              </a:lnSpc>
              <a:buAutoNum type="arabicPeriod" startAt="2"/>
              <a:defRPr/>
            </a:pPr>
            <a:r>
              <a:rPr lang="ko-KR" altLang="en-US" sz="1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교육</a:t>
            </a:r>
            <a:r>
              <a:rPr lang="en-US" altLang="ko-KR" sz="1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훈련의 실시</a:t>
            </a:r>
            <a:endParaRPr lang="en-US" altLang="ko-KR" sz="1600" b="1" kern="0" dirty="0">
              <a:solidFill>
                <a:schemeClr val="tx1">
                  <a:lumMod val="75000"/>
                  <a:lumOff val="2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342917" indent="-342917">
              <a:lnSpc>
                <a:spcPct val="150000"/>
              </a:lnSpc>
              <a:buAutoNum type="arabicPeriod" startAt="2"/>
              <a:defRPr/>
            </a:pPr>
            <a:r>
              <a:rPr lang="ko-KR" altLang="en-US" sz="1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기타 안전보건상의 조치</a:t>
            </a:r>
            <a:endParaRPr lang="en-US" altLang="ko-KR" sz="1600" b="1" kern="0" dirty="0">
              <a:solidFill>
                <a:schemeClr val="tx1">
                  <a:lumMod val="75000"/>
                  <a:lumOff val="2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342917" indent="-342917">
              <a:lnSpc>
                <a:spcPct val="150000"/>
              </a:lnSpc>
              <a:buAutoNum type="arabicPeriod" startAt="2"/>
              <a:defRPr/>
            </a:pPr>
            <a:r>
              <a:rPr lang="ko-KR" altLang="en-US" sz="1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프로그램의 평가</a:t>
            </a:r>
            <a:endParaRPr lang="en-US" altLang="ko-KR" sz="1600" b="1" kern="0" dirty="0">
              <a:solidFill>
                <a:schemeClr val="tx1">
                  <a:lumMod val="75000"/>
                  <a:lumOff val="2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311026" indent="-311026">
              <a:lnSpc>
                <a:spcPct val="150000"/>
              </a:lnSpc>
              <a:buAutoNum type="arabicPeriod"/>
              <a:defRPr/>
            </a:pPr>
            <a:endParaRPr lang="en-US" altLang="ko-KR" sz="1600" b="1" kern="0" dirty="0">
              <a:solidFill>
                <a:schemeClr val="tx1">
                  <a:lumMod val="75000"/>
                  <a:lumOff val="2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852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작업 프로그램</a:t>
            </a:r>
          </a:p>
        </p:txBody>
      </p:sp>
      <p:sp>
        <p:nvSpPr>
          <p:cNvPr id="22" name="내용 개체 틀 2"/>
          <p:cNvSpPr>
            <a:spLocks noGrp="1"/>
          </p:cNvSpPr>
          <p:nvPr>
            <p:ph sz="quarter" idx="14"/>
          </p:nvPr>
        </p:nvSpPr>
        <p:spPr>
          <a:xfrm>
            <a:off x="6031807" y="431974"/>
            <a:ext cx="4350567" cy="321940"/>
          </a:xfrm>
        </p:spPr>
        <p:txBody>
          <a:bodyPr>
            <a:normAutofit lnSpcReduction="10000"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목 적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378148" y="1041948"/>
            <a:ext cx="928903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1. 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목 적</a:t>
            </a:r>
            <a:endParaRPr lang="en-US" altLang="ko-KR" sz="13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r>
              <a:rPr lang="ko-KR" altLang="en-US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작업 시 산소결핍 또는 유해가스로 인한 질식재해를 예방하고자 함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6930876" y="2061091"/>
            <a:ext cx="338437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ko-KR" altLang="en-US" sz="12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법적 근거</a:t>
            </a:r>
            <a:r>
              <a:rPr lang="en-US" altLang="ko-KR" sz="12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: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산업안전보건 기준에 관한 규칙 제 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619</a:t>
            </a:r>
            <a:r>
              <a:rPr lang="ko-KR" altLang="en-US" sz="12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</a:t>
            </a:r>
            <a:r>
              <a:rPr lang="ko-KR" altLang="en-US" sz="105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2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378148" y="2462362"/>
            <a:ext cx="9289032" cy="538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endParaRPr lang="en-US" altLang="ko-KR" sz="1200" dirty="0"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378148" y="2338090"/>
            <a:ext cx="9865096" cy="412420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작업 프로그램의 수립 시행 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1)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사업주는 밀폐공간에서 근로자에게 작업을 하도록 하는 경우 다음 각 호의 내용이 포함된 밀폐공간 작업 프로그램을 수립하여 시행하여야 한다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pPr latinLnBrk="1">
              <a:spcBef>
                <a:spcPts val="600"/>
              </a:spcBef>
            </a:pP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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사업장 내 밀폐공간의 위치 파악 및 관리방안</a:t>
            </a:r>
            <a:endParaRPr lang="en-US" altLang="ko-KR" sz="1200" dirty="0"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 2" panose="05020102010507070707" pitchFamily="18" charset="2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      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밀폐공간 내 질식 중독 등을 일으킬 수 있는 유해 위험 요인의 파악 및 관리 방안</a:t>
            </a:r>
            <a:endParaRPr lang="en-US" altLang="ko-KR" sz="1200" dirty="0"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 2" panose="05020102010507070707" pitchFamily="18" charset="2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      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제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2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항에 따라 밀폐공간 작업 시 사전 확인이 필요한 사항에 대한 확인 절차</a:t>
            </a:r>
            <a:endParaRPr lang="en-US" altLang="ko-KR" sz="1200" dirty="0"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 2" panose="05020102010507070707" pitchFamily="18" charset="2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      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안전보건교육 및 훈련</a:t>
            </a:r>
            <a:endParaRPr lang="en-US" altLang="ko-KR" sz="1200" dirty="0"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 2" panose="05020102010507070707" pitchFamily="18" charset="2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      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그 밖에 밀폐공간 작업 근로자의 건강장해 예방에 관한 사항</a:t>
            </a:r>
            <a:endParaRPr lang="en-US" altLang="ko-KR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2)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사업주는 근로자가 밀폐공간에서 작업을 시작하기 전에 다음 각 호의 사항을 확인하여 근로자가 안전한 상태에서 작업하도록 하여야 한다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pPr latinLnBrk="1">
              <a:spcBef>
                <a:spcPts val="600"/>
              </a:spcBef>
            </a:pP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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작업 일시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,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기간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,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장소 및 내용 등 작업 정보</a:t>
            </a:r>
            <a:endParaRPr lang="en-US" altLang="ko-KR" sz="1200" dirty="0"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 2" panose="05020102010507070707" pitchFamily="18" charset="2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      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관리감독자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,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근로자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,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감시인 등 작업자 정보</a:t>
            </a:r>
            <a:endParaRPr lang="en-US" altLang="ko-KR" sz="1200" dirty="0"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 2" panose="05020102010507070707" pitchFamily="18" charset="2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      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산소 및 유해가스 농도의 측정결과 및 후속조치 사항</a:t>
            </a:r>
            <a:endParaRPr lang="en-US" altLang="ko-KR" sz="1200" dirty="0"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 2" panose="05020102010507070707" pitchFamily="18" charset="2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      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작업 중 불활성가스 또는 유해가스의 누출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,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유입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,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발생 가능성 검토 및 후속조치 사항</a:t>
            </a:r>
            <a:endParaRPr lang="en-US" altLang="ko-KR" sz="1200" dirty="0"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 2" panose="05020102010507070707" pitchFamily="18" charset="2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      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작업 시 착용하여야 할 보호구의 종류</a:t>
            </a:r>
            <a:endParaRPr lang="en-US" altLang="ko-KR" sz="1200" dirty="0"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 2" panose="05020102010507070707" pitchFamily="18" charset="2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      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비상연락체계</a:t>
            </a:r>
            <a:endParaRPr lang="en-US" altLang="ko-KR" sz="1200" dirty="0"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 2" panose="05020102010507070707" pitchFamily="18" charset="2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  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3)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사업주는 밀폐공간에서의 작업이 종료될 때까지 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2)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항의 각 호의 내용을 해당 작업장 출입구에 게시하여야 한다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. </a:t>
            </a:r>
            <a:b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</a:b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      =&gt;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밀폐공간 작업 프로그램 및 밀폐공간 </a:t>
            </a:r>
            <a:r>
              <a:rPr lang="ko-KR" altLang="en-US" sz="12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작업계획서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 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10823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378148" y="933934"/>
            <a:ext cx="928903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2. 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작업 장소</a:t>
            </a:r>
            <a:endParaRPr lang="en-US" altLang="ko-KR" sz="13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6321463"/>
                  </p:ext>
                </p:extLst>
              </p:nvPr>
            </p:nvGraphicFramePr>
            <p:xfrm>
              <a:off x="738188" y="1320247"/>
              <a:ext cx="9287395" cy="1758686"/>
            </p:xfrm>
            <a:graphic>
              <a:graphicData uri="http://schemas.openxmlformats.org/drawingml/2006/table">
                <a:tbl>
                  <a:tblPr/>
                  <a:tblGrid>
                    <a:gridCol w="68427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1239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0758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80762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8080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512168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684076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898464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277359">
                    <a:tc rowSpan="2"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No.</a:t>
                          </a: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</a:txBody>
                      <a:tcPr marL="17907" marR="17907" marT="17907" marB="17907" anchor="ctr">
                        <a:lnL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000" b="1" kern="0" spc="0" dirty="0" err="1">
                              <a:solidFill>
                                <a:srgbClr val="00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공정명</a:t>
                          </a: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작업장소</a:t>
                          </a: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작업내용</a:t>
                          </a: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작업주기</a:t>
                          </a: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(</a:t>
                          </a:r>
                          <a:r>
                            <a:rPr lang="ko-KR" altLang="en-US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작업빈도</a:t>
                          </a:r>
                          <a:r>
                            <a:rPr lang="en-US" altLang="ko-KR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)</a:t>
                          </a: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근로자수</a:t>
                          </a: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비고</a:t>
                          </a:r>
                          <a:endParaRPr lang="en-US" altLang="ko-KR" sz="1000" b="1" kern="0" spc="0" dirty="0">
                            <a:solidFill>
                              <a:srgbClr val="00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2349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000" b="1" kern="0" spc="0">
                              <a:solidFill>
                                <a:srgbClr val="00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명칭</a:t>
                          </a:r>
                          <a:endParaRPr lang="ko-KR" altLang="en-US" sz="1000" kern="0" spc="0">
                            <a:solidFill>
                              <a:srgbClr val="00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특이사항 </a:t>
                          </a:r>
                          <a:endParaRPr lang="en-US" altLang="ko-KR" sz="1000" b="1" kern="0" spc="0" dirty="0">
                            <a:solidFill>
                              <a:srgbClr val="00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(</a:t>
                          </a:r>
                          <a:r>
                            <a:rPr lang="ko-KR" altLang="en-US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작업장소 규격</a:t>
                          </a:r>
                          <a:r>
                            <a:rPr lang="en-US" altLang="ko-KR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, </a:t>
                          </a:r>
                          <a:r>
                            <a:rPr lang="ko-KR" altLang="en-US" sz="1000" b="1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 발생 </a:t>
                          </a:r>
                          <a:r>
                            <a:rPr lang="ko-KR" altLang="en-US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유해가스</a:t>
                          </a:r>
                          <a:r>
                            <a:rPr lang="en-US" altLang="ko-KR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, </a:t>
                          </a:r>
                          <a:r>
                            <a:rPr lang="ko-KR" altLang="en-US" sz="1000" b="1" kern="0" spc="0" dirty="0" err="1">
                              <a:solidFill>
                                <a:srgbClr val="00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잔해물</a:t>
                          </a:r>
                          <a:r>
                            <a:rPr lang="en-US" altLang="ko-KR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)</a:t>
                          </a: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9278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kern="0" spc="0">
                              <a:solidFill>
                                <a:srgbClr val="00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1</a:t>
                          </a:r>
                        </a:p>
                      </a:txBody>
                      <a:tcPr marL="17907" marR="17907" marT="17907" marB="17907" anchor="ctr">
                        <a:lnL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000" kern="0" spc="0" dirty="0">
                              <a:solidFill>
                                <a:srgbClr val="FF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시설</a:t>
                          </a: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000" kern="0" spc="0" dirty="0">
                              <a:solidFill>
                                <a:srgbClr val="FF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물탱크</a:t>
                          </a: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000" kern="0" spc="0" dirty="0">
                              <a:solidFill>
                                <a:srgbClr val="FF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옥상층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000" i="1" kern="0" spc="0" smtClean="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LG스마트체2.0 Regular" panose="020B0600000101010101" pitchFamily="50" charset="-127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000" b="0" i="1" kern="0" spc="0" smtClean="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LG스마트체2.0 Regular" panose="020B0600000101010101" pitchFamily="50" charset="-127"/>
                                    </a:rPr>
                                    <m:t>200 </m:t>
                                  </m:r>
                                  <m:r>
                                    <a:rPr lang="en-US" altLang="ko-KR" sz="1000" b="0" i="1" kern="0" spc="0" smtClean="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LG스마트체2.0 Regular" panose="020B0600000101010101" pitchFamily="50" charset="-127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altLang="ko-KR" sz="1000" i="1" kern="0" spc="0" smtClean="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LG스마트체2.0 Regular" panose="020B0600000101010101" pitchFamily="50" charset="-127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1000" b="0" i="1" kern="0" spc="0" smtClean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LG스마트체2.0 Regular" panose="020B0600000101010101" pitchFamily="50" charset="-127"/>
                                </a:rPr>
                                <m:t>, </m:t>
                              </m:r>
                            </m:oMath>
                          </a14:m>
                          <a:r>
                            <a:rPr lang="ko-KR" altLang="en-US" sz="1000" kern="0" spc="0" dirty="0">
                              <a:solidFill>
                                <a:srgbClr val="FF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없음</a:t>
                          </a:r>
                          <a:r>
                            <a:rPr lang="en-US" altLang="ko-KR" sz="1000" kern="0" spc="0" dirty="0">
                              <a:solidFill>
                                <a:srgbClr val="FF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, </a:t>
                          </a:r>
                          <a:r>
                            <a:rPr lang="ko-KR" altLang="en-US" sz="1000" kern="0" spc="0" dirty="0">
                              <a:solidFill>
                                <a:srgbClr val="FF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없음</a:t>
                          </a: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000" kern="0" spc="0" dirty="0">
                              <a:solidFill>
                                <a:srgbClr val="FF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물탱크 청소</a:t>
                          </a: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000" kern="0" spc="0" dirty="0">
                              <a:solidFill>
                                <a:srgbClr val="FF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1</a:t>
                          </a:r>
                          <a:r>
                            <a:rPr lang="ko-KR" altLang="en-US" sz="1000" kern="0" spc="0" dirty="0">
                              <a:solidFill>
                                <a:srgbClr val="FF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년에 </a:t>
                          </a:r>
                          <a:r>
                            <a:rPr lang="en-US" altLang="ko-KR" sz="1000" kern="0" spc="0" dirty="0">
                              <a:solidFill>
                                <a:srgbClr val="FF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2</a:t>
                          </a:r>
                          <a:r>
                            <a:rPr lang="ko-KR" altLang="en-US" sz="1000" kern="0" spc="0" dirty="0">
                              <a:solidFill>
                                <a:srgbClr val="FF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회</a:t>
                          </a:r>
                          <a:r>
                            <a:rPr lang="en-US" altLang="ko-KR" sz="1000" kern="0" spc="0" baseline="0" dirty="0">
                              <a:solidFill>
                                <a:srgbClr val="FF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 </a:t>
                          </a:r>
                          <a:r>
                            <a:rPr lang="ko-KR" altLang="en-US" sz="1000" kern="0" spc="0" dirty="0">
                              <a:solidFill>
                                <a:srgbClr val="FF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이상</a:t>
                          </a: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000" kern="0" spc="0" dirty="0">
                              <a:solidFill>
                                <a:srgbClr val="FF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4</a:t>
                          </a:r>
                          <a:endParaRPr lang="ko-KR" altLang="en-US" sz="1000" kern="0" spc="0" dirty="0">
                            <a:solidFill>
                              <a:srgbClr val="FF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000" kern="0" spc="0" dirty="0">
                              <a:solidFill>
                                <a:srgbClr val="FF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Sample</a:t>
                          </a:r>
                          <a:endParaRPr lang="ko-KR" altLang="en-US" sz="1000" kern="0" spc="0" dirty="0">
                            <a:solidFill>
                              <a:srgbClr val="FF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9278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kern="0" spc="0" dirty="0">
                              <a:solidFill>
                                <a:srgbClr val="00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2</a:t>
                          </a:r>
                        </a:p>
                      </a:txBody>
                      <a:tcPr marL="17907" marR="17907" marT="17907" marB="17907" anchor="ctr">
                        <a:lnL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FF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FF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FF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FF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FF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FF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FF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19278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kern="0" spc="0" dirty="0">
                              <a:solidFill>
                                <a:srgbClr val="00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3</a:t>
                          </a:r>
                        </a:p>
                      </a:txBody>
                      <a:tcPr marL="17907" marR="17907" marT="17907" marB="17907" anchor="ctr">
                        <a:lnL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6321463"/>
                  </p:ext>
                </p:extLst>
              </p:nvPr>
            </p:nvGraphicFramePr>
            <p:xfrm>
              <a:off x="738188" y="1320247"/>
              <a:ext cx="9287395" cy="1758686"/>
            </p:xfrm>
            <a:graphic>
              <a:graphicData uri="http://schemas.openxmlformats.org/drawingml/2006/table">
                <a:tbl>
                  <a:tblPr/>
                  <a:tblGrid>
                    <a:gridCol w="68427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1239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0758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80762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8080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512168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684076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898464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277359">
                    <a:tc rowSpan="2"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No.</a:t>
                          </a: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</a:txBody>
                      <a:tcPr marL="17907" marR="17907" marT="17907" marB="17907" anchor="ctr">
                        <a:lnL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000" b="1" kern="0" spc="0" dirty="0" err="1">
                              <a:solidFill>
                                <a:srgbClr val="00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공정명</a:t>
                          </a: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작업장소</a:t>
                          </a: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작업내용</a:t>
                          </a: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작업주기</a:t>
                          </a: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(</a:t>
                          </a:r>
                          <a:r>
                            <a:rPr lang="ko-KR" altLang="en-US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작업빈도</a:t>
                          </a:r>
                          <a:r>
                            <a:rPr lang="en-US" altLang="ko-KR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)</a:t>
                          </a: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근로자수</a:t>
                          </a: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비고</a:t>
                          </a:r>
                          <a:endParaRPr lang="en-US" altLang="ko-KR" sz="1000" b="1" kern="0" spc="0" dirty="0">
                            <a:solidFill>
                              <a:srgbClr val="00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2349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000" b="1" kern="0" spc="0">
                              <a:solidFill>
                                <a:srgbClr val="00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명칭</a:t>
                          </a:r>
                          <a:endParaRPr lang="ko-KR" altLang="en-US" sz="1000" kern="0" spc="0">
                            <a:solidFill>
                              <a:srgbClr val="00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특이사항 </a:t>
                          </a:r>
                          <a:endParaRPr lang="en-US" altLang="ko-KR" sz="1000" b="1" kern="0" spc="0" dirty="0">
                            <a:solidFill>
                              <a:srgbClr val="00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(</a:t>
                          </a:r>
                          <a:r>
                            <a:rPr lang="ko-KR" altLang="en-US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작업장소 규격</a:t>
                          </a:r>
                          <a:r>
                            <a:rPr lang="en-US" altLang="ko-KR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, </a:t>
                          </a:r>
                          <a:r>
                            <a:rPr lang="ko-KR" altLang="en-US" sz="1000" b="1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 발생 </a:t>
                          </a:r>
                          <a:r>
                            <a:rPr lang="ko-KR" altLang="en-US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유해가스</a:t>
                          </a:r>
                          <a:r>
                            <a:rPr lang="en-US" altLang="ko-KR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, </a:t>
                          </a:r>
                          <a:r>
                            <a:rPr lang="ko-KR" altLang="en-US" sz="1000" b="1" kern="0" spc="0" dirty="0" err="1">
                              <a:solidFill>
                                <a:srgbClr val="00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잔해물</a:t>
                          </a:r>
                          <a:r>
                            <a:rPr lang="en-US" altLang="ko-KR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)</a:t>
                          </a: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9278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kern="0" spc="0">
                              <a:solidFill>
                                <a:srgbClr val="00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1</a:t>
                          </a:r>
                        </a:p>
                      </a:txBody>
                      <a:tcPr marL="17907" marR="17907" marT="17907" marB="17907" anchor="ctr">
                        <a:lnL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000" kern="0" spc="0" dirty="0">
                              <a:solidFill>
                                <a:srgbClr val="FF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시설</a:t>
                          </a: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000" kern="0" spc="0" dirty="0">
                              <a:solidFill>
                                <a:srgbClr val="FF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물탱크</a:t>
                          </a: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2430" t="-252830" r="-149458" b="-203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000" kern="0" spc="0" dirty="0">
                              <a:solidFill>
                                <a:srgbClr val="FF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물탱크 청소</a:t>
                          </a: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000" kern="0" spc="0" dirty="0">
                              <a:solidFill>
                                <a:srgbClr val="FF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1</a:t>
                          </a:r>
                          <a:r>
                            <a:rPr lang="ko-KR" altLang="en-US" sz="1000" kern="0" spc="0" dirty="0">
                              <a:solidFill>
                                <a:srgbClr val="FF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년에 </a:t>
                          </a:r>
                          <a:r>
                            <a:rPr lang="en-US" altLang="ko-KR" sz="1000" kern="0" spc="0" dirty="0">
                              <a:solidFill>
                                <a:srgbClr val="FF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2</a:t>
                          </a:r>
                          <a:r>
                            <a:rPr lang="ko-KR" altLang="en-US" sz="1000" kern="0" spc="0" dirty="0">
                              <a:solidFill>
                                <a:srgbClr val="FF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회</a:t>
                          </a:r>
                          <a:r>
                            <a:rPr lang="en-US" altLang="ko-KR" sz="1000" kern="0" spc="0" baseline="0" dirty="0">
                              <a:solidFill>
                                <a:srgbClr val="FF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 </a:t>
                          </a:r>
                          <a:r>
                            <a:rPr lang="ko-KR" altLang="en-US" sz="1000" kern="0" spc="0" dirty="0">
                              <a:solidFill>
                                <a:srgbClr val="FF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이상</a:t>
                          </a: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000" kern="0" spc="0" dirty="0">
                              <a:solidFill>
                                <a:srgbClr val="FF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4</a:t>
                          </a:r>
                          <a:endParaRPr lang="ko-KR" altLang="en-US" sz="1000" kern="0" spc="0" dirty="0">
                            <a:solidFill>
                              <a:srgbClr val="FF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000" kern="0" spc="0" dirty="0">
                              <a:solidFill>
                                <a:srgbClr val="FF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Sample</a:t>
                          </a:r>
                          <a:endParaRPr lang="ko-KR" altLang="en-US" sz="1000" kern="0" spc="0" dirty="0">
                            <a:solidFill>
                              <a:srgbClr val="FF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9278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kern="0" spc="0" dirty="0">
                              <a:solidFill>
                                <a:srgbClr val="00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2</a:t>
                          </a:r>
                        </a:p>
                      </a:txBody>
                      <a:tcPr marL="17907" marR="17907" marT="17907" marB="17907" anchor="ctr">
                        <a:lnL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FF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FF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FF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FF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FF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FF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FF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19278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kern="0" spc="0" dirty="0">
                              <a:solidFill>
                                <a:srgbClr val="000000"/>
                              </a:solidFill>
                              <a:effectLst/>
                              <a:latin typeface="LG스마트체 Regular" panose="020B0600000101010101" pitchFamily="50" charset="-127"/>
                              <a:ea typeface="LG스마트체 Regular" panose="020B0600000101010101" pitchFamily="50" charset="-127"/>
                            </a:rPr>
                            <a:t>3</a:t>
                          </a:r>
                        </a:p>
                      </a:txBody>
                      <a:tcPr marL="17907" marR="17907" marT="17907" marB="17907" anchor="ctr">
                        <a:lnL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LG스마트체 Regular" panose="020B0600000101010101" pitchFamily="50" charset="-127"/>
                            <a:ea typeface="LG스마트체 Regular" panose="020B0600000101010101" pitchFamily="50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직사각형 10"/>
          <p:cNvSpPr/>
          <p:nvPr/>
        </p:nvSpPr>
        <p:spPr>
          <a:xfrm>
            <a:off x="8119008" y="3141678"/>
            <a:ext cx="309634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lang="en-US" altLang="ko-KR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lang="ko-KR" altLang="en-US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현장 상황에 맞게 작성</a:t>
            </a:r>
            <a:endParaRPr lang="en-US" altLang="ko-KR" sz="14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3" name="내용 개체 틀 1"/>
          <p:cNvSpPr>
            <a:spLocks noGrp="1"/>
          </p:cNvSpPr>
          <p:nvPr>
            <p:ph sz="quarter" idx="13"/>
          </p:nvPr>
        </p:nvSpPr>
        <p:spPr>
          <a:xfrm>
            <a:off x="407865" y="285862"/>
            <a:ext cx="4350567" cy="429767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작업 프로그램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738188" y="3462154"/>
            <a:ext cx="9287396" cy="355645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1904" y="3597320"/>
            <a:ext cx="5029199" cy="3286125"/>
          </a:xfrm>
          <a:prstGeom prst="rect">
            <a:avLst/>
          </a:prstGeom>
        </p:spPr>
      </p:pic>
      <p:sp>
        <p:nvSpPr>
          <p:cNvPr id="14" name="순서도: 연결자 13"/>
          <p:cNvSpPr/>
          <p:nvPr/>
        </p:nvSpPr>
        <p:spPr>
          <a:xfrm>
            <a:off x="8010997" y="4066282"/>
            <a:ext cx="432048" cy="360041"/>
          </a:xfrm>
          <a:prstGeom prst="flowChartConnector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5" name="순서도: 처리 14"/>
          <p:cNvSpPr/>
          <p:nvPr/>
        </p:nvSpPr>
        <p:spPr>
          <a:xfrm>
            <a:off x="3741316" y="4606344"/>
            <a:ext cx="324036" cy="324900"/>
          </a:xfrm>
          <a:prstGeom prst="flowChartProcess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7" name="순서도: 처리 16"/>
          <p:cNvSpPr/>
          <p:nvPr/>
        </p:nvSpPr>
        <p:spPr>
          <a:xfrm>
            <a:off x="8029240" y="4606343"/>
            <a:ext cx="396404" cy="388063"/>
          </a:xfrm>
          <a:prstGeom prst="flowChartProcess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8515053" y="4092414"/>
            <a:ext cx="309634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lang="ko-KR" altLang="en-US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물탱크</a:t>
            </a:r>
            <a:endParaRPr lang="en-US" altLang="ko-KR" sz="14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8515053" y="4623466"/>
            <a:ext cx="309634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lang="ko-KR" altLang="en-US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정화조</a:t>
            </a:r>
            <a:endParaRPr lang="en-US" altLang="ko-KR" sz="14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0" name="순서도: 연결자 19"/>
          <p:cNvSpPr/>
          <p:nvPr/>
        </p:nvSpPr>
        <p:spPr>
          <a:xfrm>
            <a:off x="6713216" y="4092414"/>
            <a:ext cx="361677" cy="333909"/>
          </a:xfrm>
          <a:prstGeom prst="flowChartConnector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2" name="내용 개체 틀 2"/>
          <p:cNvSpPr>
            <a:spLocks noGrp="1"/>
          </p:cNvSpPr>
          <p:nvPr>
            <p:ph sz="quarter" idx="14"/>
          </p:nvPr>
        </p:nvSpPr>
        <p:spPr>
          <a:xfrm>
            <a:off x="6031807" y="431974"/>
            <a:ext cx="4350567" cy="321940"/>
          </a:xfrm>
        </p:spPr>
        <p:txBody>
          <a:bodyPr>
            <a:normAutofit lnSpcReduction="10000"/>
          </a:bodyPr>
          <a:lstStyle/>
          <a:p>
            <a:r>
              <a:rPr lang="ko-KR" altLang="en-US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작업장소</a:t>
            </a:r>
            <a:endParaRPr lang="ko-KR" altLang="en-US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 rot="20412881" flipH="1">
            <a:off x="3641368" y="2445696"/>
            <a:ext cx="2762593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센터에 맞게 수정</a:t>
            </a:r>
          </a:p>
        </p:txBody>
      </p:sp>
      <p:sp>
        <p:nvSpPr>
          <p:cNvPr id="21" name="TextBox 20"/>
          <p:cNvSpPr txBox="1"/>
          <p:nvPr/>
        </p:nvSpPr>
        <p:spPr>
          <a:xfrm rot="20412881" flipH="1">
            <a:off x="3641368" y="5055716"/>
            <a:ext cx="2762593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센터에 맞게 수정</a:t>
            </a:r>
          </a:p>
        </p:txBody>
      </p:sp>
    </p:spTree>
    <p:extLst>
      <p:ext uri="{BB962C8B-B14F-4D97-AF65-F5344CB8AC3E}">
        <p14:creationId xmlns:p14="http://schemas.microsoft.com/office/powerpoint/2010/main" val="4219799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378148" y="933934"/>
            <a:ext cx="928903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3. 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사고 현황 </a:t>
            </a: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인적</a:t>
            </a: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13" name="내용 개체 틀 1"/>
          <p:cNvSpPr>
            <a:spLocks noGrp="1"/>
          </p:cNvSpPr>
          <p:nvPr>
            <p:ph sz="quarter" idx="13"/>
          </p:nvPr>
        </p:nvSpPr>
        <p:spPr>
          <a:xfrm>
            <a:off x="407865" y="285862"/>
            <a:ext cx="4350567" cy="429767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작업 프로그램</a:t>
            </a:r>
          </a:p>
        </p:txBody>
      </p:sp>
      <p:sp>
        <p:nvSpPr>
          <p:cNvPr id="16" name="내용 개체 틀 2"/>
          <p:cNvSpPr>
            <a:spLocks noGrp="1"/>
          </p:cNvSpPr>
          <p:nvPr>
            <p:ph sz="quarter" idx="14"/>
          </p:nvPr>
        </p:nvSpPr>
        <p:spPr>
          <a:xfrm>
            <a:off x="6031807" y="431974"/>
            <a:ext cx="4350567" cy="321940"/>
          </a:xfrm>
        </p:spPr>
        <p:txBody>
          <a:bodyPr>
            <a:normAutofit lnSpcReduction="10000"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재해 현황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378148" y="1260148"/>
            <a:ext cx="928903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산업재해 및 산소결핍 등의 질식재해 통계</a:t>
            </a: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6285185"/>
              </p:ext>
            </p:extLst>
          </p:nvPr>
        </p:nvGraphicFramePr>
        <p:xfrm>
          <a:off x="407864" y="2053273"/>
          <a:ext cx="9871384" cy="2481065"/>
        </p:xfrm>
        <a:graphic>
          <a:graphicData uri="http://schemas.openxmlformats.org/drawingml/2006/table">
            <a:tbl>
              <a:tblPr/>
              <a:tblGrid>
                <a:gridCol w="1339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36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74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2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2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2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52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96213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 도</a:t>
                      </a:r>
                      <a:endParaRPr lang="en-US" altLang="ko-KR" sz="1400" b="1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계</a:t>
                      </a:r>
                      <a:endParaRPr lang="en-US" altLang="ko-KR" sz="1400" b="1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2016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  <a:endParaRPr lang="en-US" altLang="ko-KR" sz="1400" b="1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2017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  <a:endParaRPr lang="en-US" altLang="ko-KR" sz="1400" b="1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2018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  <a:endParaRPr lang="en-US" altLang="ko-KR" sz="1400" b="1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2019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  <a:endParaRPr lang="en-US" altLang="ko-KR" sz="1400" b="1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213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운영센터 직원 수</a:t>
                      </a: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</a:t>
                      </a:r>
                      <a:endParaRPr lang="ko-KR" altLang="en-US" sz="1400" b="1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</a:t>
                      </a:r>
                      <a:endParaRPr lang="ko-KR" altLang="en-US" sz="1400" b="1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</a:t>
                      </a:r>
                      <a:endParaRPr lang="ko-KR" altLang="en-US" sz="1400" b="1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</a:t>
                      </a:r>
                      <a:endParaRPr lang="ko-KR" altLang="en-US" sz="1400" b="1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213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재해자 수</a:t>
                      </a: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</a:t>
                      </a:r>
                      <a:endParaRPr lang="ko-KR" altLang="en-US" sz="1400" b="1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</a:t>
                      </a:r>
                      <a:endParaRPr lang="ko-KR" altLang="en-US" sz="1400" b="1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</a:t>
                      </a:r>
                      <a:endParaRPr lang="ko-KR" altLang="en-US" sz="1400" b="1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</a:t>
                      </a:r>
                      <a:endParaRPr lang="ko-KR" altLang="en-US" sz="1400" b="1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213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산소결핍 등</a:t>
                      </a:r>
                      <a:endParaRPr lang="en-US" altLang="ko-KR" sz="1400" kern="0" spc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질식 재해자수</a:t>
                      </a:r>
                      <a:endParaRPr lang="en-US" sz="1400" kern="0" spc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 망</a:t>
                      </a:r>
                      <a:endParaRPr lang="en-US" sz="1400" kern="0" spc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0" spc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2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부 상</a:t>
                      </a:r>
                      <a:endParaRPr lang="en-US" sz="1400" kern="0" spc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0" spc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직사각형 22"/>
          <p:cNvSpPr/>
          <p:nvPr/>
        </p:nvSpPr>
        <p:spPr>
          <a:xfrm>
            <a:off x="9307140" y="1680394"/>
            <a:ext cx="309634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lang="ko-KR" altLang="en-US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단위 </a:t>
            </a:r>
            <a:r>
              <a:rPr lang="en-US" altLang="ko-KR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명</a:t>
            </a:r>
            <a:endParaRPr lang="en-US" altLang="ko-KR" sz="14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14153" y="5073027"/>
            <a:ext cx="936104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lang="ko-KR" altLang="en-US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 </a:t>
            </a:r>
            <a:r>
              <a:rPr lang="ko-KR" altLang="en-US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사업장의 최근 </a:t>
            </a:r>
            <a:r>
              <a:rPr lang="en-US" altLang="ko-KR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</a:t>
            </a:r>
            <a:r>
              <a:rPr lang="ko-KR" altLang="en-US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년간 전체 </a:t>
            </a:r>
            <a:r>
              <a:rPr lang="ko-KR" altLang="en-US" sz="14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재해현황</a:t>
            </a:r>
            <a:r>
              <a:rPr lang="ko-KR" altLang="en-US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및 산소결핍 또는 유해가스로 인한 질식재해 현황</a:t>
            </a:r>
            <a:endParaRPr lang="en-US" altLang="ko-KR" sz="14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 rot="20412881" flipH="1">
            <a:off x="3971291" y="3190798"/>
            <a:ext cx="2762593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센터에 맞게 수정</a:t>
            </a:r>
          </a:p>
        </p:txBody>
      </p:sp>
    </p:spTree>
    <p:extLst>
      <p:ext uri="{BB962C8B-B14F-4D97-AF65-F5344CB8AC3E}">
        <p14:creationId xmlns:p14="http://schemas.microsoft.com/office/powerpoint/2010/main" val="3351995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378148" y="933934"/>
            <a:ext cx="928903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4. 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조직 및 운영</a:t>
            </a:r>
            <a:endParaRPr lang="en-US" altLang="ko-KR" sz="13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3" name="내용 개체 틀 1"/>
          <p:cNvSpPr>
            <a:spLocks noGrp="1"/>
          </p:cNvSpPr>
          <p:nvPr>
            <p:ph sz="quarter" idx="13"/>
          </p:nvPr>
        </p:nvSpPr>
        <p:spPr>
          <a:xfrm>
            <a:off x="407865" y="285862"/>
            <a:ext cx="4350567" cy="429767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작업 프로그램</a:t>
            </a:r>
          </a:p>
        </p:txBody>
      </p:sp>
      <p:sp>
        <p:nvSpPr>
          <p:cNvPr id="16" name="내용 개체 틀 2"/>
          <p:cNvSpPr>
            <a:spLocks noGrp="1"/>
          </p:cNvSpPr>
          <p:nvPr>
            <p:ph sz="quarter" idx="14"/>
          </p:nvPr>
        </p:nvSpPr>
        <p:spPr>
          <a:xfrm>
            <a:off x="6031807" y="431974"/>
            <a:ext cx="4350567" cy="321940"/>
          </a:xfrm>
        </p:spPr>
        <p:txBody>
          <a:bodyPr>
            <a:normAutofit lnSpcReduction="10000"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조직 및 운영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486159" y="1260150"/>
            <a:ext cx="9289032" cy="2785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4.1 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조직 구성 </a:t>
            </a: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프로그램 수립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시행을 위한 </a:t>
            </a:r>
            <a:r>
              <a:rPr lang="ko-KR" altLang="en-US" sz="13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추진팀은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총 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명 이내 로 하고 아래 </a:t>
            </a:r>
            <a:r>
              <a:rPr lang="ko-KR" altLang="en-US" sz="13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조직도와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같이 구성하여 운영한다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pPr latinLnBrk="1">
              <a:spcBef>
                <a:spcPts val="600"/>
              </a:spcBef>
            </a:pP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4.2 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프로그램 </a:t>
            </a:r>
            <a:r>
              <a:rPr lang="ko-KR" altLang="en-US" sz="13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추진팀의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역할</a:t>
            </a:r>
            <a:endParaRPr lang="en-US" altLang="ko-KR" sz="13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1)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프로그램의 수립 및 수정에 관한 사항 결정</a:t>
            </a: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2)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교육 및 훈련에 관한 사항을 결정하고 실행</a:t>
            </a: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3)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밀폐공간작업계획의 수립 및 시행에 관한 사항을 결정하고 실행</a:t>
            </a: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4)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밀폐공간작업 허가증 등 발급 및 작업 지시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감독 업무 수행</a:t>
            </a: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5)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공기 호흡기 등 보호구의 선정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사용 및 유지관리</a:t>
            </a: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116685"/>
              </p:ext>
            </p:extLst>
          </p:nvPr>
        </p:nvGraphicFramePr>
        <p:xfrm>
          <a:off x="5634733" y="3208941"/>
          <a:ext cx="1800200" cy="74167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3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프로그램총괄책임자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FD3D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성명</a:t>
                      </a:r>
                    </a:p>
                  </a:txBody>
                  <a:tcPr anchor="ctr">
                    <a:solidFill>
                      <a:srgbClr val="E6E6E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ㅇㅇ</a:t>
                      </a:r>
                      <a:r>
                        <a:rPr lang="ko-KR" altLang="en-US" sz="110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센터장</a:t>
                      </a:r>
                      <a:endParaRPr lang="ko-KR" altLang="en-US" sz="110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rgbClr val="E6E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436311"/>
              </p:ext>
            </p:extLst>
          </p:nvPr>
        </p:nvGraphicFramePr>
        <p:xfrm>
          <a:off x="2621000" y="5678813"/>
          <a:ext cx="1800200" cy="37083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2.0 SemiBold" panose="020B0600000101010101" pitchFamily="50" charset="-127"/>
                          <a:ea typeface="LG스마트체2.0 SemiBold" panose="020B0600000101010101" pitchFamily="50" charset="-127"/>
                        </a:rPr>
                        <a:t> 관리감독자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2.0 SemiBold" panose="020B0600000101010101" pitchFamily="50" charset="-127"/>
                          <a:ea typeface="LG스마트체2.0 SemiBold" panose="020B0600000101010101" pitchFamily="50" charset="-127"/>
                        </a:rPr>
                        <a:t>(</a:t>
                      </a:r>
                      <a:r>
                        <a:rPr lang="ko-KR" altLang="en-US" sz="1000" baseline="0" dirty="0">
                          <a:solidFill>
                            <a:srgbClr val="FF0000"/>
                          </a:solidFill>
                          <a:latin typeface="LG스마트체2.0 SemiBold" panose="020B0600000101010101" pitchFamily="50" charset="-127"/>
                          <a:ea typeface="LG스마트체2.0 SemiBold" panose="020B0600000101010101" pitchFamily="50" charset="-127"/>
                        </a:rPr>
                        <a:t>기계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LG스마트체2.0 SemiBold" panose="020B0600000101010101" pitchFamily="50" charset="-127"/>
                          <a:ea typeface="LG스마트체2.0 SemiBold" panose="020B0600000101010101" pitchFamily="50" charset="-127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2.0 SemiBold" panose="020B0600000101010101" pitchFamily="50" charset="-127"/>
                          <a:ea typeface="LG스마트체2.0 SemiBold" panose="020B0600000101010101" pitchFamily="50" charset="-127"/>
                        </a:rPr>
                        <a:t>부서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2.0 SemiBold" panose="020B0600000101010101" pitchFamily="50" charset="-127"/>
                          <a:ea typeface="LG스마트체2.0 SemiBold" panose="020B0600000101010101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2.0 SemiBold" panose="020B0600000101010101" pitchFamily="50" charset="-127"/>
                        <a:ea typeface="LG스마트체2.0 SemiBold" panose="020B0600000101010101" pitchFamily="50" charset="-127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6999543"/>
              </p:ext>
            </p:extLst>
          </p:nvPr>
        </p:nvGraphicFramePr>
        <p:xfrm>
          <a:off x="2621000" y="6165093"/>
          <a:ext cx="1800200" cy="74167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39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직위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주임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FD3D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성명</a:t>
                      </a:r>
                    </a:p>
                  </a:txBody>
                  <a:tcPr anchor="ctr">
                    <a:solidFill>
                      <a:srgbClr val="E6E6E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anchor="ctr">
                    <a:solidFill>
                      <a:srgbClr val="E6E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4" name="직선 연결선 13"/>
          <p:cNvCxnSpPr>
            <a:stCxn id="3" idx="2"/>
            <a:endCxn id="20" idx="0"/>
          </p:cNvCxnSpPr>
          <p:nvPr/>
        </p:nvCxnSpPr>
        <p:spPr>
          <a:xfrm>
            <a:off x="6534833" y="3950619"/>
            <a:ext cx="0" cy="321108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2094018"/>
              </p:ext>
            </p:extLst>
          </p:nvPr>
        </p:nvGraphicFramePr>
        <p:xfrm>
          <a:off x="8695072" y="5682638"/>
          <a:ext cx="1800200" cy="37083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2.0 SemiBold" panose="020B0600000101010101" pitchFamily="50" charset="-127"/>
                          <a:ea typeface="LG스마트체2.0 SemiBold" panose="020B0600000101010101" pitchFamily="50" charset="-127"/>
                        </a:rPr>
                        <a:t>관리감독자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2.0 SemiBold" panose="020B0600000101010101" pitchFamily="50" charset="-127"/>
                          <a:ea typeface="LG스마트체2.0 SemiBold" panose="020B0600000101010101" pitchFamily="50" charset="-127"/>
                        </a:rPr>
                        <a:t>(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LG스마트체2.0 SemiBold" panose="020B0600000101010101" pitchFamily="50" charset="-127"/>
                          <a:ea typeface="LG스마트체2.0 SemiBold" panose="020B0600000101010101" pitchFamily="50" charset="-127"/>
                        </a:rPr>
                        <a:t> </a:t>
                      </a:r>
                      <a:r>
                        <a:rPr lang="ko-KR" altLang="en-US" sz="1000" baseline="0" dirty="0">
                          <a:solidFill>
                            <a:srgbClr val="FF0000"/>
                          </a:solidFill>
                          <a:latin typeface="LG스마트체2.0 SemiBold" panose="020B0600000101010101" pitchFamily="50" charset="-127"/>
                          <a:ea typeface="LG스마트체2.0 SemiBold" panose="020B0600000101010101" pitchFamily="50" charset="-127"/>
                        </a:rPr>
                        <a:t>건축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2.0 SemiBold" panose="020B0600000101010101" pitchFamily="50" charset="-127"/>
                          <a:ea typeface="LG스마트체2.0 SemiBold" panose="020B0600000101010101" pitchFamily="50" charset="-127"/>
                        </a:rPr>
                        <a:t>부서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2.0 SemiBold" panose="020B0600000101010101" pitchFamily="50" charset="-127"/>
                          <a:ea typeface="LG스마트체2.0 SemiBold" panose="020B0600000101010101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2.0 SemiBold" panose="020B0600000101010101" pitchFamily="50" charset="-127"/>
                        <a:ea typeface="LG스마트체2.0 SemiBold" panose="020B0600000101010101" pitchFamily="50" charset="-127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614735"/>
              </p:ext>
            </p:extLst>
          </p:nvPr>
        </p:nvGraphicFramePr>
        <p:xfrm>
          <a:off x="8695072" y="6168918"/>
          <a:ext cx="1800200" cy="74167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39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직위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선임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FD3D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성명</a:t>
                      </a:r>
                    </a:p>
                  </a:txBody>
                  <a:tcPr anchor="ctr">
                    <a:solidFill>
                      <a:srgbClr val="E6E6E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anchor="ctr">
                    <a:solidFill>
                      <a:srgbClr val="E6E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463609"/>
              </p:ext>
            </p:extLst>
          </p:nvPr>
        </p:nvGraphicFramePr>
        <p:xfrm>
          <a:off x="5634733" y="4271727"/>
          <a:ext cx="1800200" cy="74167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3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프로그램 관리자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FD3D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성명</a:t>
                      </a:r>
                    </a:p>
                  </a:txBody>
                  <a:tcPr anchor="ctr">
                    <a:solidFill>
                      <a:srgbClr val="E6E6E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anchor="ctr">
                    <a:solidFill>
                      <a:srgbClr val="E6E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5" name="직선 연결선 24"/>
          <p:cNvCxnSpPr/>
          <p:nvPr/>
        </p:nvCxnSpPr>
        <p:spPr>
          <a:xfrm>
            <a:off x="6534832" y="5013406"/>
            <a:ext cx="1" cy="334616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>
            <a:off x="3521100" y="5348022"/>
            <a:ext cx="3708" cy="334616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>
            <a:off x="9599724" y="5348022"/>
            <a:ext cx="3708" cy="334616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>
            <a:off x="3521101" y="5348022"/>
            <a:ext cx="6080478" cy="4577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126120" y="3958270"/>
            <a:ext cx="5652628" cy="96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latinLnBrk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조직도 작성시 주의 사항</a:t>
            </a: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- 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프로그램 총괄책임자</a:t>
            </a: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프로그램 관리자</a:t>
            </a: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관리감독자</a:t>
            </a: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(1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명 이상</a:t>
            </a: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는 필수 포함 시켜야 함</a:t>
            </a: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-  1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인 센터의 경우 </a:t>
            </a:r>
            <a:r>
              <a:rPr lang="ko-KR" altLang="en-US" sz="105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한명의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05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센터장으로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전부 지정</a:t>
            </a: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-  2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인 이상의 경우 총괄책임자는 </a:t>
            </a:r>
            <a:r>
              <a:rPr lang="ko-KR" altLang="en-US" sz="1050" b="1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센터장</a:t>
            </a:r>
            <a:r>
              <a:rPr lang="en-US" altLang="ko-KR" sz="105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r>
              <a:rPr lang="ko-KR" altLang="en-US" sz="105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프로그램 관리자와 </a:t>
            </a:r>
            <a:r>
              <a:rPr lang="ko-KR" altLang="en-US" sz="105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관리감독자는 겸직가능</a:t>
            </a: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 rot="20412881" flipH="1">
            <a:off x="5072750" y="5415367"/>
            <a:ext cx="2762593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센터에 맞게 수정</a:t>
            </a:r>
          </a:p>
        </p:txBody>
      </p:sp>
    </p:spTree>
    <p:extLst>
      <p:ext uri="{BB962C8B-B14F-4D97-AF65-F5344CB8AC3E}">
        <p14:creationId xmlns:p14="http://schemas.microsoft.com/office/powerpoint/2010/main" val="2494980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1"/>
          <p:cNvSpPr>
            <a:spLocks noGrp="1"/>
          </p:cNvSpPr>
          <p:nvPr>
            <p:ph sz="quarter" idx="13"/>
          </p:nvPr>
        </p:nvSpPr>
        <p:spPr>
          <a:xfrm>
            <a:off x="407865" y="285862"/>
            <a:ext cx="4350567" cy="429767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작업 프로그램</a:t>
            </a:r>
          </a:p>
        </p:txBody>
      </p:sp>
      <p:sp>
        <p:nvSpPr>
          <p:cNvPr id="16" name="내용 개체 틀 2"/>
          <p:cNvSpPr>
            <a:spLocks noGrp="1"/>
          </p:cNvSpPr>
          <p:nvPr>
            <p:ph sz="quarter" idx="14"/>
          </p:nvPr>
        </p:nvSpPr>
        <p:spPr>
          <a:xfrm>
            <a:off x="6031807" y="431974"/>
            <a:ext cx="4350567" cy="321940"/>
          </a:xfrm>
        </p:spPr>
        <p:txBody>
          <a:bodyPr>
            <a:normAutofit lnSpcReduction="10000"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조직 및 운영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486159" y="1260148"/>
            <a:ext cx="928903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4.3 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프로그램 추진 절차</a:t>
            </a: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8280992"/>
              </p:ext>
            </p:extLst>
          </p:nvPr>
        </p:nvGraphicFramePr>
        <p:xfrm>
          <a:off x="774700" y="1911637"/>
          <a:ext cx="3635896" cy="37083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635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밀폐공간 작업 장소 선정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1522329"/>
              </p:ext>
            </p:extLst>
          </p:nvPr>
        </p:nvGraphicFramePr>
        <p:xfrm>
          <a:off x="774700" y="2806142"/>
          <a:ext cx="3635896" cy="37083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635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질식재해예방 대책 수립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표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3727381"/>
              </p:ext>
            </p:extLst>
          </p:nvPr>
        </p:nvGraphicFramePr>
        <p:xfrm>
          <a:off x="774700" y="3700649"/>
          <a:ext cx="3635896" cy="52277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635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27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교육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훈련</a:t>
                      </a:r>
                      <a:endParaRPr lang="en-US" altLang="ko-KR" sz="1400" b="0" dirty="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근로자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프로그램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추진팀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표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772264"/>
              </p:ext>
            </p:extLst>
          </p:nvPr>
        </p:nvGraphicFramePr>
        <p:xfrm>
          <a:off x="774700" y="4739558"/>
          <a:ext cx="3635896" cy="37083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635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밀폐공간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작업 모니터링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278590"/>
              </p:ext>
            </p:extLst>
          </p:nvPr>
        </p:nvGraphicFramePr>
        <p:xfrm>
          <a:off x="774700" y="5567650"/>
          <a:ext cx="3635896" cy="37083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635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프로그램 평가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아래쪽 화살표 1"/>
          <p:cNvSpPr/>
          <p:nvPr/>
        </p:nvSpPr>
        <p:spPr>
          <a:xfrm>
            <a:off x="2349123" y="2312690"/>
            <a:ext cx="441294" cy="406662"/>
          </a:xfrm>
          <a:prstGeom prst="downArrow">
            <a:avLst/>
          </a:prstGeom>
          <a:solidFill>
            <a:srgbClr val="FD3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3" name="아래쪽 화살표 32"/>
          <p:cNvSpPr/>
          <p:nvPr/>
        </p:nvSpPr>
        <p:spPr>
          <a:xfrm>
            <a:off x="2349123" y="3228012"/>
            <a:ext cx="441294" cy="406662"/>
          </a:xfrm>
          <a:prstGeom prst="downArrow">
            <a:avLst/>
          </a:prstGeom>
          <a:solidFill>
            <a:srgbClr val="FD3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4" name="아래쪽 화살표 33"/>
          <p:cNvSpPr/>
          <p:nvPr/>
        </p:nvSpPr>
        <p:spPr>
          <a:xfrm>
            <a:off x="2349123" y="4279783"/>
            <a:ext cx="441294" cy="406662"/>
          </a:xfrm>
          <a:prstGeom prst="downArrow">
            <a:avLst/>
          </a:prstGeom>
          <a:solidFill>
            <a:srgbClr val="FD3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5" name="아래쪽 화살표 34"/>
          <p:cNvSpPr/>
          <p:nvPr/>
        </p:nvSpPr>
        <p:spPr>
          <a:xfrm>
            <a:off x="2349123" y="5135693"/>
            <a:ext cx="441294" cy="406662"/>
          </a:xfrm>
          <a:prstGeom prst="downArrow">
            <a:avLst/>
          </a:prstGeom>
          <a:solidFill>
            <a:srgbClr val="FD3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5238688" y="1946198"/>
            <a:ext cx="5143686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   [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별첨</a:t>
            </a: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]1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의 내용을 근거로 한 </a:t>
            </a:r>
            <a:r>
              <a:rPr lang="ko-KR" altLang="en-US" sz="13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작업장소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선정</a:t>
            </a: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5238688" y="2606708"/>
            <a:ext cx="5143686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65" indent="-285765" latinLnBrk="1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산소 및 유해 가스 농도 측정</a:t>
            </a: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환기 대책 수립</a:t>
            </a:r>
            <a:endParaRPr lang="en-US" altLang="ko-KR" sz="1300" b="1" dirty="0"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" panose="05000000000000000000" pitchFamily="2" charset="2"/>
            </a:endParaRPr>
          </a:p>
          <a:p>
            <a:pPr marL="285765" indent="-285765" latinLnBrk="1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보호구 선정 및 사용</a:t>
            </a: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유지관리 내용</a:t>
            </a:r>
            <a:endParaRPr lang="en-US" altLang="ko-KR" sz="1300" b="1" dirty="0"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" panose="05000000000000000000" pitchFamily="2" charset="2"/>
            </a:endParaRPr>
          </a:p>
          <a:p>
            <a:pPr marL="285765" indent="-285765" latinLnBrk="1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응급처치 및 비상연락체계 구축</a:t>
            </a: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5238688" y="3676916"/>
            <a:ext cx="3456385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65" indent="-285765" latinLnBrk="1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산소 및 유해 가스 농도 측정방법</a:t>
            </a:r>
            <a:endParaRPr lang="en-US" altLang="ko-KR" sz="1300" b="1" dirty="0"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" panose="05000000000000000000" pitchFamily="2" charset="2"/>
            </a:endParaRPr>
          </a:p>
          <a:p>
            <a:pPr marL="285765" indent="-285765" latinLnBrk="1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작업절차</a:t>
            </a: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대처요령</a:t>
            </a: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보호구 사용방법 등</a:t>
            </a:r>
            <a:endParaRPr lang="en-US" altLang="ko-KR" sz="1300" b="1" dirty="0"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" panose="05000000000000000000" pitchFamily="2" charset="2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5238688" y="4640285"/>
            <a:ext cx="3456385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65" indent="-285765" latinLnBrk="1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밀폐공간작업 출입 허가</a:t>
            </a: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3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엣지</a:t>
            </a: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)</a:t>
            </a:r>
          </a:p>
          <a:p>
            <a:pPr marL="285765" indent="-285765" latinLnBrk="1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작업 관리감독 및 작업지시 등</a:t>
            </a:r>
            <a:endParaRPr lang="en-US" altLang="ko-KR" sz="1300" b="1" dirty="0"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" panose="05000000000000000000" pitchFamily="2" charset="2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5238688" y="5468377"/>
            <a:ext cx="3456385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65" indent="-285765" latinLnBrk="1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재해발생 현황 분석</a:t>
            </a:r>
            <a:endParaRPr lang="en-US" altLang="ko-KR" sz="1300" b="1" dirty="0"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" panose="05000000000000000000" pitchFamily="2" charset="2"/>
            </a:endParaRPr>
          </a:p>
          <a:p>
            <a:pPr marL="285765" indent="-285765" latinLnBrk="1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교육 등 연간 업무수행 결과 및 개선내용</a:t>
            </a:r>
            <a:endParaRPr lang="en-US" altLang="ko-KR" sz="1300" b="1" dirty="0"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51991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1"/>
          <p:cNvSpPr>
            <a:spLocks noGrp="1"/>
          </p:cNvSpPr>
          <p:nvPr>
            <p:ph sz="quarter" idx="13"/>
          </p:nvPr>
        </p:nvSpPr>
        <p:spPr>
          <a:xfrm>
            <a:off x="407865" y="285862"/>
            <a:ext cx="4350567" cy="429767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작업 프로그램</a:t>
            </a:r>
          </a:p>
        </p:txBody>
      </p:sp>
      <p:sp>
        <p:nvSpPr>
          <p:cNvPr id="16" name="내용 개체 틀 2"/>
          <p:cNvSpPr>
            <a:spLocks noGrp="1"/>
          </p:cNvSpPr>
          <p:nvPr>
            <p:ph sz="quarter" idx="14"/>
          </p:nvPr>
        </p:nvSpPr>
        <p:spPr>
          <a:xfrm>
            <a:off x="6031807" y="431974"/>
            <a:ext cx="4350567" cy="321940"/>
          </a:xfrm>
        </p:spPr>
        <p:txBody>
          <a:bodyPr>
            <a:normAutofit lnSpcReduction="10000"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조직 및 운영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486159" y="1260148"/>
            <a:ext cx="928903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4.4 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프로그램 추진 일정</a:t>
            </a: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9762877"/>
              </p:ext>
            </p:extLst>
          </p:nvPr>
        </p:nvGraphicFramePr>
        <p:xfrm>
          <a:off x="198128" y="1935366"/>
          <a:ext cx="10297144" cy="349239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340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0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0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00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0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00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00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006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00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00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006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006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11612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3654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세부추진내용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13"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2025</a:t>
                      </a:r>
                      <a:r>
                        <a:rPr lang="ko-KR" altLang="en-US" sz="14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년도 </a:t>
                      </a:r>
                      <a:r>
                        <a:rPr lang="ko-KR" altLang="en-US" sz="14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월별 추진일정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54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</a:t>
                      </a:r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</a:t>
                      </a:r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</a:t>
                      </a:r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</a:t>
                      </a:r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</a:t>
                      </a:r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5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프로그램 </a:t>
                      </a:r>
                      <a:r>
                        <a:rPr lang="ko-KR" altLang="en-US" sz="130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추진팀</a:t>
                      </a:r>
                      <a:r>
                        <a:rPr lang="ko-KR" altLang="en-US" sz="13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sym typeface="Wingdings" panose="05000000000000000000" pitchFamily="2" charset="2"/>
                        </a:rPr>
                        <a:t></a:t>
                      </a:r>
                      <a:endParaRPr lang="ko-KR" altLang="en-US" sz="130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5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밀폐공간작업 대상 선정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sym typeface="Wingdings" panose="05000000000000000000" pitchFamily="2" charset="2"/>
                        </a:rPr>
                        <a:t></a:t>
                      </a:r>
                      <a:endParaRPr lang="ko-KR" altLang="en-US" sz="130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5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질식재해 예방대책 수립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sym typeface="Wingdings" panose="05000000000000000000" pitchFamily="2" charset="2"/>
                        </a:rPr>
                        <a:t></a:t>
                      </a:r>
                      <a:endParaRPr lang="ko-KR" altLang="en-US" sz="130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5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작업자 교육</a:t>
                      </a:r>
                      <a:r>
                        <a:rPr lang="en-US" altLang="ko-KR" sz="13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</a:t>
                      </a:r>
                      <a:r>
                        <a:rPr lang="en-US" altLang="ko-KR" sz="1300" baseline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300" baseline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훈련 실시</a:t>
                      </a:r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작업 시 진행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5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밀폐공간작업 모니터링 실시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작업 시 진행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5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프로그램 평가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sym typeface="Wingdings" panose="05000000000000000000" pitchFamily="2" charset="2"/>
                        </a:rPr>
                        <a:t></a:t>
                      </a:r>
                      <a:endParaRPr lang="ko-KR" altLang="en-US" sz="130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0" name="직사각형 19"/>
          <p:cNvSpPr/>
          <p:nvPr/>
        </p:nvSpPr>
        <p:spPr>
          <a:xfrm>
            <a:off x="407865" y="5633823"/>
            <a:ext cx="412826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*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매년 추진 일정을 작성 후 업데이트 </a:t>
            </a:r>
            <a:r>
              <a:rPr lang="ko-KR" altLang="en-US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</a:p>
        </p:txBody>
      </p:sp>
      <p:sp>
        <p:nvSpPr>
          <p:cNvPr id="8" name="TextBox 7"/>
          <p:cNvSpPr txBox="1"/>
          <p:nvPr/>
        </p:nvSpPr>
        <p:spPr>
          <a:xfrm rot="20412881" flipH="1">
            <a:off x="4535579" y="3946880"/>
            <a:ext cx="2762593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센터에 맞게 수정</a:t>
            </a:r>
          </a:p>
        </p:txBody>
      </p:sp>
    </p:spTree>
    <p:extLst>
      <p:ext uri="{BB962C8B-B14F-4D97-AF65-F5344CB8AC3E}">
        <p14:creationId xmlns:p14="http://schemas.microsoft.com/office/powerpoint/2010/main" val="55091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1"/>
          <p:cNvSpPr>
            <a:spLocks noGrp="1"/>
          </p:cNvSpPr>
          <p:nvPr>
            <p:ph sz="quarter" idx="13"/>
          </p:nvPr>
        </p:nvSpPr>
        <p:spPr>
          <a:xfrm>
            <a:off x="407865" y="285862"/>
            <a:ext cx="4350567" cy="429767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작업 프로그램</a:t>
            </a:r>
          </a:p>
        </p:txBody>
      </p:sp>
      <p:sp>
        <p:nvSpPr>
          <p:cNvPr id="16" name="내용 개체 틀 2"/>
          <p:cNvSpPr>
            <a:spLocks noGrp="1"/>
          </p:cNvSpPr>
          <p:nvPr>
            <p:ph sz="quarter" idx="14"/>
          </p:nvPr>
        </p:nvSpPr>
        <p:spPr>
          <a:xfrm>
            <a:off x="6031807" y="431974"/>
            <a:ext cx="4350567" cy="321940"/>
          </a:xfrm>
        </p:spPr>
        <p:txBody>
          <a:bodyPr>
            <a:normAutofit lnSpcReduction="10000"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작업허가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378148" y="933934"/>
            <a:ext cx="928903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5. 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작업허가</a:t>
            </a:r>
            <a:endParaRPr lang="en-US" altLang="ko-KR" sz="13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86158" y="1260150"/>
            <a:ext cx="9896216" cy="104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5.1 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밀폐공간에의 출입금지</a:t>
            </a:r>
            <a:endParaRPr lang="en-US" altLang="ko-KR" sz="13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1)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내의 출입은 가능한 한 금지하고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출입을 해야 할 경우에는 센터에서 작업허가를 득한 후 출입하도록 한다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2)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센터에 보유하고 있는 밀폐공간 작업장소를 작업특성상 출입해야 하는 경우와 출입하지 않고 외부에서 작업해야 하는 경우를 구분하면 </a:t>
            </a:r>
            <a:b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다음과 같다</a:t>
            </a: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8487382"/>
              </p:ext>
            </p:extLst>
          </p:nvPr>
        </p:nvGraphicFramePr>
        <p:xfrm>
          <a:off x="1422193" y="2626122"/>
          <a:ext cx="7596915" cy="2359888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519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9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9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93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9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36104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출입이 필요한 밀폐공간 작업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출입 없이 밀폐공간</a:t>
                      </a:r>
                      <a:endParaRPr lang="en-US" altLang="ko-KR" sz="1300" b="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300" b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외부에서 가능한 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작업명</a:t>
                      </a:r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작업 중 유해가스</a:t>
                      </a:r>
                      <a:endParaRPr lang="en-US" altLang="ko-KR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3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계속 발생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작업명</a:t>
                      </a:r>
                      <a:endParaRPr lang="ko-KR" altLang="en-US" sz="13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물탱크 청소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err="1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옥상층</a:t>
                      </a:r>
                      <a:endParaRPr lang="ko-KR" altLang="en-US" sz="130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ko-KR" altLang="en-US" sz="130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None</a:t>
                      </a:r>
                      <a:endParaRPr lang="ko-KR" altLang="en-US" sz="130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None</a:t>
                      </a:r>
                      <a:endParaRPr lang="ko-KR" altLang="en-US" sz="130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052"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750388" y="5283158"/>
            <a:ext cx="9168820" cy="11233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 작성된 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“2.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작업장소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”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내용을 근거로 작업특성상 밀폐공간 내에서 작업해야 하는 경우와 밀폐공간 외부에서 작업해도 되는   </a:t>
            </a: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경우를 구분할 것</a:t>
            </a: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작업 중 유해가스가 계속 발생할 가능성이 있는 작업의 경우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 양수작업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, </a:t>
            </a:r>
            <a:r>
              <a:rPr lang="ko-KR" altLang="en-US" sz="13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슬러지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 제거작업 등</a:t>
            </a: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</a:p>
        </p:txBody>
      </p:sp>
      <p:sp>
        <p:nvSpPr>
          <p:cNvPr id="11" name="TextBox 10"/>
          <p:cNvSpPr txBox="1"/>
          <p:nvPr/>
        </p:nvSpPr>
        <p:spPr>
          <a:xfrm rot="20412881" flipH="1">
            <a:off x="3839354" y="4440645"/>
            <a:ext cx="2762593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센터에 맞게 수정</a:t>
            </a:r>
          </a:p>
        </p:txBody>
      </p:sp>
    </p:spTree>
    <p:extLst>
      <p:ext uri="{BB962C8B-B14F-4D97-AF65-F5344CB8AC3E}">
        <p14:creationId xmlns:p14="http://schemas.microsoft.com/office/powerpoint/2010/main" val="4071617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1"/>
          <p:cNvSpPr>
            <a:spLocks noGrp="1"/>
          </p:cNvSpPr>
          <p:nvPr>
            <p:ph sz="quarter" idx="13"/>
          </p:nvPr>
        </p:nvSpPr>
        <p:spPr>
          <a:xfrm>
            <a:off x="407865" y="285862"/>
            <a:ext cx="4350567" cy="429767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작업 프로그램</a:t>
            </a:r>
          </a:p>
        </p:txBody>
      </p:sp>
      <p:sp>
        <p:nvSpPr>
          <p:cNvPr id="16" name="내용 개체 틀 2"/>
          <p:cNvSpPr>
            <a:spLocks noGrp="1"/>
          </p:cNvSpPr>
          <p:nvPr>
            <p:ph sz="quarter" idx="14"/>
          </p:nvPr>
        </p:nvSpPr>
        <p:spPr>
          <a:xfrm>
            <a:off x="6031807" y="431974"/>
            <a:ext cx="4350567" cy="321940"/>
          </a:xfrm>
        </p:spPr>
        <p:txBody>
          <a:bodyPr>
            <a:normAutofit lnSpcReduction="10000"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작업허가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486158" y="1041946"/>
            <a:ext cx="961306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5.2 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밀폐공간에의 출입금지</a:t>
            </a:r>
            <a:endParaRPr lang="en-US" altLang="ko-KR" sz="13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작업 시 아래의 기본 작업절차를 준수하고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관리감독자는 작업자들이 기본 작업절차를 숙지하여 시행하도록 교육한다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849586" y="2079048"/>
            <a:ext cx="4434631" cy="475066"/>
            <a:chOff x="954212" y="1872134"/>
            <a:chExt cx="4434631" cy="475066"/>
          </a:xfrm>
        </p:grpSpPr>
        <p:sp>
          <p:nvSpPr>
            <p:cNvPr id="11" name="모서리가 둥근 직사각형 10"/>
            <p:cNvSpPr/>
            <p:nvPr/>
          </p:nvSpPr>
          <p:spPr>
            <a:xfrm>
              <a:off x="954212" y="1915567"/>
              <a:ext cx="1514819" cy="3714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출입 사전조사</a:t>
              </a: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2475905" y="1872134"/>
              <a:ext cx="2912938" cy="4750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latinLnBrk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ko-KR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- </a:t>
              </a:r>
              <a:r>
                <a:rPr lang="ko-KR" altLang="en-US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밀폐공간 해당여부</a:t>
              </a:r>
            </a:p>
            <a:p>
              <a:pPr algn="just" latinLnBrk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ko-KR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- </a:t>
              </a:r>
              <a:r>
                <a:rPr lang="ko-KR" altLang="en-US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유해가스 존재 및 유입</a:t>
              </a:r>
              <a:r>
                <a:rPr lang="en-US" altLang="ko-KR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(</a:t>
              </a:r>
              <a:r>
                <a:rPr lang="ko-KR" altLang="en-US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발생</a:t>
              </a:r>
              <a:r>
                <a:rPr lang="en-US" altLang="ko-KR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)</a:t>
              </a:r>
              <a:r>
                <a:rPr lang="ko-KR" altLang="en-US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가능성 여부</a:t>
              </a:r>
            </a:p>
          </p:txBody>
        </p:sp>
      </p:grpSp>
      <p:grpSp>
        <p:nvGrpSpPr>
          <p:cNvPr id="14" name="그룹 13"/>
          <p:cNvGrpSpPr/>
          <p:nvPr/>
        </p:nvGrpSpPr>
        <p:grpSpPr>
          <a:xfrm>
            <a:off x="849586" y="2849694"/>
            <a:ext cx="4578647" cy="892552"/>
            <a:chOff x="954212" y="2741682"/>
            <a:chExt cx="4578647" cy="892552"/>
          </a:xfrm>
        </p:grpSpPr>
        <p:sp>
          <p:nvSpPr>
            <p:cNvPr id="15" name="모서리가 둥근 직사각형 14"/>
            <p:cNvSpPr/>
            <p:nvPr/>
          </p:nvSpPr>
          <p:spPr>
            <a:xfrm>
              <a:off x="954212" y="2792160"/>
              <a:ext cx="1514819" cy="3714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1200" b="1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장비준비</a:t>
              </a:r>
              <a:r>
                <a:rPr lang="en-US" altLang="ko-KR" sz="1200" b="1" dirty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/</a:t>
              </a:r>
              <a:r>
                <a:rPr lang="ko-KR" altLang="en-US" sz="1200" b="1" dirty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점검</a:t>
              </a: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2475905" y="2741682"/>
              <a:ext cx="3056954" cy="8925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latinLnBrk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ko-KR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- </a:t>
              </a:r>
              <a:r>
                <a:rPr lang="ko-KR" altLang="en-US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산소농도</a:t>
              </a:r>
              <a:r>
                <a:rPr lang="en-US" altLang="ko-KR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, </a:t>
              </a:r>
              <a:r>
                <a:rPr lang="ko-KR" altLang="en-US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유해가스농도 측정기</a:t>
              </a:r>
            </a:p>
            <a:p>
              <a:pPr algn="just" latinLnBrk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ko-KR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- </a:t>
              </a:r>
              <a:r>
                <a:rPr lang="ko-KR" altLang="en-US" sz="1000" kern="0" dirty="0" err="1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환기팬</a:t>
              </a:r>
              <a:r>
                <a:rPr lang="en-US" altLang="ko-KR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, </a:t>
              </a:r>
              <a:r>
                <a:rPr lang="ko-KR" altLang="en-US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공기호흡기 또는 </a:t>
              </a:r>
              <a:r>
                <a:rPr lang="ko-KR" altLang="en-US" sz="1000" kern="0" dirty="0" err="1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송기마스크</a:t>
              </a:r>
              <a:endParaRPr lang="ko-KR" altLang="en-US" sz="1000" kern="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pPr algn="just" latinLnBrk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ko-KR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- </a:t>
              </a:r>
              <a:r>
                <a:rPr lang="ko-KR" altLang="en-US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대피용 기구</a:t>
              </a:r>
              <a:r>
                <a:rPr lang="en-US" altLang="ko-KR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(</a:t>
              </a:r>
              <a:r>
                <a:rPr lang="ko-KR" altLang="en-US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사다리</a:t>
              </a:r>
              <a:r>
                <a:rPr lang="en-US" altLang="ko-KR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, </a:t>
              </a:r>
              <a:r>
                <a:rPr lang="ko-KR" altLang="en-US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섬유로프</a:t>
              </a:r>
              <a:r>
                <a:rPr lang="en-US" altLang="ko-KR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) </a:t>
              </a:r>
              <a:r>
                <a:rPr lang="ko-KR" altLang="en-US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등 안전장구</a:t>
              </a:r>
            </a:p>
            <a:p>
              <a:pPr algn="just" latinLnBrk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ko-KR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- </a:t>
              </a:r>
              <a:r>
                <a:rPr lang="ko-KR" altLang="en-US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화기작업이 있을 경우 </a:t>
              </a:r>
              <a:r>
                <a:rPr lang="ko-KR" altLang="en-US" sz="1000" kern="0" dirty="0" err="1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방폭전등</a:t>
              </a:r>
              <a:r>
                <a:rPr lang="en-US" altLang="ko-KR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, </a:t>
              </a:r>
              <a:r>
                <a:rPr lang="ko-KR" altLang="en-US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소방장비 등</a:t>
              </a:r>
            </a:p>
          </p:txBody>
        </p:sp>
      </p:grpSp>
      <p:grpSp>
        <p:nvGrpSpPr>
          <p:cNvPr id="18" name="그룹 17"/>
          <p:cNvGrpSpPr/>
          <p:nvPr/>
        </p:nvGrpSpPr>
        <p:grpSpPr>
          <a:xfrm>
            <a:off x="849586" y="3922266"/>
            <a:ext cx="4578647" cy="492443"/>
            <a:chOff x="954212" y="3621464"/>
            <a:chExt cx="4578647" cy="492443"/>
          </a:xfrm>
        </p:grpSpPr>
        <p:sp>
          <p:nvSpPr>
            <p:cNvPr id="19" name="모서리가 둥근 직사각형 18"/>
            <p:cNvSpPr/>
            <p:nvPr/>
          </p:nvSpPr>
          <p:spPr>
            <a:xfrm>
              <a:off x="954212" y="3668753"/>
              <a:ext cx="1514819" cy="3714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1200" b="1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출입조건 설정</a:t>
              </a:r>
              <a:endParaRPr lang="ko-KR" altLang="en-US" sz="12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2475905" y="3621464"/>
              <a:ext cx="3056954" cy="4924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latinLnBrk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ko-KR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- </a:t>
              </a:r>
              <a:r>
                <a:rPr lang="ko-KR" altLang="en-US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출입자</a:t>
              </a:r>
              <a:r>
                <a:rPr lang="en-US" altLang="ko-KR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, </a:t>
              </a:r>
              <a:r>
                <a:rPr lang="ko-KR" altLang="en-US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출입시간</a:t>
              </a:r>
              <a:r>
                <a:rPr lang="en-US" altLang="ko-KR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, </a:t>
              </a:r>
              <a:r>
                <a:rPr lang="ko-KR" altLang="en-US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출입방법 등 결정</a:t>
              </a:r>
            </a:p>
            <a:p>
              <a:pPr algn="just" latinLnBrk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ko-KR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- </a:t>
              </a:r>
              <a:r>
                <a:rPr lang="ko-KR" altLang="en-US" sz="1000" kern="0" dirty="0" err="1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관계자외</a:t>
              </a:r>
              <a:r>
                <a:rPr lang="ko-KR" altLang="en-US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출입금지표지판 설치</a:t>
              </a:r>
            </a:p>
          </p:txBody>
        </p:sp>
      </p:grpSp>
      <p:grpSp>
        <p:nvGrpSpPr>
          <p:cNvPr id="21" name="그룹 20"/>
          <p:cNvGrpSpPr/>
          <p:nvPr/>
        </p:nvGrpSpPr>
        <p:grpSpPr>
          <a:xfrm>
            <a:off x="849586" y="4642346"/>
            <a:ext cx="4578647" cy="492443"/>
            <a:chOff x="954212" y="4495085"/>
            <a:chExt cx="4578647" cy="492443"/>
          </a:xfrm>
        </p:grpSpPr>
        <p:sp>
          <p:nvSpPr>
            <p:cNvPr id="22" name="모서리가 둥근 직사각형 21"/>
            <p:cNvSpPr/>
            <p:nvPr/>
          </p:nvSpPr>
          <p:spPr>
            <a:xfrm>
              <a:off x="954212" y="4545346"/>
              <a:ext cx="1514819" cy="3714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1200" b="1" dirty="0" err="1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출입전</a:t>
              </a:r>
              <a:r>
                <a:rPr lang="ko-KR" altLang="en-US" sz="1200" b="1" dirty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산소 및 유해가스 농도 측정</a:t>
              </a: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2475905" y="4495085"/>
              <a:ext cx="3056954" cy="4924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latinLnBrk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ko-KR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- </a:t>
              </a:r>
              <a:r>
                <a:rPr lang="ko-KR" altLang="en-US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산소 및 유해가스</a:t>
              </a:r>
              <a:r>
                <a:rPr lang="en-US" altLang="ko-KR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(H</a:t>
              </a:r>
              <a:r>
                <a:rPr lang="en-US" altLang="ko-KR" sz="1000" kern="0" baseline="-2500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2</a:t>
              </a:r>
              <a:r>
                <a:rPr lang="en-US" altLang="ko-KR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S,CO</a:t>
              </a:r>
              <a:r>
                <a:rPr lang="en-US" altLang="ko-KR" sz="1000" kern="0" baseline="-2500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2</a:t>
              </a:r>
              <a:r>
                <a:rPr lang="en-US" altLang="ko-KR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,CO,CH</a:t>
              </a:r>
              <a:r>
                <a:rPr lang="en-US" altLang="ko-KR" sz="1000" kern="0" baseline="-2500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4</a:t>
              </a:r>
              <a:r>
                <a:rPr lang="ko-KR" altLang="en-US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등</a:t>
              </a:r>
              <a:r>
                <a:rPr lang="en-US" altLang="ko-KR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) </a:t>
              </a:r>
              <a:r>
                <a:rPr lang="ko-KR" altLang="en-US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농도측정</a:t>
              </a:r>
            </a:p>
            <a:p>
              <a:pPr algn="just" latinLnBrk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ko-KR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- </a:t>
              </a:r>
              <a:r>
                <a:rPr lang="ko-KR" altLang="en-US" sz="1000" kern="0" dirty="0" err="1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측정지점수</a:t>
              </a:r>
              <a:r>
                <a:rPr lang="en-US" altLang="ko-KR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, </a:t>
              </a:r>
              <a:r>
                <a:rPr lang="ko-KR" altLang="en-US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측정방법을 준수하여 실시</a:t>
              </a:r>
            </a:p>
          </p:txBody>
        </p:sp>
      </p:grpSp>
      <p:grpSp>
        <p:nvGrpSpPr>
          <p:cNvPr id="24" name="그룹 23"/>
          <p:cNvGrpSpPr/>
          <p:nvPr/>
        </p:nvGrpSpPr>
        <p:grpSpPr>
          <a:xfrm>
            <a:off x="849586" y="5434434"/>
            <a:ext cx="4534206" cy="371468"/>
            <a:chOff x="954212" y="5421939"/>
            <a:chExt cx="4534206" cy="371468"/>
          </a:xfrm>
        </p:grpSpPr>
        <p:sp>
          <p:nvSpPr>
            <p:cNvPr id="25" name="모서리가 둥근 직사각형 24"/>
            <p:cNvSpPr/>
            <p:nvPr/>
          </p:nvSpPr>
          <p:spPr>
            <a:xfrm>
              <a:off x="954212" y="5421939"/>
              <a:ext cx="1514819" cy="3714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환기실시</a:t>
              </a: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2475905" y="5473511"/>
              <a:ext cx="3012513" cy="2750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latinLnBrk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ko-KR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- </a:t>
              </a:r>
              <a:r>
                <a:rPr lang="ko-KR" altLang="en-US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작업장소에 따라 적합한 환기방법</a:t>
              </a:r>
              <a:r>
                <a:rPr lang="en-US" altLang="ko-KR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, </a:t>
              </a:r>
              <a:r>
                <a:rPr lang="ko-KR" altLang="en-US" sz="1000" kern="0" dirty="0" err="1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환기량</a:t>
              </a:r>
              <a:r>
                <a:rPr lang="ko-KR" altLang="en-US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적용</a:t>
              </a:r>
            </a:p>
          </p:txBody>
        </p:sp>
      </p:grpSp>
      <p:grpSp>
        <p:nvGrpSpPr>
          <p:cNvPr id="27" name="그룹 26"/>
          <p:cNvGrpSpPr/>
          <p:nvPr/>
        </p:nvGrpSpPr>
        <p:grpSpPr>
          <a:xfrm>
            <a:off x="5922764" y="2126258"/>
            <a:ext cx="4844231" cy="371468"/>
            <a:chOff x="6498828" y="1948586"/>
            <a:chExt cx="4844231" cy="371468"/>
          </a:xfrm>
        </p:grpSpPr>
        <p:sp>
          <p:nvSpPr>
            <p:cNvPr id="28" name="모서리가 둥근 직사각형 27"/>
            <p:cNvSpPr/>
            <p:nvPr/>
          </p:nvSpPr>
          <p:spPr>
            <a:xfrm>
              <a:off x="6498828" y="1948586"/>
              <a:ext cx="1514819" cy="3714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감시인 배치</a:t>
              </a: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8037066" y="1973946"/>
              <a:ext cx="3305993" cy="2750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latinLnBrk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ko-KR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- </a:t>
              </a:r>
              <a:r>
                <a:rPr lang="ko-KR" altLang="en-US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밀폐공간 외부에 감시인 배치 및 작업관리</a:t>
              </a:r>
            </a:p>
          </p:txBody>
        </p:sp>
      </p:grpSp>
      <p:grpSp>
        <p:nvGrpSpPr>
          <p:cNvPr id="30" name="그룹 29"/>
          <p:cNvGrpSpPr/>
          <p:nvPr/>
        </p:nvGrpSpPr>
        <p:grpSpPr>
          <a:xfrm>
            <a:off x="5922764" y="2820109"/>
            <a:ext cx="4700215" cy="526093"/>
            <a:chOff x="6498828" y="2766040"/>
            <a:chExt cx="4700215" cy="526093"/>
          </a:xfrm>
        </p:grpSpPr>
        <p:sp>
          <p:nvSpPr>
            <p:cNvPr id="31" name="모서리가 둥근 직사각형 30"/>
            <p:cNvSpPr/>
            <p:nvPr/>
          </p:nvSpPr>
          <p:spPr>
            <a:xfrm>
              <a:off x="6498828" y="2766040"/>
              <a:ext cx="1514819" cy="3714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감시모니터링 실시</a:t>
              </a: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8037066" y="2799690"/>
              <a:ext cx="3161977" cy="4924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 algn="just" latinLnBrk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FontTx/>
                <a:buChar char="-"/>
              </a:pPr>
              <a:r>
                <a:rPr lang="ko-KR" altLang="en-US" sz="1000" kern="0" dirty="0" err="1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밀폐공간내</a:t>
              </a:r>
              <a:r>
                <a:rPr lang="ko-KR" altLang="en-US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작업상황 상시 확인</a:t>
              </a:r>
              <a:endParaRPr lang="en-US" altLang="ko-KR" sz="1000" kern="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pPr marL="171450" indent="-171450" algn="just" latinLnBrk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FontTx/>
                <a:buChar char="-"/>
              </a:pPr>
              <a:r>
                <a:rPr lang="ko-KR" altLang="en-US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작업자와 연락체계 구축</a:t>
              </a:r>
            </a:p>
          </p:txBody>
        </p:sp>
      </p:grpSp>
      <p:grpSp>
        <p:nvGrpSpPr>
          <p:cNvPr id="33" name="그룹 32"/>
          <p:cNvGrpSpPr/>
          <p:nvPr/>
        </p:nvGrpSpPr>
        <p:grpSpPr>
          <a:xfrm>
            <a:off x="5922764" y="3418210"/>
            <a:ext cx="5204271" cy="692497"/>
            <a:chOff x="6498828" y="4042048"/>
            <a:chExt cx="5204271" cy="692497"/>
          </a:xfrm>
        </p:grpSpPr>
        <p:sp>
          <p:nvSpPr>
            <p:cNvPr id="34" name="모서리가 둥근 직사각형 33"/>
            <p:cNvSpPr/>
            <p:nvPr/>
          </p:nvSpPr>
          <p:spPr>
            <a:xfrm>
              <a:off x="6498828" y="4133358"/>
              <a:ext cx="1514819" cy="3714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통신수단 구비</a:t>
              </a: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8037066" y="4042048"/>
              <a:ext cx="3666033" cy="6924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latinLnBrk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ko-KR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- </a:t>
              </a:r>
              <a:r>
                <a:rPr lang="ko-KR" altLang="en-US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무전기 등 작업자와 감시인의 연락용 장비 구비</a:t>
              </a:r>
            </a:p>
            <a:p>
              <a:pPr algn="just" latinLnBrk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ko-KR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- </a:t>
              </a:r>
              <a:r>
                <a:rPr lang="ko-KR" altLang="en-US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비상 연락체제 구축</a:t>
              </a:r>
            </a:p>
            <a:p>
              <a:pPr algn="just" latinLnBrk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ko-KR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- </a:t>
              </a:r>
              <a:r>
                <a:rPr lang="ko-KR" altLang="en-US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대피용 기구 등 구비</a:t>
              </a:r>
              <a:r>
                <a:rPr lang="en-US" altLang="ko-KR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:</a:t>
              </a:r>
              <a:r>
                <a:rPr lang="ko-KR" altLang="en-US" sz="1000" kern="0" dirty="0" err="1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송기마스크</a:t>
              </a:r>
              <a:r>
                <a:rPr lang="en-US" altLang="ko-KR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, </a:t>
              </a:r>
              <a:r>
                <a:rPr lang="ko-KR" altLang="en-US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사다리</a:t>
              </a:r>
              <a:r>
                <a:rPr lang="en-US" altLang="ko-KR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, </a:t>
              </a:r>
              <a:r>
                <a:rPr lang="ko-KR" altLang="en-US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섬유로프 등</a:t>
              </a:r>
            </a:p>
          </p:txBody>
        </p:sp>
      </p:grpSp>
      <p:grpSp>
        <p:nvGrpSpPr>
          <p:cNvPr id="36" name="그룹 35"/>
          <p:cNvGrpSpPr/>
          <p:nvPr/>
        </p:nvGrpSpPr>
        <p:grpSpPr>
          <a:xfrm>
            <a:off x="5922764" y="5290418"/>
            <a:ext cx="4052132" cy="492443"/>
            <a:chOff x="6498828" y="5499005"/>
            <a:chExt cx="4052132" cy="492443"/>
          </a:xfrm>
        </p:grpSpPr>
        <p:sp>
          <p:nvSpPr>
            <p:cNvPr id="37" name="모서리가 둥근 직사각형 36"/>
            <p:cNvSpPr/>
            <p:nvPr/>
          </p:nvSpPr>
          <p:spPr>
            <a:xfrm>
              <a:off x="6498828" y="5580216"/>
              <a:ext cx="1514819" cy="3714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밀폐공간 출입</a:t>
              </a: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8037066" y="5499005"/>
              <a:ext cx="2513894" cy="4924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latinLnBrk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ko-KR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- </a:t>
              </a:r>
              <a:r>
                <a:rPr lang="ko-KR" altLang="en-US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사다리 등을 이용</a:t>
              </a:r>
            </a:p>
            <a:p>
              <a:pPr algn="just" latinLnBrk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ko-KR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- </a:t>
              </a:r>
              <a:r>
                <a:rPr lang="ko-KR" altLang="en-US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출입인원 확인</a:t>
              </a:r>
            </a:p>
          </p:txBody>
        </p:sp>
      </p:grpSp>
      <p:grpSp>
        <p:nvGrpSpPr>
          <p:cNvPr id="39" name="그룹 38"/>
          <p:cNvGrpSpPr/>
          <p:nvPr/>
        </p:nvGrpSpPr>
        <p:grpSpPr>
          <a:xfrm>
            <a:off x="5922764" y="6334534"/>
            <a:ext cx="4052132" cy="492443"/>
            <a:chOff x="6498828" y="6228610"/>
            <a:chExt cx="4052132" cy="492443"/>
          </a:xfrm>
        </p:grpSpPr>
        <p:sp>
          <p:nvSpPr>
            <p:cNvPr id="40" name="모서리가 둥근 직사각형 39"/>
            <p:cNvSpPr/>
            <p:nvPr/>
          </p:nvSpPr>
          <p:spPr>
            <a:xfrm>
              <a:off x="6498828" y="6310459"/>
              <a:ext cx="1514819" cy="3714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문제발생 시 사후보고</a:t>
              </a: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8037066" y="6228610"/>
              <a:ext cx="2513894" cy="4924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latinLnBrk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ko-KR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- </a:t>
              </a:r>
              <a:r>
                <a:rPr lang="ko-KR" altLang="en-US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사고보고체계에 의거 상황전파</a:t>
              </a:r>
            </a:p>
            <a:p>
              <a:pPr algn="just" latinLnBrk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ko-KR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- </a:t>
              </a:r>
              <a:r>
                <a:rPr lang="ko-KR" altLang="en-US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재해자 발생시 </a:t>
              </a:r>
              <a:r>
                <a:rPr lang="en-US" altLang="ko-KR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119 </a:t>
              </a:r>
              <a:r>
                <a:rPr lang="ko-KR" altLang="en-US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연락</a:t>
              </a:r>
            </a:p>
          </p:txBody>
        </p:sp>
      </p:grpSp>
      <p:cxnSp>
        <p:nvCxnSpPr>
          <p:cNvPr id="42" name="직선 화살표 연결선 41"/>
          <p:cNvCxnSpPr>
            <a:stCxn id="11" idx="2"/>
          </p:cNvCxnSpPr>
          <p:nvPr/>
        </p:nvCxnSpPr>
        <p:spPr>
          <a:xfrm>
            <a:off x="1606996" y="2493949"/>
            <a:ext cx="0" cy="34819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/>
          <p:cNvCxnSpPr>
            <a:stCxn id="15" idx="2"/>
          </p:cNvCxnSpPr>
          <p:nvPr/>
        </p:nvCxnSpPr>
        <p:spPr>
          <a:xfrm>
            <a:off x="1606996" y="3271640"/>
            <a:ext cx="0" cy="650626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/>
          <p:cNvCxnSpPr>
            <a:stCxn id="19" idx="2"/>
          </p:cNvCxnSpPr>
          <p:nvPr/>
        </p:nvCxnSpPr>
        <p:spPr>
          <a:xfrm>
            <a:off x="1606996" y="4341023"/>
            <a:ext cx="0" cy="301323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/>
          <p:cNvCxnSpPr>
            <a:stCxn id="22" idx="2"/>
          </p:cNvCxnSpPr>
          <p:nvPr/>
        </p:nvCxnSpPr>
        <p:spPr>
          <a:xfrm>
            <a:off x="1606996" y="5064075"/>
            <a:ext cx="0" cy="323065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/>
          <p:cNvCxnSpPr>
            <a:stCxn id="37" idx="2"/>
          </p:cNvCxnSpPr>
          <p:nvPr/>
        </p:nvCxnSpPr>
        <p:spPr>
          <a:xfrm flipH="1">
            <a:off x="6680173" y="5743097"/>
            <a:ext cx="1" cy="633155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/>
          <p:cNvCxnSpPr>
            <a:stCxn id="34" idx="2"/>
          </p:cNvCxnSpPr>
          <p:nvPr/>
        </p:nvCxnSpPr>
        <p:spPr>
          <a:xfrm flipH="1">
            <a:off x="6680173" y="3880988"/>
            <a:ext cx="1" cy="533721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/>
          <p:cNvCxnSpPr>
            <a:stCxn id="31" idx="2"/>
          </p:cNvCxnSpPr>
          <p:nvPr/>
        </p:nvCxnSpPr>
        <p:spPr>
          <a:xfrm flipH="1">
            <a:off x="6680173" y="3191577"/>
            <a:ext cx="1" cy="298641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/>
          <p:cNvCxnSpPr>
            <a:stCxn id="28" idx="2"/>
          </p:cNvCxnSpPr>
          <p:nvPr/>
        </p:nvCxnSpPr>
        <p:spPr>
          <a:xfrm flipH="1">
            <a:off x="6680173" y="2497726"/>
            <a:ext cx="1" cy="304241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꺾인 연결선 49"/>
          <p:cNvCxnSpPr>
            <a:stCxn id="55" idx="2"/>
            <a:endCxn id="28" idx="0"/>
          </p:cNvCxnSpPr>
          <p:nvPr/>
        </p:nvCxnSpPr>
        <p:spPr>
          <a:xfrm rot="5400000" flipH="1" flipV="1">
            <a:off x="1925721" y="1807533"/>
            <a:ext cx="4435728" cy="5073178"/>
          </a:xfrm>
          <a:prstGeom prst="bentConnector5">
            <a:avLst>
              <a:gd name="adj1" fmla="val -5154"/>
              <a:gd name="adj2" fmla="val 72831"/>
              <a:gd name="adj3" fmla="val 105154"/>
            </a:avLst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그룹 53"/>
          <p:cNvGrpSpPr/>
          <p:nvPr/>
        </p:nvGrpSpPr>
        <p:grpSpPr>
          <a:xfrm>
            <a:off x="849586" y="6118510"/>
            <a:ext cx="4534206" cy="692497"/>
            <a:chOff x="954212" y="5349931"/>
            <a:chExt cx="4534206" cy="692497"/>
          </a:xfrm>
        </p:grpSpPr>
        <p:sp>
          <p:nvSpPr>
            <p:cNvPr id="55" name="모서리가 둥근 직사각형 54"/>
            <p:cNvSpPr/>
            <p:nvPr/>
          </p:nvSpPr>
          <p:spPr>
            <a:xfrm>
              <a:off x="954212" y="5421939"/>
              <a:ext cx="1514819" cy="3714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밀폐공간작업 허가서</a:t>
              </a:r>
              <a:endParaRPr lang="en-US" altLang="ko-KR" sz="12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작성 및 허가자 결재</a:t>
              </a: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2475905" y="5349931"/>
              <a:ext cx="3012513" cy="6924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 algn="just" latinLnBrk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FontTx/>
                <a:buChar char="-"/>
              </a:pPr>
              <a:r>
                <a:rPr lang="ko-KR" altLang="en-US" sz="1000" kern="0" dirty="0" err="1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밀폐작업</a:t>
              </a:r>
              <a:r>
                <a:rPr lang="ko-KR" altLang="en-US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허가서</a:t>
              </a:r>
              <a:r>
                <a:rPr lang="en-US" altLang="ko-KR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(</a:t>
              </a:r>
              <a:r>
                <a:rPr lang="ko-KR" altLang="en-US" sz="1000" kern="0" dirty="0" err="1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엣지</a:t>
              </a:r>
              <a:r>
                <a:rPr lang="en-US" altLang="ko-KR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)</a:t>
              </a:r>
              <a:r>
                <a:rPr lang="ko-KR" altLang="en-US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활용</a:t>
              </a:r>
              <a:endParaRPr lang="en-US" altLang="ko-KR" sz="1000" kern="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pPr marL="171450" indent="-171450" algn="just" latinLnBrk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FontTx/>
                <a:buChar char="-"/>
              </a:pPr>
              <a:r>
                <a:rPr lang="ko-KR" altLang="en-US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프로그램 </a:t>
              </a:r>
              <a:r>
                <a:rPr lang="ko-KR" altLang="en-US" sz="1000" kern="0" dirty="0" err="1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추진팀에</a:t>
              </a:r>
              <a:r>
                <a:rPr lang="ko-KR" altLang="en-US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결재</a:t>
              </a:r>
              <a:endParaRPr lang="en-US" altLang="ko-KR" sz="1000" kern="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pPr marL="171450" indent="-171450" algn="just" latinLnBrk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FontTx/>
                <a:buChar char="-"/>
              </a:pPr>
              <a:r>
                <a:rPr lang="ko-KR" altLang="en-US" sz="1000" kern="0" dirty="0" err="1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엣지</a:t>
              </a:r>
              <a:r>
                <a:rPr lang="ko-KR" altLang="en-US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안전작업 허가 실시</a:t>
              </a:r>
            </a:p>
          </p:txBody>
        </p:sp>
      </p:grpSp>
      <p:cxnSp>
        <p:nvCxnSpPr>
          <p:cNvPr id="57" name="직선 화살표 연결선 56"/>
          <p:cNvCxnSpPr/>
          <p:nvPr/>
        </p:nvCxnSpPr>
        <p:spPr>
          <a:xfrm>
            <a:off x="1606996" y="5805902"/>
            <a:ext cx="0" cy="323065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그룹 62"/>
          <p:cNvGrpSpPr/>
          <p:nvPr/>
        </p:nvGrpSpPr>
        <p:grpSpPr>
          <a:xfrm>
            <a:off x="5922764" y="4454119"/>
            <a:ext cx="4700215" cy="371468"/>
            <a:chOff x="6498828" y="2766040"/>
            <a:chExt cx="4700215" cy="371468"/>
          </a:xfrm>
        </p:grpSpPr>
        <p:sp>
          <p:nvSpPr>
            <p:cNvPr id="64" name="모서리가 둥근 직사각형 63"/>
            <p:cNvSpPr/>
            <p:nvPr/>
          </p:nvSpPr>
          <p:spPr>
            <a:xfrm>
              <a:off x="6498828" y="2766040"/>
              <a:ext cx="1514819" cy="3714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밀폐공간 작업계획서를</a:t>
              </a:r>
              <a:endParaRPr lang="en-US" altLang="ko-KR" sz="11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pPr algn="ctr"/>
              <a:r>
                <a:rPr lang="ko-KR" altLang="en-US" sz="1100" b="1" dirty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작업장에 게시</a:t>
              </a:r>
            </a:p>
          </p:txBody>
        </p:sp>
        <p:sp>
          <p:nvSpPr>
            <p:cNvPr id="65" name="직사각형 64"/>
            <p:cNvSpPr/>
            <p:nvPr/>
          </p:nvSpPr>
          <p:spPr>
            <a:xfrm>
              <a:off x="8037066" y="2799690"/>
              <a:ext cx="3161977" cy="2750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 algn="just" latinLnBrk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FontTx/>
                <a:buChar char="-"/>
              </a:pPr>
              <a:r>
                <a:rPr lang="ko-KR" altLang="en-US" sz="1000" kern="0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밀폐공간 출입구 등에 게시</a:t>
              </a:r>
            </a:p>
          </p:txBody>
        </p:sp>
      </p:grpSp>
      <p:cxnSp>
        <p:nvCxnSpPr>
          <p:cNvPr id="66" name="직선 화살표 연결선 65"/>
          <p:cNvCxnSpPr/>
          <p:nvPr/>
        </p:nvCxnSpPr>
        <p:spPr>
          <a:xfrm flipH="1">
            <a:off x="6680173" y="4822366"/>
            <a:ext cx="1" cy="533721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3857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1"/>
          <p:cNvSpPr>
            <a:spLocks noGrp="1"/>
          </p:cNvSpPr>
          <p:nvPr>
            <p:ph sz="quarter" idx="13"/>
          </p:nvPr>
        </p:nvSpPr>
        <p:spPr>
          <a:xfrm>
            <a:off x="407865" y="285862"/>
            <a:ext cx="4350567" cy="429767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작업 프로그램</a:t>
            </a:r>
          </a:p>
        </p:txBody>
      </p:sp>
      <p:sp>
        <p:nvSpPr>
          <p:cNvPr id="16" name="내용 개체 틀 2"/>
          <p:cNvSpPr>
            <a:spLocks noGrp="1"/>
          </p:cNvSpPr>
          <p:nvPr>
            <p:ph sz="quarter" idx="14"/>
          </p:nvPr>
        </p:nvSpPr>
        <p:spPr>
          <a:xfrm>
            <a:off x="6031807" y="431974"/>
            <a:ext cx="4350567" cy="321940"/>
          </a:xfrm>
        </p:spPr>
        <p:txBody>
          <a:bodyPr>
            <a:normAutofit lnSpcReduction="10000"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작업허가</a:t>
            </a:r>
          </a:p>
        </p:txBody>
      </p:sp>
      <p:sp>
        <p:nvSpPr>
          <p:cNvPr id="52" name="직사각형 51"/>
          <p:cNvSpPr/>
          <p:nvPr/>
        </p:nvSpPr>
        <p:spPr>
          <a:xfrm>
            <a:off x="486158" y="1260150"/>
            <a:ext cx="9896216" cy="14003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5.3 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안전작업 허가서 발급</a:t>
            </a:r>
            <a:endParaRPr lang="en-US" altLang="ko-KR" sz="13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1)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작업 전에는 밀폐공간 출입을 제한하고 작업에 관계된 관리감독자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감시인 등은 첨부의 작업 허가서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3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엣지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를 승인 받은 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               </a:t>
            </a: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후 작업을 시행한다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2) </a:t>
            </a:r>
            <a:r>
              <a:rPr lang="ko-KR" altLang="en-US" sz="13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추진팀의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관리감독자는 작업 전에 작업자에게 작업위험요인과 이에 대한 대응방법에 대해 교육을 실시한다</a:t>
            </a: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3)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밀폐공간의 작업 허가 흐름도</a:t>
            </a: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242244" y="2950158"/>
            <a:ext cx="3960440" cy="10081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</a:t>
            </a:r>
            <a:r>
              <a:rPr lang="en-US" altLang="ko-KR" sz="11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lang="ko-KR" altLang="en-US" sz="11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작업자가 들어가서 부여된 작업을 수행할 수 있을 정도의      </a:t>
            </a:r>
            <a:endParaRPr lang="en-US" altLang="ko-KR" sz="110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11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</a:t>
            </a:r>
            <a:r>
              <a:rPr lang="ko-KR" altLang="en-US" sz="11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크기로 이루어짐</a:t>
            </a:r>
            <a:r>
              <a:rPr lang="en-US" altLang="ko-KR" sz="11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r>
              <a:rPr lang="ko-KR" altLang="en-US" sz="11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나</a:t>
            </a:r>
            <a:r>
              <a:rPr lang="en-US" altLang="ko-KR" sz="11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lang="ko-KR" altLang="en-US" sz="11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출입수단의 제한이 있음</a:t>
            </a:r>
            <a:endParaRPr lang="en-US" altLang="ko-KR" sz="110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ko-KR" altLang="en-US" sz="11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다</a:t>
            </a:r>
            <a:r>
              <a:rPr lang="en-US" altLang="ko-KR" sz="11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lang="ko-KR" altLang="en-US" sz="11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연속작업을 위해 설계되지 않아 짧은 시간 동안만 머무르도록 </a:t>
            </a:r>
            <a:endParaRPr lang="en-US" altLang="ko-KR" sz="110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11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</a:t>
            </a:r>
            <a:r>
              <a:rPr lang="ko-KR" altLang="en-US" sz="11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지정된 장소</a:t>
            </a:r>
            <a:r>
              <a:rPr lang="en-US" altLang="ko-KR" sz="11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11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구역</a:t>
            </a:r>
          </a:p>
        </p:txBody>
      </p:sp>
      <p:sp>
        <p:nvSpPr>
          <p:cNvPr id="58" name="직사각형 57"/>
          <p:cNvSpPr/>
          <p:nvPr/>
        </p:nvSpPr>
        <p:spPr>
          <a:xfrm>
            <a:off x="5706740" y="5830478"/>
            <a:ext cx="2880320" cy="7560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작업구역에 </a:t>
            </a:r>
            <a:r>
              <a:rPr lang="ko-KR" altLang="en-US" sz="1100" b="1" dirty="0" err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출입하기전</a:t>
            </a:r>
            <a:endParaRPr lang="en-US" altLang="ko-KR" sz="1100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구역 출입허가서를</a:t>
            </a:r>
            <a:endParaRPr lang="en-US" altLang="ko-KR" sz="1100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프로그램 </a:t>
            </a:r>
            <a:r>
              <a:rPr lang="ko-KR" altLang="en-US" sz="1100" b="1" dirty="0" err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추진팀에서</a:t>
            </a:r>
            <a:r>
              <a:rPr lang="ko-KR" altLang="en-US" sz="11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득한다</a:t>
            </a:r>
            <a:r>
              <a:rPr lang="en-US" altLang="ko-KR" sz="11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lang="ko-KR" altLang="en-US" sz="1100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9579786"/>
              </p:ext>
            </p:extLst>
          </p:nvPr>
        </p:nvGraphicFramePr>
        <p:xfrm>
          <a:off x="1314252" y="4246302"/>
          <a:ext cx="1440160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산소결핍 </a:t>
                      </a:r>
                      <a:r>
                        <a:rPr lang="en-US" altLang="ko-KR" sz="11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/ </a:t>
                      </a:r>
                      <a:r>
                        <a:rPr lang="ko-KR" altLang="en-US" sz="11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유해가스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" name="표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961091"/>
              </p:ext>
            </p:extLst>
          </p:nvPr>
        </p:nvGraphicFramePr>
        <p:xfrm>
          <a:off x="1314252" y="4901224"/>
          <a:ext cx="1440160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산소결핍 </a:t>
                      </a:r>
                      <a:r>
                        <a:rPr lang="en-US" altLang="ko-KR" sz="11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/ </a:t>
                      </a:r>
                      <a:r>
                        <a:rPr lang="ko-KR" altLang="en-US" sz="11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유해가스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" name="표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725687"/>
              </p:ext>
            </p:extLst>
          </p:nvPr>
        </p:nvGraphicFramePr>
        <p:xfrm>
          <a:off x="1314252" y="5556146"/>
          <a:ext cx="1440160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산소결핍 </a:t>
                      </a:r>
                      <a:r>
                        <a:rPr lang="en-US" altLang="ko-KR" sz="11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/ </a:t>
                      </a:r>
                      <a:r>
                        <a:rPr lang="ko-KR" altLang="en-US" sz="11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유해가스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1" name="표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274840"/>
              </p:ext>
            </p:extLst>
          </p:nvPr>
        </p:nvGraphicFramePr>
        <p:xfrm>
          <a:off x="1314252" y="6211068"/>
          <a:ext cx="1440160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산소결핍 </a:t>
                      </a:r>
                      <a:r>
                        <a:rPr lang="en-US" altLang="ko-KR" sz="11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/ </a:t>
                      </a:r>
                      <a:r>
                        <a:rPr lang="ko-KR" altLang="en-US" sz="11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유해가스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2" name="표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086610"/>
              </p:ext>
            </p:extLst>
          </p:nvPr>
        </p:nvGraphicFramePr>
        <p:xfrm>
          <a:off x="7686960" y="3083374"/>
          <a:ext cx="1440160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일반제한 구역</a:t>
                      </a:r>
                      <a:endParaRPr lang="en-US" altLang="ko-KR" sz="11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7" name="표 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8815995"/>
              </p:ext>
            </p:extLst>
          </p:nvPr>
        </p:nvGraphicFramePr>
        <p:xfrm>
          <a:off x="7326920" y="3687946"/>
          <a:ext cx="1836204" cy="5943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836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보일러</a:t>
                      </a:r>
                      <a:r>
                        <a:rPr lang="en-US" altLang="ko-KR" sz="11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1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저장탱크</a:t>
                      </a:r>
                      <a:endParaRPr lang="en-US" altLang="ko-KR" sz="11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1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파이프라인</a:t>
                      </a:r>
                      <a:r>
                        <a:rPr lang="en-US" altLang="ko-KR" sz="11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1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하수관</a:t>
                      </a:r>
                      <a:r>
                        <a:rPr lang="en-US" altLang="ko-KR" sz="11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1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정화조 등이 대표적</a:t>
                      </a:r>
                      <a:endParaRPr lang="en-US" altLang="ko-KR" sz="11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8" name="표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1031188"/>
              </p:ext>
            </p:extLst>
          </p:nvPr>
        </p:nvGraphicFramePr>
        <p:xfrm>
          <a:off x="6210796" y="4840841"/>
          <a:ext cx="1620180" cy="59359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620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60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위 험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5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허가필요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69" name="직선 화살표 연결선 68"/>
          <p:cNvCxnSpPr/>
          <p:nvPr/>
        </p:nvCxnSpPr>
        <p:spPr>
          <a:xfrm>
            <a:off x="5200136" y="3105878"/>
            <a:ext cx="2378812" cy="14810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8407040" y="3454214"/>
            <a:ext cx="0" cy="2337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직선 연결선 71"/>
          <p:cNvCxnSpPr>
            <a:endCxn id="3" idx="3"/>
          </p:cNvCxnSpPr>
          <p:nvPr/>
        </p:nvCxnSpPr>
        <p:spPr>
          <a:xfrm flipH="1">
            <a:off x="2754412" y="4431722"/>
            <a:ext cx="46805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직선 연결선 73"/>
          <p:cNvCxnSpPr/>
          <p:nvPr/>
        </p:nvCxnSpPr>
        <p:spPr>
          <a:xfrm flipH="1">
            <a:off x="2754412" y="5086644"/>
            <a:ext cx="46805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직선 연결선 74"/>
          <p:cNvCxnSpPr/>
          <p:nvPr/>
        </p:nvCxnSpPr>
        <p:spPr>
          <a:xfrm flipH="1">
            <a:off x="2754412" y="5731954"/>
            <a:ext cx="46805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직선 연결선 75"/>
          <p:cNvCxnSpPr/>
          <p:nvPr/>
        </p:nvCxnSpPr>
        <p:spPr>
          <a:xfrm flipH="1">
            <a:off x="2754412" y="6410394"/>
            <a:ext cx="46805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80" name="표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806071"/>
              </p:ext>
            </p:extLst>
          </p:nvPr>
        </p:nvGraphicFramePr>
        <p:xfrm>
          <a:off x="4086560" y="6730578"/>
          <a:ext cx="1440160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허가 불필요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2" name="꺾인 연결선 81"/>
          <p:cNvCxnSpPr>
            <a:endCxn id="80" idx="1"/>
          </p:cNvCxnSpPr>
          <p:nvPr/>
        </p:nvCxnSpPr>
        <p:spPr>
          <a:xfrm>
            <a:off x="2034332" y="6586562"/>
            <a:ext cx="2052228" cy="329436"/>
          </a:xfrm>
          <a:prstGeom prst="bentConnector3">
            <a:avLst>
              <a:gd name="adj1" fmla="val -168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직선 화살표 연결선 84"/>
          <p:cNvCxnSpPr/>
          <p:nvPr/>
        </p:nvCxnSpPr>
        <p:spPr>
          <a:xfrm>
            <a:off x="1998328" y="3958270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/>
          <p:cNvCxnSpPr/>
          <p:nvPr/>
        </p:nvCxnSpPr>
        <p:spPr>
          <a:xfrm>
            <a:off x="1998328" y="4606342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화살표 연결선 89"/>
          <p:cNvCxnSpPr/>
          <p:nvPr/>
        </p:nvCxnSpPr>
        <p:spPr>
          <a:xfrm>
            <a:off x="1998328" y="5268114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/>
          <p:cNvCxnSpPr/>
          <p:nvPr/>
        </p:nvCxnSpPr>
        <p:spPr>
          <a:xfrm>
            <a:off x="1998328" y="5923036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직사각형 91"/>
          <p:cNvSpPr/>
          <p:nvPr/>
        </p:nvSpPr>
        <p:spPr>
          <a:xfrm>
            <a:off x="1998328" y="4632764"/>
            <a:ext cx="491856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NO   </a:t>
            </a:r>
          </a:p>
        </p:txBody>
      </p:sp>
      <p:sp>
        <p:nvSpPr>
          <p:cNvPr id="93" name="직사각형 92"/>
          <p:cNvSpPr/>
          <p:nvPr/>
        </p:nvSpPr>
        <p:spPr>
          <a:xfrm>
            <a:off x="1998328" y="5292209"/>
            <a:ext cx="491856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NO   </a:t>
            </a:r>
          </a:p>
        </p:txBody>
      </p:sp>
      <p:sp>
        <p:nvSpPr>
          <p:cNvPr id="94" name="직사각형 93"/>
          <p:cNvSpPr/>
          <p:nvPr/>
        </p:nvSpPr>
        <p:spPr>
          <a:xfrm>
            <a:off x="1998328" y="5938222"/>
            <a:ext cx="491856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NO   </a:t>
            </a:r>
          </a:p>
        </p:txBody>
      </p:sp>
      <p:sp>
        <p:nvSpPr>
          <p:cNvPr id="95" name="직사각형 94"/>
          <p:cNvSpPr/>
          <p:nvPr/>
        </p:nvSpPr>
        <p:spPr>
          <a:xfrm>
            <a:off x="1998328" y="6654388"/>
            <a:ext cx="491856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NO   </a:t>
            </a:r>
          </a:p>
        </p:txBody>
      </p:sp>
      <p:sp>
        <p:nvSpPr>
          <p:cNvPr id="96" name="직사각형 95"/>
          <p:cNvSpPr/>
          <p:nvPr/>
        </p:nvSpPr>
        <p:spPr>
          <a:xfrm>
            <a:off x="3234664" y="4318310"/>
            <a:ext cx="491856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YES   </a:t>
            </a:r>
          </a:p>
        </p:txBody>
      </p:sp>
      <p:sp>
        <p:nvSpPr>
          <p:cNvPr id="97" name="직사각형 96"/>
          <p:cNvSpPr/>
          <p:nvPr/>
        </p:nvSpPr>
        <p:spPr>
          <a:xfrm>
            <a:off x="3234664" y="4955839"/>
            <a:ext cx="491856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YES   </a:t>
            </a:r>
          </a:p>
        </p:txBody>
      </p:sp>
      <p:sp>
        <p:nvSpPr>
          <p:cNvPr id="98" name="직사각형 97"/>
          <p:cNvSpPr/>
          <p:nvPr/>
        </p:nvSpPr>
        <p:spPr>
          <a:xfrm>
            <a:off x="3234664" y="5601149"/>
            <a:ext cx="491856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YES   </a:t>
            </a:r>
          </a:p>
        </p:txBody>
      </p:sp>
      <p:sp>
        <p:nvSpPr>
          <p:cNvPr id="99" name="직사각형 98"/>
          <p:cNvSpPr/>
          <p:nvPr/>
        </p:nvSpPr>
        <p:spPr>
          <a:xfrm>
            <a:off x="3234664" y="6279589"/>
            <a:ext cx="491856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YES   </a:t>
            </a:r>
          </a:p>
        </p:txBody>
      </p:sp>
      <p:cxnSp>
        <p:nvCxnSpPr>
          <p:cNvPr id="100" name="직선 연결선 99"/>
          <p:cNvCxnSpPr/>
          <p:nvPr/>
        </p:nvCxnSpPr>
        <p:spPr>
          <a:xfrm flipH="1">
            <a:off x="3618508" y="6410394"/>
            <a:ext cx="46805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 flipH="1">
            <a:off x="3618508" y="5731954"/>
            <a:ext cx="46805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직선 연결선 101"/>
          <p:cNvCxnSpPr/>
          <p:nvPr/>
        </p:nvCxnSpPr>
        <p:spPr>
          <a:xfrm flipH="1">
            <a:off x="3619906" y="4431722"/>
            <a:ext cx="46805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직선 화살표 연결선 102"/>
          <p:cNvCxnSpPr/>
          <p:nvPr/>
        </p:nvCxnSpPr>
        <p:spPr>
          <a:xfrm>
            <a:off x="3654512" y="5091157"/>
            <a:ext cx="2378812" cy="14810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103"/>
          <p:cNvCxnSpPr/>
          <p:nvPr/>
        </p:nvCxnSpPr>
        <p:spPr>
          <a:xfrm>
            <a:off x="4086560" y="4426322"/>
            <a:ext cx="0" cy="620832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화살표 연결선 105"/>
          <p:cNvCxnSpPr/>
          <p:nvPr/>
        </p:nvCxnSpPr>
        <p:spPr>
          <a:xfrm flipV="1">
            <a:off x="4086560" y="5111122"/>
            <a:ext cx="0" cy="620832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/>
          <p:cNvCxnSpPr/>
          <p:nvPr/>
        </p:nvCxnSpPr>
        <p:spPr>
          <a:xfrm flipV="1">
            <a:off x="4086560" y="5775656"/>
            <a:ext cx="0" cy="620832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아래쪽 화살표 107"/>
          <p:cNvSpPr/>
          <p:nvPr/>
        </p:nvSpPr>
        <p:spPr>
          <a:xfrm>
            <a:off x="6865250" y="5458246"/>
            <a:ext cx="306034" cy="341222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21429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1"/>
          <p:cNvSpPr>
            <a:spLocks noGrp="1"/>
          </p:cNvSpPr>
          <p:nvPr>
            <p:ph sz="quarter" idx="13"/>
          </p:nvPr>
        </p:nvSpPr>
        <p:spPr>
          <a:xfrm>
            <a:off x="407865" y="285862"/>
            <a:ext cx="4350567" cy="429767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작업 프로그램</a:t>
            </a:r>
          </a:p>
        </p:txBody>
      </p:sp>
      <p:sp>
        <p:nvSpPr>
          <p:cNvPr id="16" name="내용 개체 틀 2"/>
          <p:cNvSpPr>
            <a:spLocks noGrp="1"/>
          </p:cNvSpPr>
          <p:nvPr>
            <p:ph sz="quarter" idx="14"/>
          </p:nvPr>
        </p:nvSpPr>
        <p:spPr>
          <a:xfrm>
            <a:off x="6031807" y="431974"/>
            <a:ext cx="4350567" cy="321940"/>
          </a:xfrm>
        </p:spPr>
        <p:txBody>
          <a:bodyPr>
            <a:normAutofit lnSpcReduction="10000"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작업허가</a:t>
            </a:r>
          </a:p>
        </p:txBody>
      </p:sp>
      <p:sp>
        <p:nvSpPr>
          <p:cNvPr id="52" name="직사각형 51"/>
          <p:cNvSpPr/>
          <p:nvPr/>
        </p:nvSpPr>
        <p:spPr>
          <a:xfrm>
            <a:off x="743072" y="1001586"/>
            <a:ext cx="9896216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작업 계획서 </a:t>
            </a:r>
            <a:endParaRPr lang="en-US" altLang="ko-KR" sz="13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endParaRPr lang="en-US" altLang="ko-KR" sz="13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↓ 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더블클릭 </a:t>
            </a: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다운로드 가능</a:t>
            </a:r>
            <a:endParaRPr lang="en-US" altLang="ko-KR" sz="13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4" name="개체 3">
            <a:extLst>
              <a:ext uri="{FF2B5EF4-FFF2-40B4-BE49-F238E27FC236}">
                <a16:creationId xmlns:a16="http://schemas.microsoft.com/office/drawing/2014/main" id="{87B48575-9800-4E50-92BC-0EE1105BB4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3258166"/>
              </p:ext>
            </p:extLst>
          </p:nvPr>
        </p:nvGraphicFramePr>
        <p:xfrm>
          <a:off x="594172" y="1942046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8" name="Worksheet" showAsIcon="1" r:id="rId3" imgW="914400" imgH="771525" progId="Excel.Sheet.12">
                  <p:embed/>
                </p:oleObj>
              </mc:Choice>
              <mc:Fallback>
                <p:oleObj name="Worksheet" showAsIcon="1" r:id="rId3" imgW="914400" imgH="77152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4172" y="1942046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6B1188B8-077A-4510-A8BB-400C014D2F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4452" y="1001586"/>
            <a:ext cx="4099068" cy="611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5443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1"/>
          <p:cNvSpPr>
            <a:spLocks noGrp="1"/>
          </p:cNvSpPr>
          <p:nvPr>
            <p:ph sz="quarter" idx="13"/>
          </p:nvPr>
        </p:nvSpPr>
        <p:spPr>
          <a:xfrm>
            <a:off x="407865" y="285862"/>
            <a:ext cx="4350567" cy="429767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작업 프로그램</a:t>
            </a:r>
          </a:p>
        </p:txBody>
      </p:sp>
      <p:sp>
        <p:nvSpPr>
          <p:cNvPr id="16" name="내용 개체 틀 2"/>
          <p:cNvSpPr>
            <a:spLocks noGrp="1"/>
          </p:cNvSpPr>
          <p:nvPr>
            <p:ph sz="quarter" idx="14"/>
          </p:nvPr>
        </p:nvSpPr>
        <p:spPr>
          <a:xfrm>
            <a:off x="6031807" y="431974"/>
            <a:ext cx="4350567" cy="321940"/>
          </a:xfrm>
        </p:spPr>
        <p:txBody>
          <a:bodyPr>
            <a:normAutofit lnSpcReduction="10000"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작업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378148" y="933934"/>
            <a:ext cx="928903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6. 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작업</a:t>
            </a:r>
            <a:endParaRPr lang="en-US" altLang="ko-KR" sz="13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86158" y="1260150"/>
            <a:ext cx="961306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6.1 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출입 전 확인사항</a:t>
            </a:r>
            <a:endParaRPr lang="en-US" altLang="ko-KR" sz="13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0695198"/>
              </p:ext>
            </p:extLst>
          </p:nvPr>
        </p:nvGraphicFramePr>
        <p:xfrm>
          <a:off x="1026220" y="1642356"/>
          <a:ext cx="8208912" cy="2431352"/>
        </p:xfrm>
        <a:graphic>
          <a:graphicData uri="http://schemas.openxmlformats.org/drawingml/2006/table">
            <a:tbl>
              <a:tblPr/>
              <a:tblGrid>
                <a:gridCol w="46389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4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45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739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확 인 사 항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확인</a:t>
                      </a:r>
                      <a:r>
                        <a:rPr lang="en-US" altLang="ko-KR" sz="1000" b="1" kern="0" spc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√표</a:t>
                      </a:r>
                      <a:r>
                        <a:rPr lang="en-US" altLang="ko-KR" sz="1000" b="1" kern="0" spc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 고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① </a:t>
                      </a: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작업허가서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엣지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에 기재된 내용을 충족하고 있는가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?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② 밀폐공간 출입자가 안전한 작업방법 등에 대한 사전교육을 받았는가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?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③ </a:t>
                      </a:r>
                      <a:r>
                        <a:rPr lang="ko-KR" altLang="en-US" sz="1000" kern="0" spc="-12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감시인에게 각 단계의 안전을 확인하게 하며 작업수행 중 상주토록 조치하였는가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?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8191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④ </a:t>
                      </a:r>
                      <a:r>
                        <a:rPr lang="ko-KR" altLang="en-US" sz="1000" kern="0" spc="-3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입구의 크기가 </a:t>
                      </a:r>
                      <a:r>
                        <a:rPr lang="ko-KR" altLang="en-US" sz="1000" kern="0" spc="-30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응급상황시</a:t>
                      </a:r>
                      <a:r>
                        <a:rPr lang="ko-KR" altLang="en-US" sz="1000" kern="0" spc="-3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쉽게 접근하고 빠져올 수 있는 충분한 크기인가</a:t>
                      </a:r>
                      <a:r>
                        <a:rPr lang="en-US" altLang="ko-KR" sz="1000" kern="0" spc="-3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?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⑤ </a:t>
                      </a: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밀폐공간내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유해가스 존재 여부 대한 사전 측정을 실시하였는가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?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⑥ 화재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․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폭발의 우려가 있는 장소인가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? </a:t>
                      </a: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방폭형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구조장비는 준비되었는가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?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⑦ </a:t>
                      </a:r>
                      <a:r>
                        <a:rPr lang="ko-KR" altLang="en-US" sz="1000" kern="0" spc="-13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보호구</a:t>
                      </a:r>
                      <a:r>
                        <a:rPr lang="en-US" altLang="ko-KR" sz="1000" kern="0" spc="-13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kern="0" spc="-13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응급구조체계</a:t>
                      </a:r>
                      <a:r>
                        <a:rPr lang="en-US" altLang="ko-KR" sz="1000" kern="0" spc="-13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kern="0" spc="-13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구조장비</a:t>
                      </a:r>
                      <a:r>
                        <a:rPr lang="en-US" altLang="ko-KR" sz="1000" kern="0" spc="-13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kern="0" spc="-13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연락</a:t>
                      </a:r>
                      <a:r>
                        <a:rPr lang="en-US" altLang="ko-KR" sz="1000" kern="0" spc="-13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․</a:t>
                      </a:r>
                      <a:r>
                        <a:rPr lang="ko-KR" altLang="en-US" sz="1000" kern="0" spc="-13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통신장비</a:t>
                      </a:r>
                      <a:r>
                        <a:rPr lang="en-US" altLang="ko-KR" sz="1000" kern="0" spc="-13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kern="0" spc="-13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경보설비 정상여부를 점검하였는가</a:t>
                      </a:r>
                      <a:r>
                        <a:rPr lang="en-US" altLang="ko-KR" sz="1000" kern="0" spc="-13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?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⑧ </a:t>
                      </a: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작업중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유해가스의 </a:t>
                      </a: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계속발생으로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가스농도의 연속측정이 필요한 작업인가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?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직사각형 10"/>
          <p:cNvSpPr/>
          <p:nvPr/>
        </p:nvSpPr>
        <p:spPr>
          <a:xfrm>
            <a:off x="486158" y="4451826"/>
            <a:ext cx="961306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6.2 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작업방법</a:t>
            </a:r>
            <a:endParaRPr lang="en-US" altLang="ko-KR" sz="13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738188" y="4714354"/>
            <a:ext cx="9217024" cy="24699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300"/>
              </a:spcBef>
            </a:pP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1)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출입자는 개인 휴대용 측정기구를 휴대하여 작업 중 산소 및 유해가스 농도에 대하여 수시로 측정한다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lang="ko-KR" alt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300"/>
              </a:spcBef>
            </a:pP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2)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내에서 양수기 등의 내연기관 사용 또는 </a:t>
            </a:r>
            <a:r>
              <a:rPr lang="ko-KR" altLang="en-US" sz="12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슬러지제거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콘크리트 양생작업과 같이 작업을 하는 과정에서 유해가스가 계속 발생할 </a:t>
            </a:r>
            <a:b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가능성이 있을 경우에는 산소농도 및 유해가스 농도를 연속 측정한다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endParaRPr lang="ko-KR" alt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300"/>
              </a:spcBef>
            </a:pP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3)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출입자는 휴대용 측정기구가 경보를 울리면 즉시 밀폐공간을 떠난다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endParaRPr lang="ko-KR" alt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300"/>
              </a:spcBef>
            </a:pP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4) </a:t>
            </a:r>
            <a:r>
              <a:rPr lang="ko-KR" altLang="en-US" sz="12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경보음이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울릴 때 출입자가 작업현장에서 떠나는 것을 감시인은 필히 확인한다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lang="ko-KR" alt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300"/>
              </a:spcBef>
            </a:pP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5)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작업현장 상황이 구조활동을 요구할 정도로 심각할 때 출입자는 반드시 감시인으로 하여금 즉시 비상구조 요청을 한다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lang="ko-KR" alt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300"/>
              </a:spcBef>
            </a:pP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6)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재해자 발생시 구조를 위해 호흡용 보호구 착용 등 안전조치 없이 절대로 밀폐공간에 들어가지 않는다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lang="ko-KR" alt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300"/>
              </a:spcBef>
            </a:pP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7)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출입자는 다음사항을 꼭 실천한다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lang="ko-KR" alt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300"/>
              </a:spcBef>
            </a:pP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가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출입자는 작업 전 유해가스 존재여부를 확인하는 등 안전작업 수칙 준수</a:t>
            </a:r>
          </a:p>
          <a:p>
            <a:pPr latinLnBrk="1">
              <a:spcBef>
                <a:spcPts val="300"/>
              </a:spcBef>
            </a:pP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나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유해가스가 존재 가능한 장소에서는 수시 측정 및 적정한 공기가 유지되도록 환기조치하고 비상시를 대비하여 응급구조설비를 비치</a:t>
            </a:r>
          </a:p>
          <a:p>
            <a:pPr latinLnBrk="1">
              <a:spcBef>
                <a:spcPts val="300"/>
              </a:spcBef>
            </a:pP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다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  <a:r>
              <a:rPr lang="ko-KR" altLang="en-US" sz="12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공기공급식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호흡용보호구를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착용하고 안전작업수칙에 따라 작업수행</a:t>
            </a:r>
          </a:p>
        </p:txBody>
      </p:sp>
    </p:spTree>
    <p:extLst>
      <p:ext uri="{BB962C8B-B14F-4D97-AF65-F5344CB8AC3E}">
        <p14:creationId xmlns:p14="http://schemas.microsoft.com/office/powerpoint/2010/main" val="3682345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1"/>
          <p:cNvSpPr>
            <a:spLocks noGrp="1"/>
          </p:cNvSpPr>
          <p:nvPr>
            <p:ph sz="quarter" idx="13"/>
          </p:nvPr>
        </p:nvSpPr>
        <p:spPr>
          <a:xfrm>
            <a:off x="407865" y="285862"/>
            <a:ext cx="4350567" cy="429767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작업 프로그램</a:t>
            </a:r>
          </a:p>
        </p:txBody>
      </p:sp>
      <p:sp>
        <p:nvSpPr>
          <p:cNvPr id="16" name="내용 개체 틀 2"/>
          <p:cNvSpPr>
            <a:spLocks noGrp="1"/>
          </p:cNvSpPr>
          <p:nvPr>
            <p:ph sz="quarter" idx="14"/>
          </p:nvPr>
        </p:nvSpPr>
        <p:spPr>
          <a:xfrm>
            <a:off x="6031807" y="431974"/>
            <a:ext cx="4350567" cy="321940"/>
          </a:xfrm>
        </p:spPr>
        <p:txBody>
          <a:bodyPr>
            <a:normAutofit lnSpcReduction="10000"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산소 및 유해가스 농도측정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378148" y="933934"/>
            <a:ext cx="928903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7. 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산소 및 유해가스 농도측정</a:t>
            </a:r>
            <a:endParaRPr lang="en-US" altLang="ko-KR" sz="13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86158" y="1260150"/>
            <a:ext cx="9613069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7.1 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산소 및 유해가스 농도의 판정기준</a:t>
            </a:r>
            <a:endParaRPr lang="en-US" altLang="ko-KR" sz="13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: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산소 및 유해가스 농도의 측정 후 판정기준은 각각의 측정위치에서 측정된 최고농도를 적용한다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lang="en-US" altLang="ko-KR" sz="13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8477357"/>
              </p:ext>
            </p:extLst>
          </p:nvPr>
        </p:nvGraphicFramePr>
        <p:xfrm>
          <a:off x="1098228" y="1906042"/>
          <a:ext cx="4610608" cy="1506096"/>
        </p:xfrm>
        <a:graphic>
          <a:graphicData uri="http://schemas.openxmlformats.org/drawingml/2006/table">
            <a:tbl>
              <a:tblPr/>
              <a:tblGrid>
                <a:gridCol w="2305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5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39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측정가스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안전 </a:t>
                      </a:r>
                      <a:r>
                        <a:rPr lang="ko-KR" altLang="en-US" sz="1000" b="1" kern="0" spc="0" dirty="0" err="1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작업기준</a:t>
                      </a: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농도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산소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</a:t>
                      </a: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O</a:t>
                      </a:r>
                      <a:r>
                        <a:rPr lang="en-US" sz="1000" kern="0" spc="0" baseline="-25000" dirty="0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</a:t>
                      </a: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18% ~ 23.5%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이산화탄소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</a:t>
                      </a: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CO</a:t>
                      </a:r>
                      <a:r>
                        <a:rPr lang="en-US" sz="1000" kern="0" spc="0" baseline="-25000" dirty="0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</a:t>
                      </a: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1.5%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미만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일산화탄소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(CO)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30ppm</a:t>
                      </a:r>
                      <a:r>
                        <a:rPr lang="en-US" altLang="ko-KR" sz="1000" kern="0" spc="0" baseline="0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kern="0" spc="0" baseline="0" dirty="0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미만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9865812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황화수소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</a:t>
                      </a: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H</a:t>
                      </a:r>
                      <a:r>
                        <a:rPr lang="en-US" sz="1000" kern="0" spc="0" baseline="-25000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</a:t>
                      </a: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S)</a:t>
                      </a: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10ppm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미만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가연성가스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메탄 등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, LEL)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10%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미만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5081014"/>
                  </a:ext>
                </a:extLst>
              </a:tr>
            </a:tbl>
          </a:graphicData>
        </a:graphic>
      </p:graphicFrame>
      <p:sp>
        <p:nvSpPr>
          <p:cNvPr id="15" name="직사각형 14"/>
          <p:cNvSpPr/>
          <p:nvPr/>
        </p:nvSpPr>
        <p:spPr>
          <a:xfrm>
            <a:off x="486158" y="3526222"/>
            <a:ext cx="9613069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7.2 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산소 및 유해가스의 정확한 농도측정을 위한 필수조건 및 장비목록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954212" y="3958270"/>
            <a:ext cx="53467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○ 필수 조건 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내 산소 및 유해가스 특성에 맞는 적절한 측정기 선택하여 구비한다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lang="ko-KR" alt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측정기는 유지보수관리를 통하여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정밀도를 유지한다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lang="ko-KR" alt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측정기기의 사용 및 취급방법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유지 및 보수방법을 충분히 습득한다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lang="ko-KR" alt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측정 전에 기준농도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경보설정농도를 정확하게 교정하여 측정기를 사용한다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lang="ko-KR" alt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954212" y="5425725"/>
            <a:ext cx="53467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○ 장비 목록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769520"/>
              </p:ext>
            </p:extLst>
          </p:nvPr>
        </p:nvGraphicFramePr>
        <p:xfrm>
          <a:off x="690799" y="5838940"/>
          <a:ext cx="9228409" cy="1008000"/>
        </p:xfrm>
        <a:graphic>
          <a:graphicData uri="http://schemas.openxmlformats.org/drawingml/2006/table">
            <a:tbl>
              <a:tblPr/>
              <a:tblGrid>
                <a:gridCol w="12337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57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57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00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68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62529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장비명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수량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모델명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측정가스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구입년월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최근교정일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교정</a:t>
                      </a:r>
                      <a:r>
                        <a:rPr lang="ko-KR" altLang="en-US" sz="1000" b="1" kern="0" spc="0" baseline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주기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교정기관명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매뉴얼 보유여부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 고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산소농도</a:t>
                      </a:r>
                      <a:r>
                        <a:rPr lang="ko-KR" altLang="en-US" sz="1000" kern="0" spc="0" baseline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측정기</a:t>
                      </a: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1000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대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Finch-Com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산 소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2010.7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2012.7.10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1000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err="1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미보유</a:t>
                      </a:r>
                      <a:endParaRPr lang="ko-KR" altLang="en-US" sz="10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 rot="20412881" flipH="1">
            <a:off x="4499575" y="6395153"/>
            <a:ext cx="2762593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센터에 맞게 수정</a:t>
            </a:r>
          </a:p>
        </p:txBody>
      </p:sp>
    </p:spTree>
    <p:extLst>
      <p:ext uri="{BB962C8B-B14F-4D97-AF65-F5344CB8AC3E}">
        <p14:creationId xmlns:p14="http://schemas.microsoft.com/office/powerpoint/2010/main" val="8426141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_x207775792" descr="EMB0000116cb9ec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4893" y="854576"/>
            <a:ext cx="3308154" cy="3247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내용 개체 틀 1"/>
          <p:cNvSpPr>
            <a:spLocks noGrp="1"/>
          </p:cNvSpPr>
          <p:nvPr>
            <p:ph sz="quarter" idx="13"/>
          </p:nvPr>
        </p:nvSpPr>
        <p:spPr>
          <a:xfrm>
            <a:off x="407865" y="285862"/>
            <a:ext cx="4350567" cy="429767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작업 프로그램</a:t>
            </a:r>
          </a:p>
        </p:txBody>
      </p:sp>
      <p:sp>
        <p:nvSpPr>
          <p:cNvPr id="16" name="내용 개체 틀 2"/>
          <p:cNvSpPr>
            <a:spLocks noGrp="1"/>
          </p:cNvSpPr>
          <p:nvPr>
            <p:ph sz="quarter" idx="14"/>
          </p:nvPr>
        </p:nvSpPr>
        <p:spPr>
          <a:xfrm>
            <a:off x="6031807" y="431974"/>
            <a:ext cx="4350567" cy="321940"/>
          </a:xfrm>
        </p:spPr>
        <p:txBody>
          <a:bodyPr>
            <a:normAutofit lnSpcReduction="10000"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산소 및 유해가스 농도측정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486158" y="1201348"/>
            <a:ext cx="9613069" cy="189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7.3 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산소 및 유해가스 농도를 반드시 측정해야 하는 경우</a:t>
            </a:r>
            <a:endParaRPr lang="en-US" altLang="ko-KR" sz="13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1)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당일의 작업을 개시하기 전</a:t>
            </a:r>
            <a:endParaRPr lang="en-US" altLang="ko-KR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2)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교대제로 작업을 행할 경우 작업 당일 최초 교대가 행해져서 작업이 시작되기 전</a:t>
            </a:r>
            <a:endParaRPr lang="en-US" altLang="ko-KR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3)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작업에 종사하는 전체 근로자가 작업을 하고 있던 장소를 </a:t>
            </a:r>
            <a:r>
              <a:rPr lang="ko-KR" altLang="en-US" sz="12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떠낫다가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돌아와 다시 작업을 개시하기 전</a:t>
            </a:r>
            <a:endParaRPr lang="en-US" altLang="ko-KR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4)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근로자의 건강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환기장치 등에 이상이 있을 때</a:t>
            </a:r>
            <a:endParaRPr lang="en-US" altLang="ko-KR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5)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작업을 하는 과정에서 유해가스가 발생할 가능성이 있을 경우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연속측정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 latinLnBrk="1">
              <a:spcBef>
                <a:spcPts val="600"/>
              </a:spcBef>
            </a:pP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6)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작업자 또는 </a:t>
            </a:r>
            <a:r>
              <a:rPr lang="ko-KR" altLang="en-US" sz="12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추진팀에서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측정이 필요하다고 인정되는 경우</a:t>
            </a: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486158" y="3809898"/>
            <a:ext cx="9613069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7.4 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산소 및 유해가스 농도 측정 방법 및 유의사항</a:t>
            </a:r>
            <a:endParaRPr lang="en-US" altLang="ko-KR" sz="13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9943238"/>
              </p:ext>
            </p:extLst>
          </p:nvPr>
        </p:nvGraphicFramePr>
        <p:xfrm>
          <a:off x="846200" y="4264558"/>
          <a:ext cx="8820980" cy="22860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11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71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측정지점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b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작업장소에</a:t>
                      </a:r>
                      <a:r>
                        <a:rPr lang="ko-KR" altLang="en-US" sz="1200" b="0" baseline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대해서 수직방향 및 수평방향으로 각각 </a:t>
                      </a:r>
                      <a:r>
                        <a:rPr lang="en-US" altLang="ko-KR" sz="1200" b="0" baseline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1200" b="0" baseline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개소 이상</a:t>
                      </a:r>
                      <a:endParaRPr lang="en-US" altLang="ko-KR" sz="1200" b="0" baseline="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b="0" baseline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작업에 따라 근로자가 출입하는 장소로서 </a:t>
                      </a:r>
                      <a:r>
                        <a:rPr lang="ko-KR" altLang="en-US" sz="1200" b="0" baseline="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작업시</a:t>
                      </a:r>
                      <a:r>
                        <a:rPr lang="ko-KR" altLang="en-US" sz="1200" b="0" baseline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근로자의 호흡위치를 중심</a:t>
                      </a:r>
                      <a:endParaRPr lang="ko-KR" altLang="en-US" sz="1200" b="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측정방법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b="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휴대용측정기</a:t>
                      </a:r>
                      <a:r>
                        <a:rPr lang="ko-KR" altLang="en-US" sz="1200" b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또는 </a:t>
                      </a:r>
                      <a:r>
                        <a:rPr lang="ko-KR" altLang="en-US" sz="1200" b="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검지관을</a:t>
                      </a:r>
                      <a:r>
                        <a:rPr lang="ko-KR" altLang="en-US" sz="1200" b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이용하여 산소 및 유해가스 농도를 측정한다</a:t>
                      </a:r>
                      <a:endParaRPr lang="en-US" altLang="ko-KR" sz="1200" b="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b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탱크 등 깊은 장소의 농도를 </a:t>
                      </a:r>
                      <a:r>
                        <a:rPr lang="ko-KR" altLang="en-US" sz="1200" b="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측정시에는</a:t>
                      </a:r>
                      <a:r>
                        <a:rPr lang="ko-KR" altLang="en-US" sz="1200" b="0" baseline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고무호스 등을 이용하여 측정</a:t>
                      </a:r>
                      <a:endParaRPr lang="en-US" altLang="ko-KR" sz="1200" b="0" baseline="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b="0" baseline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산소 및 유해가스 농도 </a:t>
                      </a:r>
                      <a:r>
                        <a:rPr lang="ko-KR" altLang="en-US" sz="1200" b="0" baseline="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측정시에는</a:t>
                      </a:r>
                      <a:r>
                        <a:rPr lang="ko-KR" altLang="en-US" sz="1200" b="0" baseline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면적</a:t>
                      </a:r>
                      <a:r>
                        <a:rPr lang="en-US" altLang="ko-KR" sz="1200" b="0" baseline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200" b="0" baseline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깊이를 고려하여 밀폐공간 내부를 골고루 측정한다</a:t>
                      </a:r>
                      <a:endParaRPr lang="en-US" altLang="ko-KR" sz="1200" b="0" baseline="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b="0" baseline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공기 </a:t>
                      </a:r>
                      <a:r>
                        <a:rPr lang="ko-KR" altLang="en-US" sz="1200" b="0" baseline="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채취시에는</a:t>
                      </a:r>
                      <a:r>
                        <a:rPr lang="ko-KR" altLang="en-US" sz="1200" b="0" baseline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200" b="0" baseline="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채기관의</a:t>
                      </a:r>
                      <a:r>
                        <a:rPr lang="ko-KR" altLang="en-US" sz="1200" b="0" baseline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내부용적 이상의 피검공기로 완전히 치환 후 측정한다</a:t>
                      </a:r>
                      <a:r>
                        <a:rPr lang="en-US" altLang="ko-KR" sz="1200" b="0" baseline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.</a:t>
                      </a:r>
                      <a:endParaRPr lang="ko-KR" altLang="en-US" sz="1200" b="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유의사항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b="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측정자는</a:t>
                      </a:r>
                      <a:r>
                        <a:rPr lang="ko-KR" altLang="en-US" sz="1200" b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측정방법을 충분하게 숙지</a:t>
                      </a:r>
                      <a:endParaRPr lang="en-US" altLang="ko-KR" sz="1200" b="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b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밀폐공간 외부에서 측정하는 것을 원칙으로 하되 </a:t>
                      </a:r>
                      <a:r>
                        <a:rPr lang="ko-KR" altLang="en-US" sz="1200" b="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측정자는</a:t>
                      </a:r>
                      <a:r>
                        <a:rPr lang="ko-KR" altLang="en-US" sz="1200" b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안전에 유의</a:t>
                      </a:r>
                      <a:endParaRPr lang="en-US" altLang="ko-KR" sz="1200" b="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b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긴급사태에 대비 측정자의 보조자를 배치토록 하고 보조자도 </a:t>
                      </a:r>
                      <a:r>
                        <a:rPr lang="ko-KR" altLang="en-US" sz="1200" b="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구명셋을</a:t>
                      </a:r>
                      <a:r>
                        <a:rPr lang="ko-KR" altLang="en-US" sz="1200" b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완비</a:t>
                      </a:r>
                      <a:endParaRPr lang="en-US" altLang="ko-KR" sz="1200" b="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b="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밀폐공간내에</a:t>
                      </a:r>
                      <a:r>
                        <a:rPr lang="ko-KR" altLang="en-US" sz="1200" b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들어가 측정할 경우 </a:t>
                      </a:r>
                      <a:r>
                        <a:rPr lang="ko-KR" altLang="en-US" sz="1200" b="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측정자</a:t>
                      </a:r>
                      <a:r>
                        <a:rPr lang="ko-KR" altLang="en-US" sz="1200" b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및 보조자는 공기호흡기와 </a:t>
                      </a:r>
                      <a:r>
                        <a:rPr lang="ko-KR" altLang="en-US" sz="1200" b="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송기마스크</a:t>
                      </a:r>
                      <a:r>
                        <a:rPr lang="ko-KR" altLang="en-US" sz="1200" b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등 </a:t>
                      </a:r>
                      <a:r>
                        <a:rPr lang="ko-KR" altLang="en-US" sz="1200" b="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호흡용보호구를</a:t>
                      </a:r>
                      <a:r>
                        <a:rPr lang="ko-KR" altLang="en-US" sz="1200" b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200" b="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필요시</a:t>
                      </a:r>
                      <a:r>
                        <a:rPr lang="ko-KR" altLang="en-US" sz="1200" b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착용</a:t>
                      </a:r>
                      <a:endParaRPr lang="en-US" altLang="ko-KR" sz="1200" b="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b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측정에 필요한 장비 등은 </a:t>
                      </a:r>
                      <a:r>
                        <a:rPr lang="ko-KR" altLang="en-US" sz="1200" b="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방폭형</a:t>
                      </a:r>
                      <a:r>
                        <a:rPr lang="ko-KR" altLang="en-US" sz="1200" b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구조로 된 것을 사용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76115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1"/>
          <p:cNvSpPr>
            <a:spLocks noGrp="1"/>
          </p:cNvSpPr>
          <p:nvPr>
            <p:ph sz="quarter" idx="13"/>
          </p:nvPr>
        </p:nvSpPr>
        <p:spPr>
          <a:xfrm>
            <a:off x="407865" y="285862"/>
            <a:ext cx="4350567" cy="429767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작업 프로그램</a:t>
            </a:r>
          </a:p>
        </p:txBody>
      </p:sp>
      <p:sp>
        <p:nvSpPr>
          <p:cNvPr id="16" name="내용 개체 틀 2"/>
          <p:cNvSpPr>
            <a:spLocks noGrp="1"/>
          </p:cNvSpPr>
          <p:nvPr>
            <p:ph sz="quarter" idx="14"/>
          </p:nvPr>
        </p:nvSpPr>
        <p:spPr>
          <a:xfrm>
            <a:off x="6031807" y="431974"/>
            <a:ext cx="4350567" cy="321940"/>
          </a:xfrm>
        </p:spPr>
        <p:txBody>
          <a:bodyPr>
            <a:normAutofit lnSpcReduction="10000"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밀폐공간에서의 환기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378148" y="933934"/>
            <a:ext cx="928903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8. 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밀폐공간에서의 환기</a:t>
            </a:r>
            <a:endParaRPr lang="en-US" altLang="ko-KR" sz="13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86158" y="1260150"/>
            <a:ext cx="9613069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</a:t>
            </a:r>
            <a:r>
              <a:rPr lang="ko-KR" altLang="en-US" sz="13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작업시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작업장소에서 적정한 공기가 유지되도록 환기를 실시한 후 작업을 하며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3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작업공간내에서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유해가스가 지속적으로                </a:t>
            </a: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발생한 경우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양수기 가동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3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슬러지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제거작업 등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에는 계속적으로 환기를 실시한다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lang="en-US" altLang="ko-KR" sz="13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486158" y="1906042"/>
            <a:ext cx="961306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8.1 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환기장치 보유현황</a:t>
            </a:r>
            <a:endParaRPr lang="en-US" altLang="ko-KR" sz="13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</a:p>
        </p:txBody>
      </p:sp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5849936"/>
              </p:ext>
            </p:extLst>
          </p:nvPr>
        </p:nvGraphicFramePr>
        <p:xfrm>
          <a:off x="954212" y="2302086"/>
          <a:ext cx="8856984" cy="1146874"/>
        </p:xfrm>
        <a:graphic>
          <a:graphicData uri="http://schemas.openxmlformats.org/drawingml/2006/table">
            <a:tbl>
              <a:tblPr/>
              <a:tblGrid>
                <a:gridCol w="675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8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60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70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79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67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414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79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명 칭</a:t>
                      </a: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 량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모델명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 양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플렉시블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호스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보 유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여 부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 고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0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err="1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환기팬</a:t>
                      </a:r>
                      <a:endParaRPr lang="ko-KR" altLang="en-US" sz="10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1000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대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20CMM, 1Hp, 220V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5m, 2</a:t>
                      </a:r>
                      <a:r>
                        <a:rPr lang="ko-KR" altLang="en-US" sz="1000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err="1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미보유</a:t>
                      </a:r>
                      <a:endParaRPr lang="ko-KR" altLang="en-US" sz="10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안전공단에서 대여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0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" name="직사각형 20"/>
          <p:cNvSpPr/>
          <p:nvPr/>
        </p:nvSpPr>
        <p:spPr>
          <a:xfrm>
            <a:off x="4744291" y="1980422"/>
            <a:ext cx="53467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lang="ko-KR" altLang="en-US" sz="11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장비 대여는 작업개시 </a:t>
            </a:r>
            <a:r>
              <a:rPr lang="en-US" altLang="ko-KR" sz="11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</a:t>
            </a:r>
            <a:r>
              <a:rPr lang="ko-KR" altLang="en-US" sz="11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일전 각 지역별 안전보건공단을 방문하여 대여 가능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486158" y="3604907"/>
            <a:ext cx="961306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8.2 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작업장소에 따른 </a:t>
            </a:r>
            <a:r>
              <a:rPr lang="ko-KR" altLang="en-US" sz="13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환기량</a:t>
            </a:r>
            <a:endParaRPr lang="en-US" altLang="ko-KR" sz="13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</a:p>
        </p:txBody>
      </p:sp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019463"/>
              </p:ext>
            </p:extLst>
          </p:nvPr>
        </p:nvGraphicFramePr>
        <p:xfrm>
          <a:off x="954212" y="3994274"/>
          <a:ext cx="8784976" cy="2907731"/>
        </p:xfrm>
        <a:graphic>
          <a:graphicData uri="http://schemas.openxmlformats.org/drawingml/2006/table">
            <a:tbl>
              <a:tblPr/>
              <a:tblGrid>
                <a:gridCol w="20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96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773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작업장소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환기량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69850" marR="939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잠함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압기실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등의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압기공법의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작업실</a:t>
                      </a:r>
                      <a:endParaRPr lang="ko-KR" altLang="en-US" sz="1150" kern="0" spc="-12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9690" marR="10033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6720" algn="l"/>
                          <a:tab pos="693420" algn="l"/>
                          <a:tab pos="873760" algn="l"/>
                          <a:tab pos="426720" algn="l"/>
                          <a:tab pos="693420" algn="l"/>
                          <a:tab pos="873760" algn="l"/>
                        </a:tabLs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기관실 및 작업실에 대하여 사전에 환기설비를 이용하여 당해 기적의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배 이상의 신선한 외부공기로 환기 후 근로자가 작업하는 동안 계속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급기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한다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.</a:t>
                      </a:r>
                      <a:endParaRPr lang="ko-KR" altLang="en-US" sz="1150" kern="0" spc="-8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69850" marR="939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피트 내부</a:t>
                      </a:r>
                      <a:endParaRPr lang="ko-KR" altLang="en-US" sz="1150" kern="0" spc="-12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9690" marR="10033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6720" algn="l"/>
                          <a:tab pos="693420" algn="l"/>
                          <a:tab pos="873760" algn="l"/>
                          <a:tab pos="426720" algn="l"/>
                          <a:tab pos="693420" algn="l"/>
                          <a:tab pos="873760" algn="l"/>
                        </a:tabLs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피트 내를 균일하게 환기하고 적정한 공기가 유지되도록 계속하여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급기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한다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.</a:t>
                      </a:r>
                      <a:endParaRPr lang="ko-KR" altLang="en-US" sz="1150" kern="0" spc="-8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69850" marR="939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6720" algn="l"/>
                          <a:tab pos="693420" algn="l"/>
                          <a:tab pos="873760" algn="l"/>
                          <a:tab pos="426720" algn="l"/>
                          <a:tab pos="693420" algn="l"/>
                          <a:tab pos="873760" algn="l"/>
                        </a:tabLs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황화수소가 발생할 우려가 있는 탱크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보일러 등의 내부</a:t>
                      </a:r>
                      <a:endParaRPr lang="ko-KR" altLang="en-US" sz="1150" kern="0" spc="-8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9690" marR="10033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6720" algn="l"/>
                          <a:tab pos="693420" algn="l"/>
                          <a:tab pos="873760" algn="l"/>
                          <a:tab pos="426720" algn="l"/>
                          <a:tab pos="693420" algn="l"/>
                          <a:tab pos="873760" algn="l"/>
                        </a:tabLs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기적의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배 이상 신선한 공기로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급기한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후 출입하고 작업 동안에는 적정한 공기가 유지되도록 계속하여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급기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한다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.</a:t>
                      </a:r>
                      <a:endParaRPr lang="ko-KR" altLang="en-US" sz="1150" kern="0" spc="-8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69850" marR="939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6720" algn="l"/>
                          <a:tab pos="693420" algn="l"/>
                          <a:tab pos="873760" algn="l"/>
                          <a:tab pos="426720" algn="l"/>
                          <a:tab pos="693420" algn="l"/>
                          <a:tab pos="873760" algn="l"/>
                        </a:tabLs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탱크 내 퇴적물 제거작업</a:t>
                      </a:r>
                      <a:endParaRPr lang="ko-KR" altLang="en-US" sz="1150" kern="0" spc="-8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9690" marR="10033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6720" algn="l"/>
                          <a:tab pos="693420" algn="l"/>
                          <a:tab pos="873760" algn="l"/>
                          <a:tab pos="426720" algn="l"/>
                          <a:tab pos="693420" algn="l"/>
                          <a:tab pos="873760" algn="l"/>
                        </a:tabLs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작업개시 전 탱크 등 용적의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～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배 이상의 신선한 외부공기를 사용하여 환기 후 출입하고 작업 중에는 계속 환기장치를 가동한다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.</a:t>
                      </a:r>
                      <a:endParaRPr lang="ko-KR" altLang="en-US" sz="1150" kern="0" spc="-8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69850" marR="939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기타 밀폐공간</a:t>
                      </a:r>
                      <a:endParaRPr lang="ko-KR" altLang="en-US" sz="1150" kern="0" spc="-12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9690" marR="10033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6720" algn="l"/>
                          <a:tab pos="693420" algn="l"/>
                          <a:tab pos="873760" algn="l"/>
                          <a:tab pos="426720" algn="l"/>
                          <a:tab pos="693420" algn="l"/>
                          <a:tab pos="873760" algn="l"/>
                        </a:tabLs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작업 전 기적의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배 이상의 신선한 공기로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급기한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후 출입하고 작업 동안에는 적정한 공기가 유지되도록 계속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급기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한다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.</a:t>
                      </a:r>
                      <a:endParaRPr lang="ko-KR" altLang="en-US" sz="1150" kern="0" spc="-8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 rot="20412881" flipH="1">
            <a:off x="4427569" y="2936654"/>
            <a:ext cx="2762593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센터에 맞게 수정</a:t>
            </a:r>
          </a:p>
        </p:txBody>
      </p:sp>
    </p:spTree>
    <p:extLst>
      <p:ext uri="{BB962C8B-B14F-4D97-AF65-F5344CB8AC3E}">
        <p14:creationId xmlns:p14="http://schemas.microsoft.com/office/powerpoint/2010/main" val="10351171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1"/>
          <p:cNvSpPr>
            <a:spLocks noGrp="1"/>
          </p:cNvSpPr>
          <p:nvPr>
            <p:ph sz="quarter" idx="13"/>
          </p:nvPr>
        </p:nvSpPr>
        <p:spPr>
          <a:xfrm>
            <a:off x="407865" y="285862"/>
            <a:ext cx="4350567" cy="429767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작업 프로그램</a:t>
            </a:r>
          </a:p>
        </p:txBody>
      </p:sp>
      <p:sp>
        <p:nvSpPr>
          <p:cNvPr id="16" name="내용 개체 틀 2"/>
          <p:cNvSpPr>
            <a:spLocks noGrp="1"/>
          </p:cNvSpPr>
          <p:nvPr>
            <p:ph sz="quarter" idx="14"/>
          </p:nvPr>
        </p:nvSpPr>
        <p:spPr>
          <a:xfrm>
            <a:off x="6031807" y="431974"/>
            <a:ext cx="4350567" cy="321940"/>
          </a:xfrm>
        </p:spPr>
        <p:txBody>
          <a:bodyPr>
            <a:normAutofit lnSpcReduction="10000"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밀폐공간에서의 환기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486158" y="969938"/>
            <a:ext cx="9613069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8.3 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환기 시 주의사항 및 점검사항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9041952"/>
              </p:ext>
            </p:extLst>
          </p:nvPr>
        </p:nvGraphicFramePr>
        <p:xfrm>
          <a:off x="1314252" y="1401986"/>
          <a:ext cx="8915654" cy="288251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9156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2519">
                <a:tc>
                  <a:txBody>
                    <a:bodyPr/>
                    <a:lstStyle/>
                    <a:p>
                      <a:pPr marL="459740" marR="0" indent="-459740" algn="just" fontAlgn="base" latinLnBrk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16527780" algn="l"/>
                          <a:tab pos="-16019780" algn="l"/>
                          <a:tab pos="-15511780" algn="l"/>
                          <a:tab pos="-15003780" algn="l"/>
                          <a:tab pos="-14495780" algn="l"/>
                          <a:tab pos="-13987780" algn="l"/>
                          <a:tab pos="-13479780" algn="l"/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</a:tabLst>
                      </a:pPr>
                      <a:endParaRPr lang="ko-KR" altLang="en-US" sz="600" kern="0" spc="-50" dirty="0">
                        <a:effectLst/>
                      </a:endParaRPr>
                    </a:p>
                    <a:p>
                      <a:pPr marL="323850" marR="0" indent="-323850" algn="just" fontAlgn="base" latinLnBrk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16527780" algn="l"/>
                          <a:tab pos="-16019780" algn="l"/>
                          <a:tab pos="-15511780" algn="l"/>
                          <a:tab pos="-15003780" algn="l"/>
                          <a:tab pos="-14495780" algn="l"/>
                          <a:tab pos="-13987780" algn="l"/>
                          <a:tab pos="-13479780" algn="l"/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</a:tabLst>
                      </a:pPr>
                      <a:r>
                        <a:rPr lang="en-US" altLang="ko-KR" sz="1200" kern="0" spc="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-</a:t>
                      </a:r>
                      <a:r>
                        <a:rPr lang="ko-KR" altLang="en-US" sz="1200" kern="0" spc="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200" kern="0" spc="-5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작업 전에는 산소 및 유해가스의 농도가 기준농도를 만족할 수 있도록 충분한 환기를 실시한다</a:t>
                      </a:r>
                      <a:r>
                        <a:rPr lang="en-US" altLang="ko-KR" sz="1200" kern="0" spc="-5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.</a:t>
                      </a:r>
                      <a:endParaRPr lang="ko-KR" altLang="en-US" sz="2000" kern="0" spc="-100" dirty="0"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6720" algn="l"/>
                          <a:tab pos="693420" algn="l"/>
                          <a:tab pos="873760" algn="l"/>
                          <a:tab pos="426720" algn="l"/>
                          <a:tab pos="693420" algn="l"/>
                          <a:tab pos="873760" algn="l"/>
                        </a:tabLst>
                      </a:pPr>
                      <a:r>
                        <a:rPr lang="en-US" altLang="ko-KR" sz="1200" kern="0" spc="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-</a:t>
                      </a:r>
                      <a:r>
                        <a:rPr lang="ko-KR" altLang="en-US" sz="1200" kern="0" spc="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정전 등에 의한 환기 중단 시에는 즉시 외부로 대피한다</a:t>
                      </a:r>
                      <a:r>
                        <a:rPr lang="en-US" altLang="ko-KR" sz="1200" kern="0" spc="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.</a:t>
                      </a:r>
                      <a:endParaRPr lang="ko-KR" altLang="en-US" sz="1150" kern="0" spc="-80" dirty="0"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marL="306070" marR="0" indent="-306070" algn="just" fontAlgn="base" latinLnBrk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6720" algn="l"/>
                          <a:tab pos="693420" algn="l"/>
                          <a:tab pos="873760" algn="l"/>
                          <a:tab pos="426720" algn="l"/>
                          <a:tab pos="693420" algn="l"/>
                          <a:tab pos="873760" algn="l"/>
                        </a:tabLst>
                      </a:pPr>
                      <a:r>
                        <a:rPr lang="en-US" altLang="ko-KR" sz="1200" kern="0" spc="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-</a:t>
                      </a:r>
                      <a:r>
                        <a:rPr lang="ko-KR" altLang="en-US" sz="1200" kern="0" spc="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200" kern="0" spc="-4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밀폐공간의 </a:t>
                      </a:r>
                      <a:r>
                        <a:rPr lang="ko-KR" altLang="en-US" sz="1200" kern="0" spc="-40" dirty="0" err="1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환기시</a:t>
                      </a:r>
                      <a:r>
                        <a:rPr lang="ko-KR" altLang="en-US" sz="1200" kern="0" spc="-4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에는 </a:t>
                      </a:r>
                      <a:r>
                        <a:rPr lang="ko-KR" altLang="en-US" sz="1200" kern="0" spc="-40" dirty="0" err="1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급기구와</a:t>
                      </a:r>
                      <a:r>
                        <a:rPr lang="ko-KR" altLang="en-US" sz="1200" kern="0" spc="-4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배기구를 적절하게 배치하여 작업장내 환기가</a:t>
                      </a:r>
                      <a:r>
                        <a:rPr lang="ko-KR" altLang="en-US" sz="1200" kern="0" spc="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효과적으로 이루어지도록 한다</a:t>
                      </a:r>
                      <a:r>
                        <a:rPr lang="en-US" altLang="ko-KR" sz="1200" kern="0" spc="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.</a:t>
                      </a:r>
                      <a:endParaRPr lang="ko-KR" altLang="en-US" sz="1150" kern="0" spc="-80" dirty="0"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6720" algn="l"/>
                          <a:tab pos="693420" algn="l"/>
                          <a:tab pos="873760" algn="l"/>
                          <a:tab pos="426720" algn="l"/>
                          <a:tab pos="693420" algn="l"/>
                          <a:tab pos="873760" algn="l"/>
                        </a:tabLst>
                      </a:pPr>
                      <a:r>
                        <a:rPr lang="en-US" altLang="ko-KR" sz="1200" kern="0" spc="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-</a:t>
                      </a:r>
                      <a:r>
                        <a:rPr lang="ko-KR" altLang="en-US" sz="1200" kern="0" spc="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200" kern="0" spc="0" dirty="0" err="1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급기구는</a:t>
                      </a:r>
                      <a:r>
                        <a:rPr lang="ko-KR" altLang="en-US" sz="1200" kern="0" spc="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작업자에 근접하여 설치한다</a:t>
                      </a:r>
                      <a:r>
                        <a:rPr lang="en-US" altLang="ko-KR" sz="1200" kern="0" spc="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.</a:t>
                      </a:r>
                      <a:endParaRPr lang="ko-KR" altLang="en-US" sz="1150" kern="0" spc="-80" dirty="0"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6720" algn="l"/>
                          <a:tab pos="693420" algn="l"/>
                          <a:tab pos="873760" algn="l"/>
                          <a:tab pos="426720" algn="l"/>
                          <a:tab pos="693420" algn="l"/>
                          <a:tab pos="873760" algn="l"/>
                        </a:tabLst>
                      </a:pPr>
                      <a:r>
                        <a:rPr lang="en-US" altLang="ko-KR" sz="1200" kern="0" spc="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-</a:t>
                      </a:r>
                      <a:r>
                        <a:rPr lang="ko-KR" altLang="en-US" sz="1200" kern="0" spc="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이동식 환기장치 사용시 폭발 위험 구역 내에서는 </a:t>
                      </a:r>
                      <a:r>
                        <a:rPr lang="ko-KR" altLang="en-US" sz="1200" kern="0" spc="0" dirty="0" err="1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방폭형</a:t>
                      </a:r>
                      <a:r>
                        <a:rPr lang="ko-KR" altLang="en-US" sz="1200" kern="0" spc="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구조를 사용한다</a:t>
                      </a:r>
                      <a:r>
                        <a:rPr lang="en-US" altLang="ko-KR" sz="1200" kern="0" spc="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.</a:t>
                      </a:r>
                      <a:endParaRPr lang="ko-KR" altLang="en-US" sz="1000" kern="0" spc="0" dirty="0"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marL="260350" marR="0" indent="-260350" algn="just" fontAlgn="base" latinLnBrk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6720" algn="l"/>
                          <a:tab pos="693420" algn="l"/>
                          <a:tab pos="873760" algn="l"/>
                          <a:tab pos="426720" algn="l"/>
                          <a:tab pos="693420" algn="l"/>
                          <a:tab pos="873760" algn="l"/>
                        </a:tabLst>
                      </a:pPr>
                      <a:r>
                        <a:rPr lang="en-US" altLang="ko-KR" sz="1200" kern="0" spc="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-</a:t>
                      </a:r>
                      <a:r>
                        <a:rPr lang="ko-KR" altLang="en-US" sz="1200" kern="0" spc="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이동식 환기장치의 </a:t>
                      </a:r>
                      <a:r>
                        <a:rPr lang="ko-KR" altLang="en-US" sz="1200" kern="0" spc="0" dirty="0" err="1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송풍관은</a:t>
                      </a:r>
                      <a:r>
                        <a:rPr lang="ko-KR" altLang="en-US" sz="1200" kern="0" spc="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가급적 구부리는 부위가 적게 하고 용접불꽃 등에 의한 구멍이 나지 않도록 </a:t>
                      </a:r>
                      <a:r>
                        <a:rPr lang="ko-KR" altLang="en-US" sz="1200" kern="0" spc="0" dirty="0" err="1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난연</a:t>
                      </a:r>
                      <a:r>
                        <a:rPr lang="ko-KR" altLang="en-US" sz="1200" kern="0" spc="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재질을 사용한다</a:t>
                      </a:r>
                      <a:r>
                        <a:rPr lang="en-US" altLang="ko-KR" sz="1200" kern="0" spc="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.</a:t>
                      </a:r>
                      <a:endParaRPr lang="ko-KR" altLang="en-US" sz="1150" kern="0" spc="-80" dirty="0">
                        <a:solidFill>
                          <a:srgbClr val="000000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17907" marR="17907" marT="17907" marB="1790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직사각형 11"/>
          <p:cNvSpPr/>
          <p:nvPr/>
        </p:nvSpPr>
        <p:spPr>
          <a:xfrm>
            <a:off x="954212" y="1017846"/>
            <a:ext cx="5256584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○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주의 사항</a:t>
            </a:r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394706"/>
              </p:ext>
            </p:extLst>
          </p:nvPr>
        </p:nvGraphicFramePr>
        <p:xfrm>
          <a:off x="1242244" y="4576410"/>
          <a:ext cx="7956000" cy="1722120"/>
        </p:xfrm>
        <a:graphic>
          <a:graphicData uri="http://schemas.openxmlformats.org/drawingml/2006/table">
            <a:tbl>
              <a:tblPr/>
              <a:tblGrid>
                <a:gridCol w="6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386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 분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이동식 송풍기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송풍관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826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 검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 항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200" kern="0" spc="-10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전원코드의 단선 접속부의 접촉불량 유무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코드와 단자상과의 접속상태 불량 유무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298450" marR="0" indent="-29845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코드의 끝에 “환기 중</a:t>
                      </a:r>
                      <a:r>
                        <a:rPr lang="en-US" altLang="ko-KR" sz="1200" kern="0" spc="0" baseline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정지”등의 표지판 부착 유무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200" kern="0" spc="-10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연소에 의한 구멍이나 파열유무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링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나선의 손상유무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접속부의 확신한 고정여부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직사각형 16"/>
          <p:cNvSpPr/>
          <p:nvPr/>
        </p:nvSpPr>
        <p:spPr>
          <a:xfrm>
            <a:off x="954212" y="3826158"/>
            <a:ext cx="5256584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endParaRPr lang="en-US" altLang="ko-KR" sz="14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○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점검 사항</a:t>
            </a:r>
          </a:p>
        </p:txBody>
      </p:sp>
    </p:spTree>
    <p:extLst>
      <p:ext uri="{BB962C8B-B14F-4D97-AF65-F5344CB8AC3E}">
        <p14:creationId xmlns:p14="http://schemas.microsoft.com/office/powerpoint/2010/main" val="16313355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1"/>
          <p:cNvSpPr>
            <a:spLocks noGrp="1"/>
          </p:cNvSpPr>
          <p:nvPr>
            <p:ph sz="quarter" idx="13"/>
          </p:nvPr>
        </p:nvSpPr>
        <p:spPr>
          <a:xfrm>
            <a:off x="407865" y="285862"/>
            <a:ext cx="4350567" cy="429767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작업 프로그램</a:t>
            </a:r>
          </a:p>
        </p:txBody>
      </p:sp>
      <p:sp>
        <p:nvSpPr>
          <p:cNvPr id="16" name="내용 개체 틀 2"/>
          <p:cNvSpPr>
            <a:spLocks noGrp="1"/>
          </p:cNvSpPr>
          <p:nvPr>
            <p:ph sz="quarter" idx="14"/>
          </p:nvPr>
        </p:nvSpPr>
        <p:spPr>
          <a:xfrm>
            <a:off x="6031807" y="431974"/>
            <a:ext cx="4350567" cy="321940"/>
          </a:xfrm>
        </p:spPr>
        <p:txBody>
          <a:bodyPr>
            <a:normAutofit lnSpcReduction="10000"/>
          </a:bodyPr>
          <a:lstStyle/>
          <a:p>
            <a:r>
              <a:rPr lang="ko-KR" altLang="en-US"/>
              <a:t>대피용 기구 및 보호구의 사용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378148" y="933934"/>
            <a:ext cx="928903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9. 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보호구의 사용</a:t>
            </a:r>
            <a:endParaRPr lang="en-US" altLang="ko-KR" sz="13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86158" y="1185962"/>
            <a:ext cx="9613069" cy="13696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작업 시 유해가스에 의한 중독 및 질식에 의한 사고를 예방하기 위해 공기호흡기 및 </a:t>
            </a:r>
            <a:r>
              <a:rPr lang="ko-KR" altLang="en-US" sz="13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송기마스크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등의 보호구를 반드시 착용한 상태에서 작업을 하고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사용시 사용장소 및 사용방법 등을 충분히 숙지한 후 사용한다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다만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작업 시 보호구를 착용하는 것이 원칙이나 측정결과 등으로 밀폐공간 내에서의 작업이 안전하다고 판단될 경우 보호구를 착용하지 않아도 </a:t>
            </a:r>
            <a:r>
              <a:rPr lang="ko-KR" altLang="en-US" sz="13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된다</a:t>
            </a:r>
            <a:r>
              <a:rPr lang="en-US" altLang="ko-KR" sz="13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r>
              <a:rPr lang="ko-KR" altLang="en-US" sz="13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또한</a:t>
            </a:r>
            <a:r>
              <a:rPr lang="en-US" altLang="ko-KR" sz="13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300">
                <a:highlight>
                  <a:srgbClr val="FFFF00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밀폐공간에서 작업하는 경우에 호흡용 보호구를 포함하여 사다리 및 섬유로프 등 비상시에 근로자를 피난시키거나 구출하기 위하여 필요한 기구를 갖춰야 한다</a:t>
            </a:r>
            <a:r>
              <a:rPr lang="en-US" altLang="ko-KR" sz="1300">
                <a:highlight>
                  <a:srgbClr val="FFFF00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br>
              <a:rPr lang="en-US" altLang="ko-KR" sz="1300">
                <a:highlight>
                  <a:srgbClr val="FFFF00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300">
                <a:highlight>
                  <a:srgbClr val="FFFF00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lang="ko-KR" altLang="en-US" sz="1300">
                <a:highlight>
                  <a:srgbClr val="FFFF00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물탱크 및 정화조 내 사다리가 설치되어 있는 경우는 제외</a:t>
            </a:r>
            <a:endParaRPr lang="en-US" altLang="ko-KR" sz="1300" dirty="0">
              <a:highlight>
                <a:srgbClr val="FFFF00"/>
              </a:highlight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486158" y="2590118"/>
            <a:ext cx="9613069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9.1 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보호구 보유현황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</a:p>
        </p:txBody>
      </p:sp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3177873"/>
              </p:ext>
            </p:extLst>
          </p:nvPr>
        </p:nvGraphicFramePr>
        <p:xfrm>
          <a:off x="998682" y="2990518"/>
          <a:ext cx="8696036" cy="3572068"/>
        </p:xfrm>
        <a:graphic>
          <a:graphicData uri="http://schemas.openxmlformats.org/drawingml/2006/table">
            <a:tbl>
              <a:tblPr/>
              <a:tblGrid>
                <a:gridCol w="88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56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53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4282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3590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명 칭</a:t>
                      </a: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 량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모델명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 양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보 유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여 부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 고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77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공기호흡기</a:t>
                      </a:r>
                      <a:endParaRPr lang="en-US" altLang="ko-KR" sz="1200" kern="0" spc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200" kern="0" spc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가스충진식</a:t>
                      </a:r>
                      <a:r>
                        <a:rPr lang="en-US" altLang="ko-KR" sz="1200" kern="0" spc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1200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대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300kg/cm</a:t>
                      </a:r>
                      <a:r>
                        <a:rPr lang="en-US" sz="1200" kern="0" spc="0" baseline="3000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en-US" sz="1200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30</a:t>
                      </a:r>
                      <a:r>
                        <a:rPr lang="ko-KR" altLang="en-US" sz="1200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분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 err="1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미보유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안전보건공단에서</a:t>
                      </a:r>
                      <a:r>
                        <a:rPr lang="ko-KR" altLang="en-US" sz="1200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대여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40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 err="1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송기마스크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1200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대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전동식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220V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호스 길이 </a:t>
                      </a:r>
                      <a:r>
                        <a:rPr lang="en-US" altLang="ko-KR" sz="1200" kern="0" spc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en-US" sz="1200" kern="0" spc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10m</a:t>
                      </a:r>
                      <a:endParaRPr lang="en-US" sz="12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〃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〃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40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구조용 삼각대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1200" kern="0" spc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대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도르레형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0" spc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최대 길이 </a:t>
                      </a:r>
                      <a:r>
                        <a:rPr lang="en-US" altLang="ko-KR" sz="1200" kern="0" spc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12m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최대 하중 </a:t>
                      </a:r>
                      <a:r>
                        <a:rPr lang="en-US" altLang="ko-KR" sz="1200" kern="0" spc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300kg</a:t>
                      </a:r>
                      <a:endParaRPr lang="en-US" sz="12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미보유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“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442379"/>
                  </a:ext>
                </a:extLst>
              </a:tr>
              <a:tr h="39740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일자형 사다리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1200" kern="0" spc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이동식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0" spc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H</a:t>
                      </a:r>
                      <a:r>
                        <a:rPr lang="ko-KR" altLang="en-US" sz="1200" kern="0" spc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형 최대높이 </a:t>
                      </a:r>
                      <a:r>
                        <a:rPr lang="en-US" altLang="ko-KR" sz="1200" kern="0" spc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5630mm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보유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40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안전대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1200" kern="0" spc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안전그네식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보유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22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구조용 로프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1200" kern="0" spc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보유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직사각형 17"/>
          <p:cNvSpPr/>
          <p:nvPr/>
        </p:nvSpPr>
        <p:spPr>
          <a:xfrm>
            <a:off x="991421" y="6826551"/>
            <a:ext cx="53467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장비 대여는 작업개시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일전 각 지역별 한국산업안전보건공단을 방문하여 대여 가능</a:t>
            </a:r>
          </a:p>
        </p:txBody>
      </p:sp>
      <p:sp>
        <p:nvSpPr>
          <p:cNvPr id="11" name="TextBox 10"/>
          <p:cNvSpPr txBox="1"/>
          <p:nvPr/>
        </p:nvSpPr>
        <p:spPr>
          <a:xfrm rot="20412881" flipH="1">
            <a:off x="4535580" y="4428629"/>
            <a:ext cx="2762593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센터에 맞게 수정</a:t>
            </a:r>
          </a:p>
        </p:txBody>
      </p:sp>
    </p:spTree>
    <p:extLst>
      <p:ext uri="{BB962C8B-B14F-4D97-AF65-F5344CB8AC3E}">
        <p14:creationId xmlns:p14="http://schemas.microsoft.com/office/powerpoint/2010/main" val="40124428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3"/>
          </p:nvPr>
        </p:nvSpPr>
        <p:spPr>
          <a:xfrm>
            <a:off x="255464" y="280715"/>
            <a:ext cx="5019228" cy="42976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ko-KR" altLang="en-US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작업 프로그램</a:t>
            </a:r>
            <a:endParaRPr lang="ko-KR" altLang="en-US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" name="내용 개체 틀 2"/>
          <p:cNvSpPr>
            <a:spLocks noGrp="1"/>
          </p:cNvSpPr>
          <p:nvPr>
            <p:ph sz="quarter" idx="14"/>
          </p:nvPr>
        </p:nvSpPr>
        <p:spPr>
          <a:xfrm>
            <a:off x="6031806" y="431974"/>
            <a:ext cx="4350568" cy="321940"/>
          </a:xfrm>
        </p:spPr>
        <p:txBody>
          <a:bodyPr>
            <a:normAutofit lnSpcReduction="10000"/>
          </a:bodyPr>
          <a:lstStyle/>
          <a:p>
            <a:r>
              <a:rPr lang="ko-KR" altLang="en-US"/>
              <a:t>대피용 기구 및 보호구의 사용</a:t>
            </a:r>
            <a:endParaRPr lang="ko-KR" altLang="en-US" dirty="0"/>
          </a:p>
        </p:txBody>
      </p:sp>
      <p:graphicFrame>
        <p:nvGraphicFramePr>
          <p:cNvPr id="47" name="Group 65">
            <a:extLst>
              <a:ext uri="{FF2B5EF4-FFF2-40B4-BE49-F238E27FC236}">
                <a16:creationId xmlns:a16="http://schemas.microsoft.com/office/drawing/2014/main" id="{04CCF69E-5A65-4E1C-B804-375668693B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5297583"/>
              </p:ext>
            </p:extLst>
          </p:nvPr>
        </p:nvGraphicFramePr>
        <p:xfrm>
          <a:off x="632048" y="1582006"/>
          <a:ext cx="9285288" cy="4994748"/>
        </p:xfrm>
        <a:graphic>
          <a:graphicData uri="http://schemas.openxmlformats.org/drawingml/2006/table">
            <a:tbl>
              <a:tblPr/>
              <a:tblGrid>
                <a:gridCol w="628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5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22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95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895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                          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작업대  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G스마트체2.0 SemiBold" panose="020B0600000101010101" charset="-127"/>
                        <a:ea typeface="LG스마트체2.0 SemiBold" panose="020B0600000101010101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기준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     </a:t>
                      </a: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G스마트체2.0 SemiBold" panose="020B0600000101010101" charset="-127"/>
                        <a:ea typeface="LG스마트체2.0 SemiBold" panose="020B0600000101010101" charset="-127"/>
                      </a:endParaRPr>
                    </a:p>
                  </a:txBody>
                  <a:tcPr marL="77995" marR="77995" marT="36001" marB="360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이동식사다리</a:t>
                      </a:r>
                    </a:p>
                  </a:txBody>
                  <a:tcPr marL="77995" marR="77995" marT="36001" marB="360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말비계</a:t>
                      </a: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(</a:t>
                      </a: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우마</a:t>
                      </a: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)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G스마트체2.0 SemiBold" panose="020B0600000101010101" charset="-127"/>
                        <a:ea typeface="LG스마트체2.0 SemiBold" panose="020B0600000101010101" charset="-127"/>
                      </a:endParaRPr>
                    </a:p>
                  </a:txBody>
                  <a:tcPr marL="77995" marR="77995" marT="36001" marB="360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이동식비계</a:t>
                      </a: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(BT</a:t>
                      </a: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비계</a:t>
                      </a: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)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G스마트체2.0 SemiBold" panose="020B0600000101010101" charset="-127"/>
                        <a:ea typeface="LG스마트체2.0 SemiBold" panose="020B0600000101010101" charset="-127"/>
                      </a:endParaRPr>
                    </a:p>
                  </a:txBody>
                  <a:tcPr marL="77995" marR="77995" marT="36001" marB="360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334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사용</a:t>
                      </a:r>
                      <a:endParaRPr lang="en-US" altLang="ko-KR" sz="1100" b="1" dirty="0">
                        <a:solidFill>
                          <a:schemeClr val="bg1"/>
                        </a:solidFill>
                        <a:latin typeface="LG스마트체2.0 SemiBold" panose="020B0600000101010101" charset="-127"/>
                        <a:ea typeface="LG스마트체2.0 SemiBold" panose="020B0600000101010101" charset="-127"/>
                      </a:endParaRPr>
                    </a:p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기준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디딤대 폭</a:t>
                      </a:r>
                    </a:p>
                  </a:txBody>
                  <a:tcPr marL="77995" marR="77995" marT="36001" marB="3600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30cm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이상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2.0 SemiBold" panose="020B0600000101010101" charset="-127"/>
                        <a:ea typeface="LG스마트체2.0 SemiBold" panose="020B0600000101010101" charset="-127"/>
                      </a:endParaRPr>
                    </a:p>
                  </a:txBody>
                  <a:tcPr marL="77995" marR="77995" marT="36001" marB="360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40cm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이상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(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상부 발판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)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2.0 SemiBold" panose="020B0600000101010101" charset="-127"/>
                        <a:ea typeface="LG스마트체2.0 SemiBold" panose="020B0600000101010101" charset="-127"/>
                      </a:endParaRPr>
                    </a:p>
                  </a:txBody>
                  <a:tcPr marL="77995" marR="77995" marT="36001" marB="360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40cm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이상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(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상부 발판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)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2.0 SemiBold" panose="020B0600000101010101" charset="-127"/>
                        <a:ea typeface="LG스마트체2.0 SemiBold" panose="020B0600000101010101" charset="-127"/>
                      </a:endParaRPr>
                    </a:p>
                  </a:txBody>
                  <a:tcPr marL="77995" marR="77995" marT="36001" marB="360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88478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디딤대 간격</a:t>
                      </a:r>
                    </a:p>
                  </a:txBody>
                  <a:tcPr marL="77995" marR="77995" marT="36001" marB="3600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동일한 간격</a:t>
                      </a:r>
                    </a:p>
                  </a:txBody>
                  <a:tcPr marL="77995" marR="77995" marT="36001" marB="360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7995" marR="77995" marT="36001" marB="360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7995" marR="77995" marT="36001" marB="360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설치 각도</a:t>
                      </a:r>
                    </a:p>
                  </a:txBody>
                  <a:tcPr marL="77995" marR="77995" marT="36001" marB="3600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75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도 이하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2.0 SemiBold" panose="020B0600000101010101" charset="-127"/>
                        <a:ea typeface="LG스마트체2.0 SemiBold" panose="020B0600000101010101" charset="-127"/>
                      </a:endParaRPr>
                    </a:p>
                  </a:txBody>
                  <a:tcPr marL="77995" marR="77995" marT="36001" marB="360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75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도 이하</a:t>
                      </a:r>
                    </a:p>
                  </a:txBody>
                  <a:tcPr marL="77995" marR="77995" marT="36001" marB="360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90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도</a:t>
                      </a:r>
                    </a:p>
                  </a:txBody>
                  <a:tcPr marL="77995" marR="77995" marT="36001" marB="360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52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LG스마트체 Regular"/>
                      </a:endParaRPr>
                    </a:p>
                  </a:txBody>
                  <a:tcPr marL="77995" marR="77995" marT="36001" marB="360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60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안전장치</a:t>
                      </a:r>
                    </a:p>
                    <a:p>
                      <a:pPr algn="ctr" latinLnBrk="1"/>
                      <a:endParaRPr lang="ko-KR" altLang="en-US" dirty="0">
                        <a:latin typeface="LG스마트체2.0 SemiBold" panose="020B0600000101010101" charset="-127"/>
                        <a:ea typeface="LG스마트체2.0 SemiBold" panose="020B0600000101010101" charset="-127"/>
                      </a:endParaRPr>
                    </a:p>
                  </a:txBody>
                  <a:tcPr marL="77995" marR="77995" marT="36001" marB="3600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2.0 SemiBold" panose="020B0600000101010101" charset="-127"/>
                        <a:ea typeface="LG스마트체2.0 SemiBold" panose="020B0600000101010101" charset="-127"/>
                      </a:endParaRPr>
                    </a:p>
                  </a:txBody>
                  <a:tcPr marL="77995" marR="77995" marT="36001" marB="360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2.0 SemiBold" panose="020B0600000101010101" charset="-127"/>
                        <a:ea typeface="LG스마트체2.0 SemiBold" panose="020B0600000101010101" charset="-127"/>
                      </a:endParaRPr>
                    </a:p>
                  </a:txBody>
                  <a:tcPr marL="77995" marR="77995" marT="36001" marB="360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2.0 SemiBold" panose="020B0600000101010101" charset="-127"/>
                        <a:ea typeface="LG스마트체2.0 SemiBold" panose="020B0600000101010101" charset="-127"/>
                      </a:endParaRPr>
                    </a:p>
                  </a:txBody>
                  <a:tcPr marL="77995" marR="77995" marT="36001" marB="360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0639687"/>
                  </a:ext>
                </a:extLst>
              </a:tr>
              <a:tr h="10440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주요 안전기준</a:t>
                      </a: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G스마트체2.0 SemiBold" panose="020B0600000101010101" charset="-127"/>
                        <a:ea typeface="LG스마트체2.0 SemiBold" panose="020B0600000101010101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(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상세 사항 뒷장 참조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)</a:t>
                      </a: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G스마트체2.0 SemiBold" panose="020B0600000101010101" charset="-127"/>
                        <a:ea typeface="LG스마트체2.0 SemiBold" panose="020B0600000101010101" charset="-127"/>
                      </a:endParaRPr>
                    </a:p>
                  </a:txBody>
                  <a:tcPr marL="77995" marR="77995" marT="36001" marB="36001" anchor="ctr" horzOverflow="overflow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1.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고소작업대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비계가 설치가 어려운 협소한 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2.0 SemiBold" panose="020B0600000101010101" charset="-127"/>
                        <a:ea typeface="LG스마트체2.0 SemiBold" panose="020B0600000101010101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   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장소에서만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작업가능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2.0 SemiBold" panose="020B0600000101010101" charset="-127"/>
                        <a:ea typeface="LG스마트체2.0 SemiBold" panose="020B0600000101010101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2.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안전모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안전밸트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 착용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2.0 SemiBold" panose="020B0600000101010101" charset="-127"/>
                        <a:ea typeface="LG스마트체2.0 SemiBold" panose="020B0600000101010101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3. 2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인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 1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조 작업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2.0 SemiBold" panose="020B0600000101010101" charset="-127"/>
                        <a:ea typeface="LG스마트체2.0 SemiBold" panose="020B0600000101010101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4.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 최상부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1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단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, 2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단에서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작업금지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2.0 SemiBold" panose="020B0600000101010101" charset="-127"/>
                        <a:ea typeface="LG스마트체2.0 SemiBold" panose="020B0600000101010101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5.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최대 적재하중 준수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제조사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Spec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기준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6. </a:t>
                      </a:r>
                      <a:r>
                        <a:rPr kumimoji="1" lang="ko-KR" altLang="en-US" sz="1000" b="0" i="0" u="none" strike="noStrike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사다리 길이 </a:t>
                      </a:r>
                      <a:r>
                        <a:rPr kumimoji="1" lang="en-US" altLang="ko-KR" sz="1000" b="0" i="0" u="none" strike="noStrike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1.5m </a:t>
                      </a:r>
                      <a:r>
                        <a:rPr kumimoji="1" lang="ko-KR" altLang="en-US" sz="1000" b="0" i="0" u="none" strike="noStrike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이상 시 </a:t>
                      </a:r>
                      <a:r>
                        <a:rPr kumimoji="1" lang="ko-KR" altLang="en-US" sz="1000" b="0" i="0" u="none" strike="noStrike" cap="none" spc="-7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아웃트리거</a:t>
                      </a:r>
                      <a:r>
                        <a:rPr kumimoji="1" lang="ko-KR" altLang="en-US" sz="1000" b="0" i="0" u="none" strike="noStrike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 설치</a:t>
                      </a:r>
                      <a:endParaRPr kumimoji="1" lang="en-US" altLang="ko-KR" sz="1000" b="0" i="0" u="none" strike="noStrike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2.0 SemiBold" panose="020B0600000101010101" charset="-127"/>
                        <a:ea typeface="LG스마트체2.0 SemiBold" panose="020B0600000101010101" charset="-127"/>
                      </a:endParaRPr>
                    </a:p>
                  </a:txBody>
                  <a:tcPr marL="77995" marR="77995" marT="36001" marB="3600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1.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안전모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안전밸트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착용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2.0 SemiBold" panose="020B0600000101010101" charset="-127"/>
                        <a:ea typeface="LG스마트체2.0 SemiBold" panose="020B0600000101010101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2. 2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인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1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조 작업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2.0 SemiBold" panose="020B0600000101010101" charset="-127"/>
                        <a:ea typeface="LG스마트체2.0 SemiBold" panose="020B0600000101010101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3</a:t>
                      </a:r>
                      <a:r>
                        <a:rPr kumimoji="1" lang="en-US" altLang="ko-KR" sz="1000" b="0" i="0" u="none" strike="noStrike" cap="none" spc="-8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. </a:t>
                      </a:r>
                      <a:r>
                        <a:rPr kumimoji="1" lang="ko-KR" altLang="en-US" sz="1000" b="0" i="0" u="none" strike="noStrike" cap="none" spc="-8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작업발판</a:t>
                      </a:r>
                      <a:r>
                        <a:rPr kumimoji="1" lang="ko-KR" altLang="en-US" sz="1000" b="0" i="0" u="none" strike="noStrike" cap="none" spc="-8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 양끝 및 승강용 디딤대 작업 금지</a:t>
                      </a:r>
                      <a:endParaRPr kumimoji="1" lang="en-US" altLang="ko-KR" sz="1000" b="0" i="0" u="none" strike="noStrike" cap="none" spc="-8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2.0 SemiBold" panose="020B0600000101010101" charset="-127"/>
                        <a:ea typeface="LG스마트체2.0 SemiBold" panose="020B0600000101010101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4.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최대 적재하중 준수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제조사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Spec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기준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)</a:t>
                      </a:r>
                    </a:p>
                  </a:txBody>
                  <a:tcPr marL="77995" marR="77995" marT="36001" marB="3600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1.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안전모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안전밸트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착용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2.0 SemiBold" panose="020B0600000101010101" charset="-127"/>
                        <a:ea typeface="LG스마트체2.0 SemiBold" panose="020B0600000101010101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2.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최대 작업 높이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5m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 이하 준수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2.0 SemiBold" panose="020B0600000101010101" charset="-127"/>
                        <a:ea typeface="LG스마트체2.0 SemiBold" panose="020B0600000101010101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3.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최대 적재하중 준수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제조사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Spec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기준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2.0 SemiBold" panose="020B0600000101010101" charset="-127"/>
                        <a:ea typeface="LG스마트체2.0 SemiBold" panose="020B0600000101010101" charset="-127"/>
                      </a:endParaRPr>
                    </a:p>
                  </a:txBody>
                  <a:tcPr marL="77995" marR="77995" marT="36001" marB="3600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80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비   고</a:t>
                      </a:r>
                    </a:p>
                  </a:txBody>
                  <a:tcPr marL="77995" marR="77995" marT="36001" marB="360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상기에 규정되어 있지 않은 내용은 첨부 고소작업관련 법령에 준함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SemiBold" panose="020B0600000101010101" charset="-127"/>
                          <a:ea typeface="LG스마트체2.0 SemiBold" panose="020B0600000101010101" charset="-127"/>
                        </a:rPr>
                        <a:t>.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2.0 SemiBold" panose="020B0600000101010101" charset="-127"/>
                        <a:ea typeface="LG스마트체2.0 SemiBold" panose="020B0600000101010101" charset="-127"/>
                      </a:endParaRPr>
                    </a:p>
                  </a:txBody>
                  <a:tcPr marL="77995" marR="77995" marT="36001" marB="360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48" name="그룹 47">
            <a:extLst>
              <a:ext uri="{FF2B5EF4-FFF2-40B4-BE49-F238E27FC236}">
                <a16:creationId xmlns:a16="http://schemas.microsoft.com/office/drawing/2014/main" id="{E040087D-6175-45DA-A207-371F339F495C}"/>
              </a:ext>
            </a:extLst>
          </p:cNvPr>
          <p:cNvGrpSpPr/>
          <p:nvPr/>
        </p:nvGrpSpPr>
        <p:grpSpPr>
          <a:xfrm>
            <a:off x="2439290" y="2721816"/>
            <a:ext cx="7791450" cy="1993476"/>
            <a:chOff x="2552947" y="2482106"/>
            <a:chExt cx="7791450" cy="1993476"/>
          </a:xfrm>
        </p:grpSpPr>
        <p:pic>
          <p:nvPicPr>
            <p:cNvPr id="49" name="Picture 120">
              <a:extLst>
                <a:ext uri="{FF2B5EF4-FFF2-40B4-BE49-F238E27FC236}">
                  <a16:creationId xmlns:a16="http://schemas.microsoft.com/office/drawing/2014/main" id="{EB7CFBB2-8930-4F8B-A896-74F58E05BE4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2552947" y="2605938"/>
              <a:ext cx="1971675" cy="1760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0" name="Picture 2">
              <a:extLst>
                <a:ext uri="{FF2B5EF4-FFF2-40B4-BE49-F238E27FC236}">
                  <a16:creationId xmlns:a16="http://schemas.microsoft.com/office/drawing/2014/main" id="{21867FA9-667F-4D26-B520-345F5EA727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86947" y="2546469"/>
              <a:ext cx="1739900" cy="1920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" name="TextBox 128">
              <a:extLst>
                <a:ext uri="{FF2B5EF4-FFF2-40B4-BE49-F238E27FC236}">
                  <a16:creationId xmlns:a16="http://schemas.microsoft.com/office/drawing/2014/main" id="{A9C42245-8232-4858-BCFD-613F09EDC9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75797" y="4132381"/>
              <a:ext cx="822325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2" tIns="45717" rIns="91432" bIns="45717">
              <a:spAutoFit/>
            </a:bodyPr>
            <a:lstStyle>
              <a:lvl1pPr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1pPr>
              <a:lvl2pPr marL="742950" indent="-28575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2pPr>
              <a:lvl3pPr marL="11430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3pPr>
              <a:lvl4pPr marL="16002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4pPr>
              <a:lvl5pPr marL="20574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9pPr>
            </a:lstStyle>
            <a:p>
              <a:pPr eaLnBrk="1" latinLnBrk="1" hangingPunct="1"/>
              <a:r>
                <a:rPr kumimoji="0" lang="en-US" altLang="ko-KR" sz="800" dirty="0">
                  <a:solidFill>
                    <a:srgbClr val="00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Outrigger </a:t>
              </a:r>
              <a:endParaRPr kumimoji="0" lang="ko-KR" altLang="en-US" sz="800" dirty="0">
                <a:solidFill>
                  <a:srgbClr val="000000"/>
                </a:solidFill>
                <a:latin typeface="LG스마트체2.0 SemiBold" panose="020B0600000101010101" charset="-127"/>
                <a:ea typeface="LG스마트체2.0 SemiBold" panose="020B0600000101010101" charset="-127"/>
              </a:endParaRP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F4E38083-65DC-4125-8AEF-D0F44105BB6F}"/>
                </a:ext>
              </a:extLst>
            </p:cNvPr>
            <p:cNvSpPr/>
            <p:nvPr/>
          </p:nvSpPr>
          <p:spPr>
            <a:xfrm>
              <a:off x="8910885" y="4029194"/>
              <a:ext cx="257175" cy="215900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2" tIns="45717" rIns="91432" bIns="45717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800" dirty="0">
                <a:solidFill>
                  <a:prstClr val="white"/>
                </a:solidFill>
                <a:latin typeface="LG스마트체2.0 SemiBold" panose="020B0600000101010101" charset="-127"/>
                <a:ea typeface="LG스마트체2.0 SemiBold" panose="020B0600000101010101" charset="-127"/>
              </a:endParaRPr>
            </a:p>
          </p:txBody>
        </p:sp>
        <p:cxnSp>
          <p:nvCxnSpPr>
            <p:cNvPr id="53" name="직선 화살표 연결선 52">
              <a:extLst>
                <a:ext uri="{FF2B5EF4-FFF2-40B4-BE49-F238E27FC236}">
                  <a16:creationId xmlns:a16="http://schemas.microsoft.com/office/drawing/2014/main" id="{C41F5E02-237E-4E0E-80FA-F7F263CB46E9}"/>
                </a:ext>
              </a:extLst>
            </p:cNvPr>
            <p:cNvCxnSpPr/>
            <p:nvPr/>
          </p:nvCxnSpPr>
          <p:spPr>
            <a:xfrm flipV="1">
              <a:off x="9169647" y="4138731"/>
              <a:ext cx="19685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화살표 연결선 53">
              <a:extLst>
                <a:ext uri="{FF2B5EF4-FFF2-40B4-BE49-F238E27FC236}">
                  <a16:creationId xmlns:a16="http://schemas.microsoft.com/office/drawing/2014/main" id="{6B9F2E87-A925-42B2-9CE2-2DA1FB656201}"/>
                </a:ext>
              </a:extLst>
            </p:cNvPr>
            <p:cNvCxnSpPr/>
            <p:nvPr/>
          </p:nvCxnSpPr>
          <p:spPr>
            <a:xfrm rot="10800000">
              <a:off x="8090147" y="2840156"/>
              <a:ext cx="268288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136">
              <a:extLst>
                <a:ext uri="{FF2B5EF4-FFF2-40B4-BE49-F238E27FC236}">
                  <a16:creationId xmlns:a16="http://schemas.microsoft.com/office/drawing/2014/main" id="{6FDB3311-70CC-424F-840A-E925AFBF9A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95229" y="2711569"/>
              <a:ext cx="704457" cy="246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32" tIns="45717" rIns="91432" bIns="45717">
              <a:spAutoFit/>
            </a:bodyPr>
            <a:lstStyle>
              <a:lvl1pPr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1pPr>
              <a:lvl2pPr marL="742950" indent="-28575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2pPr>
              <a:lvl3pPr marL="11430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3pPr>
              <a:lvl4pPr marL="16002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4pPr>
              <a:lvl5pPr marL="20574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9pPr>
            </a:lstStyle>
            <a:p>
              <a:pPr eaLnBrk="1" latinLnBrk="1" hangingPunct="1"/>
              <a:r>
                <a:rPr kumimoji="0" lang="ko-KR" altLang="en-US" sz="800">
                  <a:solidFill>
                    <a:srgbClr val="00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안전난간대</a:t>
              </a:r>
              <a:r>
                <a:rPr kumimoji="0" lang="en-US" altLang="ko-KR" dirty="0">
                  <a:solidFill>
                    <a:srgbClr val="00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 </a:t>
              </a:r>
              <a:endParaRPr kumimoji="0" lang="ko-KR" altLang="en-US" dirty="0">
                <a:solidFill>
                  <a:srgbClr val="000000"/>
                </a:solidFill>
                <a:latin typeface="LG스마트체2.0 SemiBold" panose="020B0600000101010101" charset="-127"/>
                <a:ea typeface="LG스마트체2.0 SemiBold" panose="020B0600000101010101" charset="-127"/>
              </a:endParaRPr>
            </a:p>
          </p:txBody>
        </p:sp>
        <p:sp>
          <p:nvSpPr>
            <p:cNvPr id="56" name="TextBox 137">
              <a:extLst>
                <a:ext uri="{FF2B5EF4-FFF2-40B4-BE49-F238E27FC236}">
                  <a16:creationId xmlns:a16="http://schemas.microsoft.com/office/drawing/2014/main" id="{C0847470-1D54-4FE0-B749-ECD3A75411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32935" y="3024306"/>
              <a:ext cx="935037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2" tIns="45717" rIns="91432" bIns="45717">
              <a:spAutoFit/>
            </a:bodyPr>
            <a:lstStyle>
              <a:lvl1pPr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1pPr>
              <a:lvl2pPr marL="742950" indent="-28575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2pPr>
              <a:lvl3pPr marL="11430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3pPr>
              <a:lvl4pPr marL="16002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4pPr>
              <a:lvl5pPr marL="20574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9pPr>
            </a:lstStyle>
            <a:p>
              <a:pPr eaLnBrk="1" latinLnBrk="1" hangingPunct="1"/>
              <a:r>
                <a:rPr kumimoji="0" lang="ko-KR" altLang="en-US" sz="800">
                  <a:solidFill>
                    <a:srgbClr val="00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작업발판</a:t>
              </a:r>
              <a:r>
                <a:rPr kumimoji="0" lang="en-US" altLang="ko-KR" sz="800">
                  <a:solidFill>
                    <a:srgbClr val="00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 </a:t>
              </a:r>
              <a:endParaRPr kumimoji="0" lang="ko-KR" altLang="en-US" sz="800">
                <a:solidFill>
                  <a:srgbClr val="000000"/>
                </a:solidFill>
                <a:latin typeface="LG스마트체2.0 SemiBold" panose="020B0600000101010101" charset="-127"/>
                <a:ea typeface="LG스마트체2.0 SemiBold" panose="020B0600000101010101" charset="-127"/>
              </a:endParaRPr>
            </a:p>
          </p:txBody>
        </p:sp>
        <p:sp>
          <p:nvSpPr>
            <p:cNvPr id="57" name="TextBox 139">
              <a:extLst>
                <a:ext uri="{FF2B5EF4-FFF2-40B4-BE49-F238E27FC236}">
                  <a16:creationId xmlns:a16="http://schemas.microsoft.com/office/drawing/2014/main" id="{8F6F36D3-6128-49BE-81CB-0BAE77A1A9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99424" y="3677926"/>
              <a:ext cx="936625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2" tIns="45717" rIns="91432" bIns="45717">
              <a:spAutoFit/>
            </a:bodyPr>
            <a:lstStyle>
              <a:lvl1pPr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1pPr>
              <a:lvl2pPr marL="742950" indent="-28575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2pPr>
              <a:lvl3pPr marL="11430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3pPr>
              <a:lvl4pPr marL="16002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4pPr>
              <a:lvl5pPr marL="20574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9pPr>
            </a:lstStyle>
            <a:p>
              <a:pPr eaLnBrk="1" latinLnBrk="1" hangingPunct="1"/>
              <a:r>
                <a:rPr kumimoji="0" lang="ko-KR" altLang="en-US" sz="800">
                  <a:solidFill>
                    <a:srgbClr val="00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승강설비</a:t>
              </a:r>
            </a:p>
          </p:txBody>
        </p: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BF75706C-F11E-414F-8676-76F7516CE308}"/>
                </a:ext>
              </a:extLst>
            </p:cNvPr>
            <p:cNvCxnSpPr/>
            <p:nvPr/>
          </p:nvCxnSpPr>
          <p:spPr>
            <a:xfrm>
              <a:off x="9460160" y="2586156"/>
              <a:ext cx="441325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화살표 연결선 58">
              <a:extLst>
                <a:ext uri="{FF2B5EF4-FFF2-40B4-BE49-F238E27FC236}">
                  <a16:creationId xmlns:a16="http://schemas.microsoft.com/office/drawing/2014/main" id="{C28D172E-42A2-4FDF-B7DB-82B0CF26567A}"/>
                </a:ext>
              </a:extLst>
            </p:cNvPr>
            <p:cNvCxnSpPr/>
            <p:nvPr/>
          </p:nvCxnSpPr>
          <p:spPr>
            <a:xfrm rot="5400000" flipH="1" flipV="1">
              <a:off x="9546679" y="2809200"/>
              <a:ext cx="44926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화살표 연결선 59">
              <a:extLst>
                <a:ext uri="{FF2B5EF4-FFF2-40B4-BE49-F238E27FC236}">
                  <a16:creationId xmlns:a16="http://schemas.microsoft.com/office/drawing/2014/main" id="{7154788A-71EE-4E9E-99BE-1E91E6F9F892}"/>
                </a:ext>
              </a:extLst>
            </p:cNvPr>
            <p:cNvCxnSpPr/>
            <p:nvPr/>
          </p:nvCxnSpPr>
          <p:spPr>
            <a:xfrm rot="16200000" flipH="1">
              <a:off x="9564141" y="3607712"/>
              <a:ext cx="395288" cy="317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144">
              <a:extLst>
                <a:ext uri="{FF2B5EF4-FFF2-40B4-BE49-F238E27FC236}">
                  <a16:creationId xmlns:a16="http://schemas.microsoft.com/office/drawing/2014/main" id="{0CF8E53E-9444-4ED7-8A53-EECA5D25D3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91885" y="2981444"/>
              <a:ext cx="1052512" cy="492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2" tIns="45717" rIns="91432" bIns="45717">
              <a:spAutoFit/>
            </a:bodyPr>
            <a:lstStyle>
              <a:lvl1pPr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1pPr>
              <a:lvl2pPr marL="742950" indent="-28575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2pPr>
              <a:lvl3pPr marL="11430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3pPr>
              <a:lvl4pPr marL="16002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4pPr>
              <a:lvl5pPr marL="20574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9pPr>
            </a:lstStyle>
            <a:p>
              <a:pPr eaLnBrk="1" latinLnBrk="1" hangingPunct="1"/>
              <a:r>
                <a:rPr kumimoji="0" lang="ko-KR" altLang="en-US">
                  <a:solidFill>
                    <a:srgbClr val="00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     </a:t>
              </a:r>
              <a:r>
                <a:rPr kumimoji="0" lang="ko-KR" altLang="en-US" sz="800">
                  <a:solidFill>
                    <a:srgbClr val="00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최대높이</a:t>
              </a:r>
              <a:endParaRPr kumimoji="0" lang="en-US" altLang="ko-KR" sz="800">
                <a:solidFill>
                  <a:srgbClr val="000000"/>
                </a:solidFill>
                <a:latin typeface="LG스마트체2.0 SemiBold" panose="020B0600000101010101" charset="-127"/>
                <a:ea typeface="LG스마트체2.0 SemiBold" panose="020B0600000101010101" charset="-127"/>
              </a:endParaRPr>
            </a:p>
            <a:p>
              <a:pPr eaLnBrk="1" latinLnBrk="1" hangingPunct="1"/>
              <a:r>
                <a:rPr kumimoji="0" lang="ko-KR" altLang="en-US" sz="800">
                  <a:solidFill>
                    <a:srgbClr val="00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   밑변 최소폭 </a:t>
              </a:r>
              <a:endParaRPr kumimoji="0" lang="en-US" altLang="ko-KR" sz="800">
                <a:solidFill>
                  <a:srgbClr val="000000"/>
                </a:solidFill>
                <a:latin typeface="LG스마트체2.0 SemiBold" panose="020B0600000101010101" charset="-127"/>
                <a:ea typeface="LG스마트체2.0 SemiBold" panose="020B0600000101010101" charset="-127"/>
              </a:endParaRPr>
            </a:p>
            <a:p>
              <a:pPr eaLnBrk="1" latinLnBrk="1" hangingPunct="1"/>
              <a:r>
                <a:rPr kumimoji="0" lang="en-US" altLang="ko-KR" sz="800">
                  <a:solidFill>
                    <a:srgbClr val="00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     4</a:t>
              </a:r>
              <a:r>
                <a:rPr kumimoji="0" lang="ko-KR" altLang="en-US" sz="800">
                  <a:solidFill>
                    <a:srgbClr val="00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배 이내</a:t>
              </a:r>
            </a:p>
          </p:txBody>
        </p: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CE9F3A7A-EE8D-4907-B1F6-3465FA3F102B}"/>
                </a:ext>
              </a:extLst>
            </p:cNvPr>
            <p:cNvCxnSpPr/>
            <p:nvPr/>
          </p:nvCxnSpPr>
          <p:spPr>
            <a:xfrm flipV="1">
              <a:off x="8998197" y="3043356"/>
              <a:ext cx="414338" cy="241300"/>
            </a:xfrm>
            <a:prstGeom prst="line">
              <a:avLst/>
            </a:prstGeom>
            <a:ln w="508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C38FC207-7977-4973-AEF6-5DF1BE94B4CB}"/>
                </a:ext>
              </a:extLst>
            </p:cNvPr>
            <p:cNvCxnSpPr/>
            <p:nvPr/>
          </p:nvCxnSpPr>
          <p:spPr>
            <a:xfrm rot="10800000">
              <a:off x="8425110" y="3217981"/>
              <a:ext cx="611187" cy="42863"/>
            </a:xfrm>
            <a:prstGeom prst="line">
              <a:avLst/>
            </a:prstGeom>
            <a:ln w="508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85923E3B-9B18-432F-A47E-5FAF684BB485}"/>
                </a:ext>
              </a:extLst>
            </p:cNvPr>
            <p:cNvCxnSpPr/>
            <p:nvPr/>
          </p:nvCxnSpPr>
          <p:spPr>
            <a:xfrm flipV="1">
              <a:off x="8417172" y="3037006"/>
              <a:ext cx="454025" cy="179388"/>
            </a:xfrm>
            <a:prstGeom prst="line">
              <a:avLst/>
            </a:prstGeom>
            <a:ln w="508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화살표 연결선 64">
              <a:extLst>
                <a:ext uri="{FF2B5EF4-FFF2-40B4-BE49-F238E27FC236}">
                  <a16:creationId xmlns:a16="http://schemas.microsoft.com/office/drawing/2014/main" id="{E3AE3592-32B0-42B7-8FC5-16E3A91D152F}"/>
                </a:ext>
              </a:extLst>
            </p:cNvPr>
            <p:cNvCxnSpPr/>
            <p:nvPr/>
          </p:nvCxnSpPr>
          <p:spPr>
            <a:xfrm rot="10800000">
              <a:off x="8101260" y="3124319"/>
              <a:ext cx="823912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5A983D66-1EC2-4E21-96DE-7DD9E3D09CC6}"/>
                </a:ext>
              </a:extLst>
            </p:cNvPr>
            <p:cNvCxnSpPr/>
            <p:nvPr/>
          </p:nvCxnSpPr>
          <p:spPr>
            <a:xfrm rot="10800000">
              <a:off x="8852147" y="3037006"/>
              <a:ext cx="523875" cy="23813"/>
            </a:xfrm>
            <a:prstGeom prst="line">
              <a:avLst/>
            </a:prstGeom>
            <a:ln w="508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꺾인 연결선 27">
              <a:extLst>
                <a:ext uri="{FF2B5EF4-FFF2-40B4-BE49-F238E27FC236}">
                  <a16:creationId xmlns:a16="http://schemas.microsoft.com/office/drawing/2014/main" id="{2AE7993C-6DA2-4C83-B96A-5DBC05CC17C8}"/>
                </a:ext>
              </a:extLst>
            </p:cNvPr>
            <p:cNvCxnSpPr/>
            <p:nvPr/>
          </p:nvCxnSpPr>
          <p:spPr>
            <a:xfrm rot="10800000" flipV="1">
              <a:off x="8121897" y="3241794"/>
              <a:ext cx="623888" cy="128587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165">
              <a:extLst>
                <a:ext uri="{FF2B5EF4-FFF2-40B4-BE49-F238E27FC236}">
                  <a16:creationId xmlns:a16="http://schemas.microsoft.com/office/drawing/2014/main" id="{5816DFFD-6C4E-45A2-8844-72FA72F421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8810" y="3259256"/>
              <a:ext cx="935037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2" tIns="45717" rIns="91432" bIns="45717">
              <a:spAutoFit/>
            </a:bodyPr>
            <a:lstStyle>
              <a:lvl1pPr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1pPr>
              <a:lvl2pPr marL="742950" indent="-28575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2pPr>
              <a:lvl3pPr marL="11430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3pPr>
              <a:lvl4pPr marL="16002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4pPr>
              <a:lvl5pPr marL="20574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9pPr>
            </a:lstStyle>
            <a:p>
              <a:pPr eaLnBrk="1" latinLnBrk="1" hangingPunct="1"/>
              <a:r>
                <a:rPr kumimoji="0" lang="ko-KR" altLang="en-US" sz="800" dirty="0" err="1">
                  <a:solidFill>
                    <a:srgbClr val="00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발끝막이판</a:t>
              </a:r>
              <a:r>
                <a:rPr kumimoji="0" lang="en-US" altLang="ko-KR" sz="800" dirty="0">
                  <a:solidFill>
                    <a:srgbClr val="00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 </a:t>
              </a:r>
              <a:endParaRPr kumimoji="0" lang="ko-KR" altLang="en-US" sz="800" dirty="0">
                <a:solidFill>
                  <a:srgbClr val="000000"/>
                </a:solidFill>
                <a:latin typeface="LG스마트체2.0 SemiBold" panose="020B0600000101010101" charset="-127"/>
                <a:ea typeface="LG스마트체2.0 SemiBold" panose="020B0600000101010101" charset="-127"/>
              </a:endParaRPr>
            </a:p>
          </p:txBody>
        </p:sp>
        <p:sp>
          <p:nvSpPr>
            <p:cNvPr id="69" name="TextBox 168">
              <a:extLst>
                <a:ext uri="{FF2B5EF4-FFF2-40B4-BE49-F238E27FC236}">
                  <a16:creationId xmlns:a16="http://schemas.microsoft.com/office/drawing/2014/main" id="{0B70EB67-F5A9-4345-8174-63648AB8D5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53585" y="3421181"/>
              <a:ext cx="1036637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2" tIns="45717" rIns="91432" bIns="45717">
              <a:spAutoFit/>
            </a:bodyPr>
            <a:lstStyle>
              <a:lvl1pPr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1pPr>
              <a:lvl2pPr marL="742950" indent="-28575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2pPr>
              <a:lvl3pPr marL="11430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3pPr>
              <a:lvl4pPr marL="16002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4pPr>
              <a:lvl5pPr marL="20574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9pPr>
            </a:lstStyle>
            <a:p>
              <a:pPr eaLnBrk="1" latinLnBrk="1" hangingPunct="1"/>
              <a:r>
                <a:rPr kumimoji="0" lang="ko-KR" altLang="en-US" sz="800" dirty="0">
                  <a:solidFill>
                    <a:srgbClr val="00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  최대</a:t>
              </a:r>
              <a:endParaRPr kumimoji="0" lang="en-US" altLang="ko-KR" sz="800" dirty="0">
                <a:solidFill>
                  <a:srgbClr val="000000"/>
                </a:solidFill>
                <a:latin typeface="LG스마트체2.0 SemiBold" panose="020B0600000101010101" charset="-127"/>
                <a:ea typeface="LG스마트체2.0 SemiBold" panose="020B0600000101010101" charset="-127"/>
              </a:endParaRPr>
            </a:p>
            <a:p>
              <a:pPr eaLnBrk="1" latinLnBrk="1" hangingPunct="1"/>
              <a:r>
                <a:rPr kumimoji="0" lang="ko-KR" altLang="en-US" sz="800" dirty="0">
                  <a:solidFill>
                    <a:srgbClr val="00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적재하중</a:t>
              </a:r>
            </a:p>
          </p:txBody>
        </p:sp>
        <p:sp>
          <p:nvSpPr>
            <p:cNvPr id="70" name="순서도: 수동 입력 69">
              <a:extLst>
                <a:ext uri="{FF2B5EF4-FFF2-40B4-BE49-F238E27FC236}">
                  <a16:creationId xmlns:a16="http://schemas.microsoft.com/office/drawing/2014/main" id="{2405181F-C133-4C4D-AA4E-52516813AF65}"/>
                </a:ext>
              </a:extLst>
            </p:cNvPr>
            <p:cNvSpPr/>
            <p:nvPr/>
          </p:nvSpPr>
          <p:spPr>
            <a:xfrm rot="5827775" flipH="1">
              <a:off x="8446541" y="3396575"/>
              <a:ext cx="152400" cy="227012"/>
            </a:xfrm>
            <a:prstGeom prst="flowChartManualInpu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2" tIns="45717" rIns="91432" bIns="45717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800" dirty="0">
                <a:solidFill>
                  <a:prstClr val="white"/>
                </a:solidFill>
                <a:latin typeface="LG스마트체2.0 SemiBold" panose="020B0600000101010101" charset="-127"/>
                <a:ea typeface="LG스마트체2.0 SemiBold" panose="020B0600000101010101" charset="-127"/>
              </a:endParaRPr>
            </a:p>
          </p:txBody>
        </p: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C3998C04-43CC-4296-B609-9EAA0649B39E}"/>
                </a:ext>
              </a:extLst>
            </p:cNvPr>
            <p:cNvCxnSpPr/>
            <p:nvPr/>
          </p:nvCxnSpPr>
          <p:spPr>
            <a:xfrm>
              <a:off x="9414122" y="3791069"/>
              <a:ext cx="438150" cy="15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화살표 연결선 71">
              <a:extLst>
                <a:ext uri="{FF2B5EF4-FFF2-40B4-BE49-F238E27FC236}">
                  <a16:creationId xmlns:a16="http://schemas.microsoft.com/office/drawing/2014/main" id="{6FDB2FFB-BDB4-4AAD-89A2-3AF8869410D8}"/>
                </a:ext>
              </a:extLst>
            </p:cNvPr>
            <p:cNvCxnSpPr/>
            <p:nvPr/>
          </p:nvCxnSpPr>
          <p:spPr>
            <a:xfrm rot="10800000">
              <a:off x="8198097" y="3565644"/>
              <a:ext cx="325438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7AFC9640-3A54-4F46-8161-301AA6DC9F5D}"/>
                </a:ext>
              </a:extLst>
            </p:cNvPr>
            <p:cNvSpPr/>
            <p:nvPr/>
          </p:nvSpPr>
          <p:spPr>
            <a:xfrm>
              <a:off x="8044110" y="3957756"/>
              <a:ext cx="257175" cy="215900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2" tIns="45717" rIns="91432" bIns="45717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800" dirty="0">
                <a:solidFill>
                  <a:prstClr val="white"/>
                </a:solidFill>
                <a:latin typeface="LG스마트체2.0 SemiBold" panose="020B0600000101010101" charset="-127"/>
                <a:ea typeface="LG스마트체2.0 SemiBold" panose="020B0600000101010101" charset="-127"/>
              </a:endParaRPr>
            </a:p>
          </p:txBody>
        </p:sp>
        <p:pic>
          <p:nvPicPr>
            <p:cNvPr id="74" name="Picture 1">
              <a:extLst>
                <a:ext uri="{FF2B5EF4-FFF2-40B4-BE49-F238E27FC236}">
                  <a16:creationId xmlns:a16="http://schemas.microsoft.com/office/drawing/2014/main" id="{7725E5B7-3F7B-4E34-9189-A1005A7308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2457" y="2743619"/>
              <a:ext cx="1960562" cy="173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" name="TextBox 195">
              <a:extLst>
                <a:ext uri="{FF2B5EF4-FFF2-40B4-BE49-F238E27FC236}">
                  <a16:creationId xmlns:a16="http://schemas.microsoft.com/office/drawing/2014/main" id="{77D5D2C9-193A-43C6-B2B6-697643DCFC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3107" y="3446882"/>
              <a:ext cx="627698" cy="2154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32" tIns="45717" rIns="91432" bIns="45717">
              <a:spAutoFit/>
            </a:bodyPr>
            <a:lstStyle>
              <a:lvl1pPr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1pPr>
              <a:lvl2pPr marL="742950" indent="-28575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2pPr>
              <a:lvl3pPr marL="11430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3pPr>
              <a:lvl4pPr marL="16002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4pPr>
              <a:lvl5pPr marL="20574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9pPr>
            </a:lstStyle>
            <a:p>
              <a:pPr eaLnBrk="1" latinLnBrk="1" hangingPunct="1"/>
              <a:r>
                <a:rPr kumimoji="0" lang="en-US" altLang="ko-KR" sz="800" dirty="0">
                  <a:solidFill>
                    <a:srgbClr val="00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75</a:t>
              </a:r>
              <a:r>
                <a:rPr kumimoji="0" lang="ko-KR" altLang="en-US" sz="800" dirty="0">
                  <a:solidFill>
                    <a:srgbClr val="00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도 이하</a:t>
              </a:r>
            </a:p>
          </p:txBody>
        </p:sp>
        <p:cxnSp>
          <p:nvCxnSpPr>
            <p:cNvPr id="76" name="직선 화살표 연결선 75">
              <a:extLst>
                <a:ext uri="{FF2B5EF4-FFF2-40B4-BE49-F238E27FC236}">
                  <a16:creationId xmlns:a16="http://schemas.microsoft.com/office/drawing/2014/main" id="{8AAA7EAB-F2FC-4B02-9ACC-011132965FD5}"/>
                </a:ext>
              </a:extLst>
            </p:cNvPr>
            <p:cNvCxnSpPr/>
            <p:nvPr/>
          </p:nvCxnSpPr>
          <p:spPr>
            <a:xfrm>
              <a:off x="5653119" y="2657894"/>
              <a:ext cx="1482725" cy="1588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199">
              <a:extLst>
                <a:ext uri="{FF2B5EF4-FFF2-40B4-BE49-F238E27FC236}">
                  <a16:creationId xmlns:a16="http://schemas.microsoft.com/office/drawing/2014/main" id="{B819C867-F606-474D-ACF0-DD391F8D6C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65868" y="2562644"/>
              <a:ext cx="648953" cy="2154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32" tIns="45717" rIns="91432" bIns="45717">
              <a:spAutoFit/>
            </a:bodyPr>
            <a:lstStyle>
              <a:lvl1pPr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1pPr>
              <a:lvl2pPr marL="742950" indent="-28575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2pPr>
              <a:lvl3pPr marL="11430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3pPr>
              <a:lvl4pPr marL="16002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4pPr>
              <a:lvl5pPr marL="20574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9pPr>
            </a:lstStyle>
            <a:p>
              <a:pPr eaLnBrk="1" latinLnBrk="1" hangingPunct="1"/>
              <a:r>
                <a:rPr kumimoji="0" lang="en-US" altLang="ko-KR" sz="800" dirty="0">
                  <a:solidFill>
                    <a:srgbClr val="00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60cm</a:t>
              </a:r>
              <a:r>
                <a:rPr kumimoji="0" lang="ko-KR" altLang="en-US" sz="800" dirty="0">
                  <a:solidFill>
                    <a:srgbClr val="00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이상</a:t>
              </a:r>
            </a:p>
          </p:txBody>
        </p:sp>
        <p:cxnSp>
          <p:nvCxnSpPr>
            <p:cNvPr id="78" name="직선 화살표 연결선 77">
              <a:extLst>
                <a:ext uri="{FF2B5EF4-FFF2-40B4-BE49-F238E27FC236}">
                  <a16:creationId xmlns:a16="http://schemas.microsoft.com/office/drawing/2014/main" id="{B5B08C17-A887-470D-977A-507E4CA12BE7}"/>
                </a:ext>
              </a:extLst>
            </p:cNvPr>
            <p:cNvCxnSpPr/>
            <p:nvPr/>
          </p:nvCxnSpPr>
          <p:spPr>
            <a:xfrm rot="5400000">
              <a:off x="4985576" y="3198438"/>
              <a:ext cx="869950" cy="1587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204">
              <a:extLst>
                <a:ext uri="{FF2B5EF4-FFF2-40B4-BE49-F238E27FC236}">
                  <a16:creationId xmlns:a16="http://schemas.microsoft.com/office/drawing/2014/main" id="{2465260E-3C36-4236-8C90-16C3ADB87A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1457" y="2986507"/>
              <a:ext cx="544512" cy="3190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35997" rIns="0" bIns="35997">
              <a:spAutoFit/>
            </a:bodyPr>
            <a:lstStyle>
              <a:lvl1pPr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1pPr>
              <a:lvl2pPr marL="742950" indent="-28575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2pPr>
              <a:lvl3pPr marL="11430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3pPr>
              <a:lvl4pPr marL="16002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4pPr>
              <a:lvl5pPr marL="20574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9pPr>
            </a:lstStyle>
            <a:p>
              <a:pPr eaLnBrk="1" latinLnBrk="1" hangingPunct="1"/>
              <a:r>
                <a:rPr kumimoji="0" lang="ko-KR" altLang="en-US" sz="800" dirty="0">
                  <a:solidFill>
                    <a:srgbClr val="00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상판 작업</a:t>
              </a:r>
              <a:endParaRPr kumimoji="0" lang="en-US" altLang="ko-KR" sz="800" dirty="0">
                <a:solidFill>
                  <a:srgbClr val="000000"/>
                </a:solidFill>
                <a:latin typeface="LG스마트체2.0 SemiBold" panose="020B0600000101010101" charset="-127"/>
                <a:ea typeface="LG스마트체2.0 SemiBold" panose="020B0600000101010101" charset="-127"/>
              </a:endParaRPr>
            </a:p>
            <a:p>
              <a:pPr eaLnBrk="1" latinLnBrk="1" hangingPunct="1"/>
              <a:r>
                <a:rPr kumimoji="0" lang="en-US" altLang="ko-KR" sz="800" dirty="0">
                  <a:solidFill>
                    <a:srgbClr val="00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2m </a:t>
              </a:r>
              <a:r>
                <a:rPr kumimoji="0" lang="ko-KR" altLang="en-US" sz="800" dirty="0">
                  <a:solidFill>
                    <a:srgbClr val="00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미만</a:t>
              </a:r>
            </a:p>
          </p:txBody>
        </p:sp>
        <p:cxnSp>
          <p:nvCxnSpPr>
            <p:cNvPr id="80" name="직선 화살표 연결선 79">
              <a:extLst>
                <a:ext uri="{FF2B5EF4-FFF2-40B4-BE49-F238E27FC236}">
                  <a16:creationId xmlns:a16="http://schemas.microsoft.com/office/drawing/2014/main" id="{138AEFDE-4B60-4EDA-A369-EB0B33ED2343}"/>
                </a:ext>
              </a:extLst>
            </p:cNvPr>
            <p:cNvCxnSpPr/>
            <p:nvPr/>
          </p:nvCxnSpPr>
          <p:spPr>
            <a:xfrm>
              <a:off x="6200807" y="3624682"/>
              <a:ext cx="417512" cy="1587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207">
              <a:extLst>
                <a:ext uri="{FF2B5EF4-FFF2-40B4-BE49-F238E27FC236}">
                  <a16:creationId xmlns:a16="http://schemas.microsoft.com/office/drawing/2014/main" id="{2289664A-79C3-486C-BEAA-B61F60ED08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09684" y="3399257"/>
              <a:ext cx="701675" cy="1952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5997" tIns="35997" rIns="35997" bIns="35997">
              <a:spAutoFit/>
            </a:bodyPr>
            <a:lstStyle>
              <a:lvl1pPr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1pPr>
              <a:lvl2pPr marL="742950" indent="-28575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2pPr>
              <a:lvl3pPr marL="11430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3pPr>
              <a:lvl4pPr marL="16002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4pPr>
              <a:lvl5pPr marL="20574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9pPr>
            </a:lstStyle>
            <a:p>
              <a:pPr eaLnBrk="1" latinLnBrk="1" hangingPunct="1"/>
              <a:r>
                <a:rPr kumimoji="0" lang="en-US" altLang="ko-KR" sz="800" dirty="0">
                  <a:solidFill>
                    <a:srgbClr val="00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40cm </a:t>
              </a:r>
              <a:r>
                <a:rPr kumimoji="0" lang="ko-KR" altLang="en-US" sz="800" dirty="0">
                  <a:solidFill>
                    <a:srgbClr val="00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이상</a:t>
              </a:r>
            </a:p>
          </p:txBody>
        </p:sp>
        <p:cxnSp>
          <p:nvCxnSpPr>
            <p:cNvPr id="82" name="직선 화살표 연결선 81">
              <a:extLst>
                <a:ext uri="{FF2B5EF4-FFF2-40B4-BE49-F238E27FC236}">
                  <a16:creationId xmlns:a16="http://schemas.microsoft.com/office/drawing/2014/main" id="{3AFD0602-C74E-4857-A66C-54EAD00208AB}"/>
                </a:ext>
              </a:extLst>
            </p:cNvPr>
            <p:cNvCxnSpPr/>
            <p:nvPr/>
          </p:nvCxnSpPr>
          <p:spPr>
            <a:xfrm flipH="1">
              <a:off x="3577678" y="2920586"/>
              <a:ext cx="1" cy="1137483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직선 화살표 연결선 82">
              <a:extLst>
                <a:ext uri="{FF2B5EF4-FFF2-40B4-BE49-F238E27FC236}">
                  <a16:creationId xmlns:a16="http://schemas.microsoft.com/office/drawing/2014/main" id="{ED3DDE3E-E784-485B-BC92-A42AC9379BFE}"/>
                </a:ext>
              </a:extLst>
            </p:cNvPr>
            <p:cNvCxnSpPr/>
            <p:nvPr/>
          </p:nvCxnSpPr>
          <p:spPr>
            <a:xfrm rot="10800000">
              <a:off x="3265950" y="2637858"/>
              <a:ext cx="546100" cy="1587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214">
              <a:extLst>
                <a:ext uri="{FF2B5EF4-FFF2-40B4-BE49-F238E27FC236}">
                  <a16:creationId xmlns:a16="http://schemas.microsoft.com/office/drawing/2014/main" id="{7CFE5834-3EA8-4210-8DBB-936AF3AAE3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6753" y="2482106"/>
              <a:ext cx="591922" cy="1231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1pPr>
              <a:lvl2pPr marL="742950" indent="-28575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2pPr>
              <a:lvl3pPr marL="11430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3pPr>
              <a:lvl4pPr marL="16002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4pPr>
              <a:lvl5pPr marL="20574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9pPr>
            </a:lstStyle>
            <a:p>
              <a:pPr eaLnBrk="1" latinLnBrk="1" hangingPunct="1"/>
              <a:r>
                <a:rPr kumimoji="0" lang="en-US" altLang="ko-KR" sz="800" dirty="0">
                  <a:solidFill>
                    <a:srgbClr val="00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30cm</a:t>
              </a:r>
              <a:r>
                <a:rPr kumimoji="0" lang="ko-KR" altLang="en-US" sz="800" dirty="0">
                  <a:solidFill>
                    <a:srgbClr val="00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이상</a:t>
              </a:r>
            </a:p>
          </p:txBody>
        </p:sp>
        <p:cxnSp>
          <p:nvCxnSpPr>
            <p:cNvPr id="85" name="직선 화살표 연결선 84">
              <a:extLst>
                <a:ext uri="{FF2B5EF4-FFF2-40B4-BE49-F238E27FC236}">
                  <a16:creationId xmlns:a16="http://schemas.microsoft.com/office/drawing/2014/main" id="{60FF8977-666E-4B9D-8574-7247F83B1E6B}"/>
                </a:ext>
              </a:extLst>
            </p:cNvPr>
            <p:cNvCxnSpPr/>
            <p:nvPr/>
          </p:nvCxnSpPr>
          <p:spPr>
            <a:xfrm rot="10800000">
              <a:off x="2973508" y="2733108"/>
              <a:ext cx="26987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218">
              <a:extLst>
                <a:ext uri="{FF2B5EF4-FFF2-40B4-BE49-F238E27FC236}">
                  <a16:creationId xmlns:a16="http://schemas.microsoft.com/office/drawing/2014/main" id="{4318B226-35CC-4C99-84EC-95A16BC4BF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3458" y="2594995"/>
              <a:ext cx="568325" cy="246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2" tIns="45717" rIns="91432" bIns="45717">
              <a:spAutoFit/>
            </a:bodyPr>
            <a:lstStyle>
              <a:lvl1pPr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1pPr>
              <a:lvl2pPr marL="742950" indent="-28575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2pPr>
              <a:lvl3pPr marL="11430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3pPr>
              <a:lvl4pPr marL="16002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4pPr>
              <a:lvl5pPr marL="20574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9pPr>
            </a:lstStyle>
            <a:p>
              <a:pPr eaLnBrk="1" latinLnBrk="1" hangingPunct="1"/>
              <a:r>
                <a:rPr kumimoji="0" lang="ko-KR" altLang="en-US" sz="800">
                  <a:solidFill>
                    <a:srgbClr val="00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안전핀</a:t>
              </a:r>
              <a:r>
                <a:rPr kumimoji="0" lang="en-US" altLang="ko-KR">
                  <a:solidFill>
                    <a:srgbClr val="00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 </a:t>
              </a:r>
              <a:endParaRPr kumimoji="0" lang="ko-KR" altLang="en-US">
                <a:solidFill>
                  <a:srgbClr val="000000"/>
                </a:solidFill>
                <a:latin typeface="LG스마트체2.0 SemiBold" panose="020B0600000101010101" charset="-127"/>
                <a:ea typeface="LG스마트체2.0 SemiBold" panose="020B0600000101010101" charset="-127"/>
              </a:endParaRPr>
            </a:p>
          </p:txBody>
        </p:sp>
        <p:cxnSp>
          <p:nvCxnSpPr>
            <p:cNvPr id="87" name="직선 화살표 연결선 86">
              <a:extLst>
                <a:ext uri="{FF2B5EF4-FFF2-40B4-BE49-F238E27FC236}">
                  <a16:creationId xmlns:a16="http://schemas.microsoft.com/office/drawing/2014/main" id="{0BD1B6A5-C3B3-44F1-A5C1-196CBF8AB510}"/>
                </a:ext>
              </a:extLst>
            </p:cNvPr>
            <p:cNvCxnSpPr/>
            <p:nvPr/>
          </p:nvCxnSpPr>
          <p:spPr>
            <a:xfrm>
              <a:off x="3705472" y="3123463"/>
              <a:ext cx="28416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Box 220">
              <a:extLst>
                <a:ext uri="{FF2B5EF4-FFF2-40B4-BE49-F238E27FC236}">
                  <a16:creationId xmlns:a16="http://schemas.microsoft.com/office/drawing/2014/main" id="{4F5DC357-994E-4568-89C5-85AAA40CFA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3910" y="3026625"/>
              <a:ext cx="1116012" cy="3385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2" tIns="45717" rIns="91432" bIns="45717">
              <a:spAutoFit/>
            </a:bodyPr>
            <a:lstStyle>
              <a:lvl1pPr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1pPr>
              <a:lvl2pPr marL="742950" indent="-28575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2pPr>
              <a:lvl3pPr marL="11430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3pPr>
              <a:lvl4pPr marL="16002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4pPr>
              <a:lvl5pPr marL="20574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9pPr>
            </a:lstStyle>
            <a:p>
              <a:pPr eaLnBrk="1" latinLnBrk="1" hangingPunct="1"/>
              <a:r>
                <a:rPr kumimoji="0" lang="ko-KR" altLang="en-US" sz="800" dirty="0">
                  <a:solidFill>
                    <a:srgbClr val="00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벌어짐 방지 로프</a:t>
              </a:r>
              <a:br>
                <a:rPr kumimoji="0" lang="en-US" altLang="ko-KR" sz="800" dirty="0">
                  <a:solidFill>
                    <a:srgbClr val="00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</a:br>
              <a:r>
                <a:rPr kumimoji="0" lang="en-US" altLang="ko-KR" sz="800" dirty="0">
                  <a:solidFill>
                    <a:srgbClr val="00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(2</a:t>
              </a:r>
              <a:r>
                <a:rPr kumimoji="0" lang="ko-KR" altLang="en-US" sz="800" dirty="0">
                  <a:solidFill>
                    <a:srgbClr val="00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중</a:t>
              </a:r>
              <a:r>
                <a:rPr kumimoji="0" lang="en-US" altLang="ko-KR" sz="800" dirty="0">
                  <a:solidFill>
                    <a:srgbClr val="00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/3</a:t>
              </a:r>
              <a:r>
                <a:rPr kumimoji="0" lang="ko-KR" altLang="en-US" sz="800" dirty="0">
                  <a:solidFill>
                    <a:srgbClr val="00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중</a:t>
              </a:r>
              <a:r>
                <a:rPr kumimoji="0" lang="en-US" altLang="ko-KR" sz="800" dirty="0">
                  <a:solidFill>
                    <a:srgbClr val="00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)</a:t>
              </a:r>
              <a:endParaRPr kumimoji="0" lang="ko-KR" altLang="en-US" sz="800" dirty="0">
                <a:solidFill>
                  <a:srgbClr val="000000"/>
                </a:solidFill>
                <a:latin typeface="LG스마트체2.0 SemiBold" panose="020B0600000101010101" charset="-127"/>
                <a:ea typeface="LG스마트체2.0 SemiBold" panose="020B0600000101010101" charset="-127"/>
              </a:endParaRPr>
            </a:p>
          </p:txBody>
        </p:sp>
        <p:sp>
          <p:nvSpPr>
            <p:cNvPr id="89" name="타원 88">
              <a:extLst>
                <a:ext uri="{FF2B5EF4-FFF2-40B4-BE49-F238E27FC236}">
                  <a16:creationId xmlns:a16="http://schemas.microsoft.com/office/drawing/2014/main" id="{029135CF-49A9-4CDE-9FC3-F268244DB0E6}"/>
                </a:ext>
              </a:extLst>
            </p:cNvPr>
            <p:cNvSpPr/>
            <p:nvPr/>
          </p:nvSpPr>
          <p:spPr>
            <a:xfrm>
              <a:off x="5775357" y="2894432"/>
              <a:ext cx="258762" cy="215900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2" tIns="45717" rIns="91432" bIns="45717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800" dirty="0">
                <a:solidFill>
                  <a:prstClr val="white"/>
                </a:solidFill>
                <a:latin typeface="LG스마트체2.0 SemiBold" panose="020B0600000101010101" charset="-127"/>
                <a:ea typeface="LG스마트체2.0 SemiBold" panose="020B0600000101010101" charset="-127"/>
              </a:endParaRPr>
            </a:p>
          </p:txBody>
        </p:sp>
        <p:cxnSp>
          <p:nvCxnSpPr>
            <p:cNvPr id="90" name="직선 화살표 연결선 89">
              <a:extLst>
                <a:ext uri="{FF2B5EF4-FFF2-40B4-BE49-F238E27FC236}">
                  <a16:creationId xmlns:a16="http://schemas.microsoft.com/office/drawing/2014/main" id="{F5613085-4E57-4032-8878-0BD15E5C6918}"/>
                </a:ext>
              </a:extLst>
            </p:cNvPr>
            <p:cNvCxnSpPr/>
            <p:nvPr/>
          </p:nvCxnSpPr>
          <p:spPr>
            <a:xfrm>
              <a:off x="6057928" y="3018735"/>
              <a:ext cx="18547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225">
              <a:extLst>
                <a:ext uri="{FF2B5EF4-FFF2-40B4-BE49-F238E27FC236}">
                  <a16:creationId xmlns:a16="http://schemas.microsoft.com/office/drawing/2014/main" id="{A72DF24D-5255-4A55-8D22-0F174CD4D9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4929" y="2930523"/>
              <a:ext cx="803275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2" tIns="45717" rIns="91432" bIns="45717">
              <a:spAutoFit/>
            </a:bodyPr>
            <a:lstStyle>
              <a:lvl1pPr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1pPr>
              <a:lvl2pPr marL="742950" indent="-28575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2pPr>
              <a:lvl3pPr marL="11430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3pPr>
              <a:lvl4pPr marL="16002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4pPr>
              <a:lvl5pPr marL="20574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9pPr>
            </a:lstStyle>
            <a:p>
              <a:pPr eaLnBrk="1" latinLnBrk="1" hangingPunct="1"/>
              <a:r>
                <a:rPr kumimoji="0" lang="ko-KR" altLang="en-US" sz="800" dirty="0">
                  <a:solidFill>
                    <a:srgbClr val="00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 보조재</a:t>
              </a:r>
              <a:r>
                <a:rPr kumimoji="0" lang="en-US" altLang="ko-KR" sz="800" dirty="0">
                  <a:solidFill>
                    <a:srgbClr val="00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 </a:t>
              </a:r>
              <a:endParaRPr kumimoji="0" lang="ko-KR" altLang="en-US" sz="800" dirty="0">
                <a:solidFill>
                  <a:srgbClr val="000000"/>
                </a:solidFill>
                <a:latin typeface="LG스마트체2.0 SemiBold" panose="020B0600000101010101" charset="-127"/>
                <a:ea typeface="LG스마트체2.0 SemiBold" panose="020B0600000101010101" charset="-127"/>
              </a:endParaRPr>
            </a:p>
          </p:txBody>
        </p:sp>
        <p:sp>
          <p:nvSpPr>
            <p:cNvPr id="92" name="타원 91">
              <a:extLst>
                <a:ext uri="{FF2B5EF4-FFF2-40B4-BE49-F238E27FC236}">
                  <a16:creationId xmlns:a16="http://schemas.microsoft.com/office/drawing/2014/main" id="{A712F538-AA06-4100-AE56-955FD8C73E6E}"/>
                </a:ext>
              </a:extLst>
            </p:cNvPr>
            <p:cNvSpPr/>
            <p:nvPr/>
          </p:nvSpPr>
          <p:spPr>
            <a:xfrm>
              <a:off x="3828268" y="3836845"/>
              <a:ext cx="258762" cy="215900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2" tIns="45717" rIns="91432" bIns="45717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800" dirty="0">
                <a:solidFill>
                  <a:prstClr val="white"/>
                </a:solidFill>
                <a:latin typeface="LG스마트체2.0 SemiBold" panose="020B0600000101010101" charset="-127"/>
                <a:ea typeface="LG스마트체2.0 SemiBold" panose="020B0600000101010101" charset="-127"/>
              </a:endParaRPr>
            </a:p>
          </p:txBody>
        </p:sp>
        <p:cxnSp>
          <p:nvCxnSpPr>
            <p:cNvPr id="93" name="직선 화살표 연결선 92">
              <a:extLst>
                <a:ext uri="{FF2B5EF4-FFF2-40B4-BE49-F238E27FC236}">
                  <a16:creationId xmlns:a16="http://schemas.microsoft.com/office/drawing/2014/main" id="{A6752AC0-F780-4037-B131-E266D0FADBE0}"/>
                </a:ext>
              </a:extLst>
            </p:cNvPr>
            <p:cNvCxnSpPr/>
            <p:nvPr/>
          </p:nvCxnSpPr>
          <p:spPr>
            <a:xfrm>
              <a:off x="4087030" y="3943378"/>
              <a:ext cx="192477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Box 220">
              <a:extLst>
                <a:ext uri="{FF2B5EF4-FFF2-40B4-BE49-F238E27FC236}">
                  <a16:creationId xmlns:a16="http://schemas.microsoft.com/office/drawing/2014/main" id="{B8D34A3A-FC6A-4EBA-B424-9DB29AB8CA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1938" y="3830064"/>
              <a:ext cx="944562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2" tIns="45717" rIns="91432" bIns="45717">
              <a:spAutoFit/>
            </a:bodyPr>
            <a:lstStyle>
              <a:lvl1pPr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1pPr>
              <a:lvl2pPr marL="742950" indent="-28575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2pPr>
              <a:lvl3pPr marL="11430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3pPr>
              <a:lvl4pPr marL="16002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4pPr>
              <a:lvl5pPr marL="20574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9pPr>
            </a:lstStyle>
            <a:p>
              <a:pPr eaLnBrk="1" latinLnBrk="1" hangingPunct="1"/>
              <a:r>
                <a:rPr kumimoji="0" lang="ko-KR" altLang="en-US" sz="800" dirty="0" err="1">
                  <a:solidFill>
                    <a:srgbClr val="00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전도방지</a:t>
              </a:r>
              <a:r>
                <a:rPr kumimoji="0" lang="ko-KR" altLang="en-US" sz="800" dirty="0">
                  <a:solidFill>
                    <a:srgbClr val="00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 지지대</a:t>
              </a:r>
              <a:r>
                <a:rPr kumimoji="0" lang="en-US" altLang="ko-KR" sz="800" dirty="0">
                  <a:solidFill>
                    <a:srgbClr val="00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 </a:t>
              </a:r>
              <a:endParaRPr kumimoji="0" lang="ko-KR" altLang="en-US" sz="800" dirty="0">
                <a:solidFill>
                  <a:srgbClr val="000000"/>
                </a:solidFill>
                <a:latin typeface="LG스마트체2.0 SemiBold" panose="020B0600000101010101" charset="-127"/>
                <a:ea typeface="LG스마트체2.0 SemiBold" panose="020B0600000101010101" charset="-127"/>
              </a:endParaRPr>
            </a:p>
          </p:txBody>
        </p:sp>
        <p:sp>
          <p:nvSpPr>
            <p:cNvPr id="95" name="자유형 55">
              <a:extLst>
                <a:ext uri="{FF2B5EF4-FFF2-40B4-BE49-F238E27FC236}">
                  <a16:creationId xmlns:a16="http://schemas.microsoft.com/office/drawing/2014/main" id="{6C045CC1-6B5C-4BFB-A954-F885BFEEFAA3}"/>
                </a:ext>
              </a:extLst>
            </p:cNvPr>
            <p:cNvSpPr/>
            <p:nvPr/>
          </p:nvSpPr>
          <p:spPr>
            <a:xfrm>
              <a:off x="3438772" y="2894863"/>
              <a:ext cx="200025" cy="295275"/>
            </a:xfrm>
            <a:custGeom>
              <a:avLst/>
              <a:gdLst>
                <a:gd name="connsiteX0" fmla="*/ 55093 w 590322"/>
                <a:gd name="connsiteY0" fmla="*/ 0 h 954952"/>
                <a:gd name="connsiteX1" fmla="*/ 45568 w 590322"/>
                <a:gd name="connsiteY1" fmla="*/ 952500 h 954952"/>
                <a:gd name="connsiteX2" fmla="*/ 550393 w 590322"/>
                <a:gd name="connsiteY2" fmla="*/ 276225 h 954952"/>
                <a:gd name="connsiteX3" fmla="*/ 569443 w 590322"/>
                <a:gd name="connsiteY3" fmla="*/ 314325 h 954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0322" h="954952">
                  <a:moveTo>
                    <a:pt x="55093" y="0"/>
                  </a:moveTo>
                  <a:cubicBezTo>
                    <a:pt x="9055" y="453231"/>
                    <a:pt x="-36982" y="906463"/>
                    <a:pt x="45568" y="952500"/>
                  </a:cubicBezTo>
                  <a:cubicBezTo>
                    <a:pt x="128118" y="998538"/>
                    <a:pt x="463081" y="382587"/>
                    <a:pt x="550393" y="276225"/>
                  </a:cubicBezTo>
                  <a:cubicBezTo>
                    <a:pt x="637705" y="169863"/>
                    <a:pt x="551980" y="319088"/>
                    <a:pt x="569443" y="314325"/>
                  </a:cubicBezTo>
                </a:path>
              </a:pathLst>
            </a:custGeom>
            <a:noFill/>
            <a:ln w="508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latinLnBrk="1" hangingPunct="1">
                <a:defRPr/>
              </a:pPr>
              <a:endParaRPr lang="ko-KR" altLang="en-US">
                <a:latin typeface="LG스마트체2.0 SemiBold" panose="020B0600000101010101" charset="-127"/>
                <a:ea typeface="LG스마트체2.0 SemiBold" panose="020B0600000101010101" charset="-127"/>
              </a:endParaRPr>
            </a:p>
          </p:txBody>
        </p:sp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C8591E26-AE1A-4081-8935-E8EA46994DA1}"/>
                </a:ext>
              </a:extLst>
            </p:cNvPr>
            <p:cNvSpPr/>
            <p:nvPr/>
          </p:nvSpPr>
          <p:spPr>
            <a:xfrm>
              <a:off x="3440360" y="3007575"/>
              <a:ext cx="258762" cy="215900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2" tIns="45717" rIns="91432" bIns="45717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800" dirty="0">
                <a:solidFill>
                  <a:prstClr val="white"/>
                </a:solidFill>
                <a:latin typeface="LG스마트체2.0 SemiBold" panose="020B0600000101010101" charset="-127"/>
                <a:ea typeface="LG스마트체2.0 SemiBold" panose="020B0600000101010101" charset="-127"/>
              </a:endParaRPr>
            </a:p>
          </p:txBody>
        </p:sp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8BEE2D3E-9E58-4F78-B138-9ED329DB8E58}"/>
                </a:ext>
              </a:extLst>
            </p:cNvPr>
            <p:cNvSpPr/>
            <p:nvPr/>
          </p:nvSpPr>
          <p:spPr>
            <a:xfrm>
              <a:off x="3029197" y="4161468"/>
              <a:ext cx="258762" cy="215900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2" tIns="45717" rIns="91432" bIns="45717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800" dirty="0">
                <a:solidFill>
                  <a:prstClr val="white"/>
                </a:solidFill>
                <a:latin typeface="LG스마트체2.0 SemiBold" panose="020B0600000101010101" charset="-127"/>
                <a:ea typeface="LG스마트체2.0 SemiBold" panose="020B0600000101010101" charset="-127"/>
              </a:endParaRPr>
            </a:p>
          </p:txBody>
        </p:sp>
        <p:cxnSp>
          <p:nvCxnSpPr>
            <p:cNvPr id="98" name="직선 화살표 연결선 97">
              <a:extLst>
                <a:ext uri="{FF2B5EF4-FFF2-40B4-BE49-F238E27FC236}">
                  <a16:creationId xmlns:a16="http://schemas.microsoft.com/office/drawing/2014/main" id="{6FD317EF-6E90-4088-BCAE-A5F7010CAAF4}"/>
                </a:ext>
              </a:extLst>
            </p:cNvPr>
            <p:cNvCxnSpPr/>
            <p:nvPr/>
          </p:nvCxnSpPr>
          <p:spPr>
            <a:xfrm>
              <a:off x="3308002" y="4293490"/>
              <a:ext cx="112982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220">
              <a:extLst>
                <a:ext uri="{FF2B5EF4-FFF2-40B4-BE49-F238E27FC236}">
                  <a16:creationId xmlns:a16="http://schemas.microsoft.com/office/drawing/2014/main" id="{0A753843-A7E6-4D10-9BBF-0DF447FDF3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80237" y="4204890"/>
              <a:ext cx="944562" cy="21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2" tIns="45717" rIns="91432" bIns="45717">
              <a:spAutoFit/>
            </a:bodyPr>
            <a:lstStyle>
              <a:lvl1pPr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1pPr>
              <a:lvl2pPr marL="742950" indent="-28575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2pPr>
              <a:lvl3pPr marL="11430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3pPr>
              <a:lvl4pPr marL="16002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4pPr>
              <a:lvl5pPr marL="20574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9pPr>
            </a:lstStyle>
            <a:p>
              <a:pPr eaLnBrk="1" latinLnBrk="1" hangingPunct="1"/>
              <a:r>
                <a:rPr kumimoji="0" lang="ko-KR" altLang="en-US" sz="800" dirty="0">
                  <a:solidFill>
                    <a:srgbClr val="00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미끄럼 방지</a:t>
              </a:r>
              <a:r>
                <a:rPr kumimoji="0" lang="en-US" altLang="ko-KR" sz="800" dirty="0">
                  <a:solidFill>
                    <a:srgbClr val="00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 </a:t>
              </a:r>
              <a:endParaRPr kumimoji="0" lang="ko-KR" altLang="en-US" sz="800" dirty="0">
                <a:solidFill>
                  <a:srgbClr val="000000"/>
                </a:solidFill>
                <a:latin typeface="LG스마트체2.0 SemiBold" panose="020B0600000101010101" charset="-127"/>
                <a:ea typeface="LG스마트체2.0 SemiBold" panose="020B0600000101010101" charset="-127"/>
              </a:endParaRPr>
            </a:p>
          </p:txBody>
        </p:sp>
        <p:sp>
          <p:nvSpPr>
            <p:cNvPr id="100" name="타원 99">
              <a:extLst>
                <a:ext uri="{FF2B5EF4-FFF2-40B4-BE49-F238E27FC236}">
                  <a16:creationId xmlns:a16="http://schemas.microsoft.com/office/drawing/2014/main" id="{D2952607-E096-4B01-BAA3-6C48592D760B}"/>
                </a:ext>
              </a:extLst>
            </p:cNvPr>
            <p:cNvSpPr/>
            <p:nvPr/>
          </p:nvSpPr>
          <p:spPr>
            <a:xfrm>
              <a:off x="7161525" y="3465932"/>
              <a:ext cx="258762" cy="215900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2" tIns="45717" rIns="91432" bIns="45717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800" dirty="0">
                <a:solidFill>
                  <a:prstClr val="white"/>
                </a:solidFill>
                <a:latin typeface="LG스마트체2.0 SemiBold" panose="020B0600000101010101" charset="-127"/>
                <a:ea typeface="LG스마트체2.0 SemiBold" panose="020B0600000101010101" charset="-127"/>
              </a:endParaRPr>
            </a:p>
          </p:txBody>
        </p:sp>
        <p:sp>
          <p:nvSpPr>
            <p:cNvPr id="101" name="TextBox 220">
              <a:extLst>
                <a:ext uri="{FF2B5EF4-FFF2-40B4-BE49-F238E27FC236}">
                  <a16:creationId xmlns:a16="http://schemas.microsoft.com/office/drawing/2014/main" id="{3CBB86E5-E326-4EA7-A62A-FD9FE39B39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03590" y="3291081"/>
              <a:ext cx="944562" cy="21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2" tIns="45717" rIns="91432" bIns="45717">
              <a:spAutoFit/>
            </a:bodyPr>
            <a:lstStyle>
              <a:lvl1pPr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1pPr>
              <a:lvl2pPr marL="742950" indent="-28575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2pPr>
              <a:lvl3pPr marL="11430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3pPr>
              <a:lvl4pPr marL="16002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4pPr>
              <a:lvl5pPr marL="20574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9pPr>
            </a:lstStyle>
            <a:p>
              <a:pPr eaLnBrk="1" latinLnBrk="1" hangingPunct="1"/>
              <a:r>
                <a:rPr kumimoji="0" lang="ko-KR" altLang="en-US" sz="800" dirty="0">
                  <a:solidFill>
                    <a:srgbClr val="00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미끄럼 방지</a:t>
              </a:r>
              <a:r>
                <a:rPr kumimoji="0" lang="en-US" altLang="ko-KR" sz="800" dirty="0">
                  <a:solidFill>
                    <a:srgbClr val="00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 </a:t>
              </a:r>
              <a:endParaRPr kumimoji="0" lang="ko-KR" altLang="en-US" sz="800" dirty="0">
                <a:solidFill>
                  <a:srgbClr val="000000"/>
                </a:solidFill>
                <a:latin typeface="LG스마트체2.0 SemiBold" panose="020B0600000101010101" charset="-127"/>
                <a:ea typeface="LG스마트체2.0 SemiBold" panose="020B0600000101010101" charset="-127"/>
              </a:endParaRPr>
            </a:p>
          </p:txBody>
        </p:sp>
        <p:cxnSp>
          <p:nvCxnSpPr>
            <p:cNvPr id="102" name="직선 화살표 연결선 101">
              <a:extLst>
                <a:ext uri="{FF2B5EF4-FFF2-40B4-BE49-F238E27FC236}">
                  <a16:creationId xmlns:a16="http://schemas.microsoft.com/office/drawing/2014/main" id="{EB4F14A7-FF57-4F05-B371-5D6AF153653F}"/>
                </a:ext>
              </a:extLst>
            </p:cNvPr>
            <p:cNvCxnSpPr/>
            <p:nvPr/>
          </p:nvCxnSpPr>
          <p:spPr>
            <a:xfrm flipH="1" flipV="1">
              <a:off x="6923753" y="3481807"/>
              <a:ext cx="237772" cy="10044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타원 102">
              <a:extLst>
                <a:ext uri="{FF2B5EF4-FFF2-40B4-BE49-F238E27FC236}">
                  <a16:creationId xmlns:a16="http://schemas.microsoft.com/office/drawing/2014/main" id="{1A60137E-ABD6-4733-8108-ED969137461D}"/>
                </a:ext>
              </a:extLst>
            </p:cNvPr>
            <p:cNvSpPr/>
            <p:nvPr/>
          </p:nvSpPr>
          <p:spPr>
            <a:xfrm>
              <a:off x="3235657" y="2627346"/>
              <a:ext cx="258762" cy="215900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2" tIns="45717" rIns="91432" bIns="45717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800" dirty="0">
                <a:solidFill>
                  <a:prstClr val="white"/>
                </a:solidFill>
                <a:latin typeface="LG스마트체2.0 SemiBold" panose="020B0600000101010101" charset="-127"/>
                <a:ea typeface="LG스마트체2.0 SemiBold" panose="020B0600000101010101" charset="-127"/>
              </a:endParaRPr>
            </a:p>
          </p:txBody>
        </p:sp>
        <p:cxnSp>
          <p:nvCxnSpPr>
            <p:cNvPr id="104" name="직선 화살표 연결선 103">
              <a:extLst>
                <a:ext uri="{FF2B5EF4-FFF2-40B4-BE49-F238E27FC236}">
                  <a16:creationId xmlns:a16="http://schemas.microsoft.com/office/drawing/2014/main" id="{094D00CA-F0C7-47CE-A0BD-F155243A2D60}"/>
                </a:ext>
              </a:extLst>
            </p:cNvPr>
            <p:cNvCxnSpPr/>
            <p:nvPr/>
          </p:nvCxnSpPr>
          <p:spPr>
            <a:xfrm rot="10800000">
              <a:off x="8267736" y="3786509"/>
              <a:ext cx="325438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TextBox 199">
              <a:extLst>
                <a:ext uri="{FF2B5EF4-FFF2-40B4-BE49-F238E27FC236}">
                  <a16:creationId xmlns:a16="http://schemas.microsoft.com/office/drawing/2014/main" id="{CF9918E8-8C58-4563-9878-C0B5754291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24018" y="3003329"/>
              <a:ext cx="623888" cy="33854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square" lIns="91432" tIns="45717" rIns="91432" bIns="45717">
              <a:spAutoFit/>
            </a:bodyPr>
            <a:lstStyle>
              <a:lvl1pPr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1pPr>
              <a:lvl2pPr marL="742950" indent="-28575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2pPr>
              <a:lvl3pPr marL="11430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3pPr>
              <a:lvl4pPr marL="16002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4pPr>
              <a:lvl5pPr marL="20574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9pPr>
            </a:lstStyle>
            <a:p>
              <a:pPr eaLnBrk="1" latinLnBrk="1" hangingPunct="1"/>
              <a:r>
                <a:rPr kumimoji="0" lang="en-US" altLang="ko-KR" sz="800" dirty="0">
                  <a:solidFill>
                    <a:srgbClr val="00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40cm</a:t>
              </a:r>
              <a:r>
                <a:rPr kumimoji="0" lang="ko-KR" altLang="en-US" sz="800" dirty="0">
                  <a:solidFill>
                    <a:srgbClr val="00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이상</a:t>
              </a:r>
            </a:p>
          </p:txBody>
        </p:sp>
        <p:sp>
          <p:nvSpPr>
            <p:cNvPr id="106" name="TextBox 220">
              <a:extLst>
                <a:ext uri="{FF2B5EF4-FFF2-40B4-BE49-F238E27FC236}">
                  <a16:creationId xmlns:a16="http://schemas.microsoft.com/office/drawing/2014/main" id="{0D3FCFEA-94E2-42C7-8C7F-D20B115BD6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2747" y="3475093"/>
              <a:ext cx="1116012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2" tIns="45717" rIns="91432" bIns="45717">
              <a:spAutoFit/>
            </a:bodyPr>
            <a:lstStyle>
              <a:lvl1pPr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1pPr>
              <a:lvl2pPr marL="742950" indent="-28575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2pPr>
              <a:lvl3pPr marL="11430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3pPr>
              <a:lvl4pPr marL="16002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4pPr>
              <a:lvl5pPr marL="20574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9pPr>
            </a:lstStyle>
            <a:p>
              <a:pPr eaLnBrk="1" latinLnBrk="1" hangingPunct="1"/>
              <a:r>
                <a:rPr kumimoji="0" lang="ko-KR" altLang="en-US" sz="800" dirty="0">
                  <a:solidFill>
                    <a:srgbClr val="00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동일한 간격</a:t>
              </a:r>
            </a:p>
          </p:txBody>
        </p:sp>
        <p:sp>
          <p:nvSpPr>
            <p:cNvPr id="107" name="TextBox 220">
              <a:extLst>
                <a:ext uri="{FF2B5EF4-FFF2-40B4-BE49-F238E27FC236}">
                  <a16:creationId xmlns:a16="http://schemas.microsoft.com/office/drawing/2014/main" id="{BFA1A982-1E23-4B08-B3D6-8D758016AA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92208" y="3842169"/>
              <a:ext cx="1116012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2" tIns="45717" rIns="91432" bIns="45717">
              <a:spAutoFit/>
            </a:bodyPr>
            <a:lstStyle>
              <a:lvl1pPr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1pPr>
              <a:lvl2pPr marL="742950" indent="-28575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2pPr>
              <a:lvl3pPr marL="11430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3pPr>
              <a:lvl4pPr marL="16002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4pPr>
              <a:lvl5pPr marL="20574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9pPr>
            </a:lstStyle>
            <a:p>
              <a:pPr eaLnBrk="1" latinLnBrk="1" hangingPunct="1"/>
              <a:r>
                <a:rPr kumimoji="0" lang="ko-KR" altLang="en-US" sz="800" dirty="0">
                  <a:solidFill>
                    <a:srgbClr val="00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동일한 간격</a:t>
              </a:r>
            </a:p>
          </p:txBody>
        </p:sp>
        <p:cxnSp>
          <p:nvCxnSpPr>
            <p:cNvPr id="108" name="직선 화살표 연결선 107">
              <a:extLst>
                <a:ext uri="{FF2B5EF4-FFF2-40B4-BE49-F238E27FC236}">
                  <a16:creationId xmlns:a16="http://schemas.microsoft.com/office/drawing/2014/main" id="{42654563-04A9-4CD6-BE15-AB9A1CD1A692}"/>
                </a:ext>
              </a:extLst>
            </p:cNvPr>
            <p:cNvCxnSpPr/>
            <p:nvPr/>
          </p:nvCxnSpPr>
          <p:spPr>
            <a:xfrm>
              <a:off x="6443058" y="3690564"/>
              <a:ext cx="5616" cy="573882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68">
              <a:extLst>
                <a:ext uri="{FF2B5EF4-FFF2-40B4-BE49-F238E27FC236}">
                  <a16:creationId xmlns:a16="http://schemas.microsoft.com/office/drawing/2014/main" id="{E471D2DE-2C02-4D17-BA2E-6DB1C2A498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12160" y="2744478"/>
              <a:ext cx="660476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32" tIns="45717" rIns="91432" bIns="45717">
              <a:spAutoFit/>
            </a:bodyPr>
            <a:lstStyle>
              <a:lvl1pPr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1pPr>
              <a:lvl2pPr marL="742950" indent="-28575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2pPr>
              <a:lvl3pPr marL="11430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3pPr>
              <a:lvl4pPr marL="16002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4pPr>
              <a:lvl5pPr marL="20574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9pPr>
            </a:lstStyle>
            <a:p>
              <a:pPr eaLnBrk="1" latinLnBrk="1" hangingPunct="1"/>
              <a:r>
                <a:rPr kumimoji="0" lang="ko-KR" altLang="en-US" sz="800" dirty="0">
                  <a:solidFill>
                    <a:srgbClr val="00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  최대</a:t>
              </a:r>
              <a:endParaRPr kumimoji="0" lang="en-US" altLang="ko-KR" sz="800" dirty="0">
                <a:solidFill>
                  <a:srgbClr val="000000"/>
                </a:solidFill>
                <a:latin typeface="LG스마트체2.0 SemiBold" panose="020B0600000101010101" charset="-127"/>
                <a:ea typeface="LG스마트체2.0 SemiBold" panose="020B0600000101010101" charset="-127"/>
              </a:endParaRPr>
            </a:p>
            <a:p>
              <a:pPr eaLnBrk="1" latinLnBrk="1" hangingPunct="1"/>
              <a:r>
                <a:rPr kumimoji="0" lang="ko-KR" altLang="en-US" sz="800" dirty="0">
                  <a:solidFill>
                    <a:srgbClr val="00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적재하중</a:t>
              </a:r>
            </a:p>
          </p:txBody>
        </p:sp>
        <p:sp>
          <p:nvSpPr>
            <p:cNvPr id="110" name="순서도: 수동 입력 109">
              <a:extLst>
                <a:ext uri="{FF2B5EF4-FFF2-40B4-BE49-F238E27FC236}">
                  <a16:creationId xmlns:a16="http://schemas.microsoft.com/office/drawing/2014/main" id="{5A4163D9-D02A-4AA4-8FD8-324BA0693C54}"/>
                </a:ext>
              </a:extLst>
            </p:cNvPr>
            <p:cNvSpPr/>
            <p:nvPr/>
          </p:nvSpPr>
          <p:spPr>
            <a:xfrm rot="5400000" flipH="1">
              <a:off x="6683865" y="2773024"/>
              <a:ext cx="152400" cy="227012"/>
            </a:xfrm>
            <a:prstGeom prst="flowChartManualInpu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2" tIns="45717" rIns="91432" bIns="45717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800" dirty="0">
                <a:solidFill>
                  <a:prstClr val="white"/>
                </a:solidFill>
                <a:latin typeface="LG스마트체2.0 SemiBold" panose="020B0600000101010101" charset="-127"/>
                <a:ea typeface="LG스마트체2.0 SemiBold" panose="020B0600000101010101" charset="-127"/>
              </a:endParaRPr>
            </a:p>
          </p:txBody>
        </p:sp>
        <p:cxnSp>
          <p:nvCxnSpPr>
            <p:cNvPr id="111" name="직선 화살표 연결선 110">
              <a:extLst>
                <a:ext uri="{FF2B5EF4-FFF2-40B4-BE49-F238E27FC236}">
                  <a16:creationId xmlns:a16="http://schemas.microsoft.com/office/drawing/2014/main" id="{789025E7-A24D-45A5-85B2-DC3A9A49D82F}"/>
                </a:ext>
              </a:extLst>
            </p:cNvPr>
            <p:cNvCxnSpPr/>
            <p:nvPr/>
          </p:nvCxnSpPr>
          <p:spPr>
            <a:xfrm>
              <a:off x="6873571" y="2870149"/>
              <a:ext cx="25908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F7583ADD-375E-4D8F-AFCE-6D61A1338337}"/>
                </a:ext>
              </a:extLst>
            </p:cNvPr>
            <p:cNvSpPr txBox="1"/>
            <p:nvPr/>
          </p:nvSpPr>
          <p:spPr>
            <a:xfrm>
              <a:off x="6503684" y="2743277"/>
              <a:ext cx="4613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rgbClr val="FF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100kg</a:t>
              </a:r>
            </a:p>
            <a:p>
              <a:pPr algn="ctr"/>
              <a:r>
                <a:rPr lang="en-US" altLang="ko-KR" sz="700" dirty="0">
                  <a:solidFill>
                    <a:srgbClr val="FF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 </a:t>
              </a:r>
              <a:r>
                <a:rPr lang="ko-KR" altLang="en-US" sz="700" dirty="0">
                  <a:solidFill>
                    <a:srgbClr val="FF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이하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374FD2B8-3949-431A-8FE0-B6B692780DA2}"/>
                </a:ext>
              </a:extLst>
            </p:cNvPr>
            <p:cNvSpPr txBox="1"/>
            <p:nvPr/>
          </p:nvSpPr>
          <p:spPr>
            <a:xfrm>
              <a:off x="8266038" y="3370050"/>
              <a:ext cx="4613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rgbClr val="FF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250kg</a:t>
              </a:r>
            </a:p>
            <a:p>
              <a:pPr algn="ctr"/>
              <a:r>
                <a:rPr lang="en-US" altLang="ko-KR" sz="700" dirty="0">
                  <a:solidFill>
                    <a:srgbClr val="FF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 </a:t>
              </a:r>
              <a:r>
                <a:rPr lang="ko-KR" altLang="en-US" sz="700" dirty="0">
                  <a:solidFill>
                    <a:srgbClr val="FF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이하</a:t>
              </a:r>
            </a:p>
          </p:txBody>
        </p:sp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CBBEAE89-36F1-474E-959F-8922ECB6BD06}"/>
                </a:ext>
              </a:extLst>
            </p:cNvPr>
            <p:cNvSpPr/>
            <p:nvPr/>
          </p:nvSpPr>
          <p:spPr>
            <a:xfrm rot="278717">
              <a:off x="6056694" y="3733787"/>
              <a:ext cx="258762" cy="710998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2" tIns="45717" rIns="91432" bIns="45717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800" dirty="0">
                <a:solidFill>
                  <a:prstClr val="white"/>
                </a:solidFill>
                <a:latin typeface="LG스마트체2.0 SemiBold" panose="020B0600000101010101" charset="-127"/>
                <a:ea typeface="LG스마트체2.0 SemiBold" panose="020B0600000101010101" charset="-127"/>
              </a:endParaRPr>
            </a:p>
          </p:txBody>
        </p:sp>
        <p:cxnSp>
          <p:nvCxnSpPr>
            <p:cNvPr id="115" name="직선 화살표 연결선 114">
              <a:extLst>
                <a:ext uri="{FF2B5EF4-FFF2-40B4-BE49-F238E27FC236}">
                  <a16:creationId xmlns:a16="http://schemas.microsoft.com/office/drawing/2014/main" id="{DACC4AD2-51BB-4F4C-B649-A025B8125681}"/>
                </a:ext>
              </a:extLst>
            </p:cNvPr>
            <p:cNvCxnSpPr/>
            <p:nvPr/>
          </p:nvCxnSpPr>
          <p:spPr>
            <a:xfrm flipH="1">
              <a:off x="5853416" y="4041870"/>
              <a:ext cx="20845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Box 225">
              <a:extLst>
                <a:ext uri="{FF2B5EF4-FFF2-40B4-BE49-F238E27FC236}">
                  <a16:creationId xmlns:a16="http://schemas.microsoft.com/office/drawing/2014/main" id="{5A7A2C33-21DE-4C81-A445-DA654CA886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7470" y="3935370"/>
              <a:ext cx="803275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2" tIns="45717" rIns="91432" bIns="45717">
              <a:spAutoFit/>
            </a:bodyPr>
            <a:lstStyle>
              <a:lvl1pPr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1pPr>
              <a:lvl2pPr marL="742950" indent="-28575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2pPr>
              <a:lvl3pPr marL="11430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3pPr>
              <a:lvl4pPr marL="16002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4pPr>
              <a:lvl5pPr marL="2057400" indent="-228600"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9pPr>
            </a:lstStyle>
            <a:p>
              <a:pPr eaLnBrk="1" latinLnBrk="1" hangingPunct="1"/>
              <a:r>
                <a:rPr kumimoji="0" lang="ko-KR" altLang="en-US" sz="800">
                  <a:solidFill>
                    <a:srgbClr val="00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 버팀대</a:t>
              </a:r>
              <a:r>
                <a:rPr kumimoji="0" lang="en-US" altLang="ko-KR" sz="800" dirty="0">
                  <a:solidFill>
                    <a:srgbClr val="000000"/>
                  </a:solidFill>
                  <a:latin typeface="LG스마트체2.0 SemiBold" panose="020B0600000101010101" charset="-127"/>
                  <a:ea typeface="LG스마트체2.0 SemiBold" panose="020B0600000101010101" charset="-127"/>
                </a:rPr>
                <a:t> </a:t>
              </a:r>
              <a:endParaRPr kumimoji="0" lang="ko-KR" altLang="en-US" sz="800" dirty="0">
                <a:solidFill>
                  <a:srgbClr val="000000"/>
                </a:solidFill>
                <a:latin typeface="LG스마트체2.0 SemiBold" panose="020B0600000101010101" charset="-127"/>
                <a:ea typeface="LG스마트체2.0 SemiBold" panose="020B0600000101010101" charset="-127"/>
              </a:endParaRPr>
            </a:p>
          </p:txBody>
        </p: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2FA7CC33-3F64-4054-8F8C-CD60F9E20696}"/>
              </a:ext>
            </a:extLst>
          </p:cNvPr>
          <p:cNvSpPr txBox="1"/>
          <p:nvPr/>
        </p:nvSpPr>
        <p:spPr>
          <a:xfrm>
            <a:off x="632048" y="1048367"/>
            <a:ext cx="48058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82"/>
              </a:spcBef>
            </a:pPr>
            <a:r>
              <a:rPr lang="en-US" altLang="ko-KR" sz="1600" b="1" dirty="0">
                <a:latin typeface="LG스마트체2.0 SemiBold" panose="020B0600000101010101" charset="-127"/>
                <a:ea typeface="LG스마트체2.0 SemiBold" panose="020B0600000101010101" charset="-127"/>
              </a:rPr>
              <a:t>※ </a:t>
            </a:r>
            <a:r>
              <a:rPr lang="ko-KR" altLang="en-US" sz="1600" b="1" dirty="0">
                <a:latin typeface="LG스마트체2.0 SemiBold" panose="020B0600000101010101" charset="-127"/>
                <a:ea typeface="LG스마트체2.0 SemiBold" panose="020B0600000101010101" charset="-127"/>
              </a:rPr>
              <a:t>이동식사다리</a:t>
            </a:r>
            <a:r>
              <a:rPr lang="en-US" altLang="ko-KR" sz="1600" b="1" dirty="0">
                <a:latin typeface="LG스마트체2.0 SemiBold" panose="020B0600000101010101" charset="-127"/>
                <a:ea typeface="LG스마트체2.0 SemiBold" panose="020B0600000101010101" charset="-127"/>
              </a:rPr>
              <a:t>, </a:t>
            </a:r>
            <a:r>
              <a:rPr lang="ko-KR" altLang="en-US" sz="1600" b="1" dirty="0" err="1">
                <a:latin typeface="LG스마트체2.0 SemiBold" panose="020B0600000101010101" charset="-127"/>
                <a:ea typeface="LG스마트체2.0 SemiBold" panose="020B0600000101010101" charset="-127"/>
              </a:rPr>
              <a:t>말비계</a:t>
            </a:r>
            <a:r>
              <a:rPr lang="en-US" altLang="ko-KR" sz="1600" b="1" dirty="0">
                <a:latin typeface="LG스마트체2.0 SemiBold" panose="020B0600000101010101" charset="-127"/>
                <a:ea typeface="LG스마트체2.0 SemiBold" panose="020B0600000101010101" charset="-127"/>
              </a:rPr>
              <a:t>, </a:t>
            </a:r>
            <a:r>
              <a:rPr lang="ko-KR" altLang="en-US" sz="1600" b="1" dirty="0" err="1">
                <a:latin typeface="LG스마트체2.0 SemiBold" panose="020B0600000101010101" charset="-127"/>
                <a:ea typeface="LG스마트체2.0 SemiBold" panose="020B0600000101010101" charset="-127"/>
              </a:rPr>
              <a:t>이동식비계</a:t>
            </a:r>
            <a:r>
              <a:rPr lang="ko-KR" altLang="en-US" sz="1600" b="1" dirty="0">
                <a:latin typeface="LG스마트체2.0 SemiBold" panose="020B0600000101010101" charset="-127"/>
                <a:ea typeface="LG스마트체2.0 SemiBold" panose="020B0600000101010101" charset="-127"/>
              </a:rPr>
              <a:t> 사용 기준</a:t>
            </a:r>
            <a:endParaRPr lang="en-US" altLang="ko-KR" sz="16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752786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1"/>
          <p:cNvSpPr>
            <a:spLocks noGrp="1"/>
          </p:cNvSpPr>
          <p:nvPr>
            <p:ph sz="quarter" idx="13"/>
          </p:nvPr>
        </p:nvSpPr>
        <p:spPr>
          <a:xfrm>
            <a:off x="407865" y="285862"/>
            <a:ext cx="4350567" cy="429767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작업 프로그램</a:t>
            </a:r>
          </a:p>
        </p:txBody>
      </p:sp>
      <p:sp>
        <p:nvSpPr>
          <p:cNvPr id="16" name="내용 개체 틀 2"/>
          <p:cNvSpPr>
            <a:spLocks noGrp="1"/>
          </p:cNvSpPr>
          <p:nvPr>
            <p:ph sz="quarter" idx="14"/>
          </p:nvPr>
        </p:nvSpPr>
        <p:spPr>
          <a:xfrm>
            <a:off x="6031807" y="431974"/>
            <a:ext cx="4350567" cy="321940"/>
          </a:xfrm>
        </p:spPr>
        <p:txBody>
          <a:bodyPr>
            <a:normAutofit lnSpcReduction="10000"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보호구의 사용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486158" y="1109598"/>
            <a:ext cx="9613069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9.2 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사용장소 및 사용방법</a:t>
            </a: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4212" y="1473994"/>
            <a:ext cx="3096344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○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공기 호흡기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1146994" y="1896517"/>
            <a:ext cx="8664202" cy="14927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1)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착용해야 할 장소</a:t>
            </a: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/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밀폐장소 출입 </a:t>
            </a:r>
            <a:r>
              <a:rPr lang="ko-KR" altLang="en-US" sz="13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작업시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다음과 같이 환기할 수 없거나 환기가 불충분한 경우로서 단기간 작업이 가능한 경우에는 </a:t>
            </a:r>
            <a:b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공기호흡기를 반드시 착용하고 출입하며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고농도의 유기화합물 증기가 예상되는 경우 등에는 방독마스크를 착용</a:t>
            </a:r>
            <a:b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하지 않는다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lang="ko-KR" altLang="en-US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/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① 수도나 도수관 등으로 깊은 곳까지 환기가 되지 않는 경우</a:t>
            </a:r>
          </a:p>
          <a:p>
            <a:pPr latinLnBrk="1"/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② 탱크와 화학설비 및 선박의 내부 등 구조적으로 충분히 환기시킬 수 없는 경우</a:t>
            </a:r>
          </a:p>
          <a:p>
            <a:pPr latinLnBrk="1"/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③ 재해사고시의 구조 등과 같이 충분히 환기시킬 시간적인 여유가 없는 경우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1146994" y="3778250"/>
            <a:ext cx="9546406" cy="3093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2)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공기호흡기의 점검사항 및 사용방법</a:t>
            </a:r>
          </a:p>
          <a:p>
            <a:pPr latinLnBrk="1"/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/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2.1)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사용전의 점검사항</a:t>
            </a:r>
          </a:p>
          <a:p>
            <a:pPr latinLnBrk="1"/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① 산소 용기압력의 </a:t>
            </a:r>
            <a:r>
              <a:rPr lang="ko-KR" altLang="en-US" sz="13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잔류압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검사 </a:t>
            </a:r>
          </a:p>
          <a:p>
            <a:pPr latinLnBrk="1"/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② 고압연결부의 검사</a:t>
            </a:r>
          </a:p>
          <a:p>
            <a:pPr latinLnBrk="1"/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③ </a:t>
            </a:r>
            <a:r>
              <a:rPr lang="ko-KR" altLang="en-US" sz="13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면체와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3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흡기관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및 호기밸브의 기밀검사</a:t>
            </a:r>
          </a:p>
          <a:p>
            <a:pPr latinLnBrk="1"/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④ </a:t>
            </a:r>
            <a:r>
              <a:rPr lang="ko-KR" altLang="en-US" sz="13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폐력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밸브와 압력계 및 경보기의 동작검사 </a:t>
            </a:r>
          </a:p>
          <a:p>
            <a:pPr latinLnBrk="1"/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</a:t>
            </a:r>
          </a:p>
          <a:p>
            <a:pPr latinLnBrk="1"/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2.2)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공기호흡기의 사용법  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(22p.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그림참고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ko-KR" altLang="en-US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/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① 공기호흡기를 등에 지고 겨드랑이 끈을 당겨서 조정한다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다음으로 </a:t>
            </a:r>
            <a:r>
              <a:rPr lang="ko-KR" altLang="en-US" sz="13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가슴끈과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허리끈을 몸에 꽉 맞게 조정한다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lang="ko-KR" altLang="en-US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/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② 마스크를 쓰게 되면 좌우 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개의 끈을 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조씩 동시에 당겨서 밀착시킨다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lang="ko-KR" altLang="en-US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/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③ </a:t>
            </a:r>
            <a:r>
              <a:rPr lang="ko-KR" altLang="en-US" sz="13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흡기관을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3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두겹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3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으로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강하게 잡고 숨을 들이쉬어 기밀을 확인한다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lang="ko-KR" altLang="en-US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/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④ 압력계의 지시치가 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30Kg/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㎠ 이하로 내려가거나 경보기가 울리게 되면 곧바로 작업을 중지하고 유해가스가 없는</a:t>
            </a:r>
            <a:b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안전한 위치로 되돌아온다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lang="ko-KR" altLang="en-US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/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⑤ 안전한 위치로 되돌아오면 마스크를 벗고 공기탱크를 교환한다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용기의 교환 시에는 </a:t>
            </a:r>
            <a:r>
              <a:rPr lang="ko-KR" altLang="en-US" sz="13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잔류압을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확인한다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lang="ko-KR" altLang="en-US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045440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1"/>
          <p:cNvSpPr>
            <a:spLocks noGrp="1"/>
          </p:cNvSpPr>
          <p:nvPr>
            <p:ph sz="quarter" idx="13"/>
          </p:nvPr>
        </p:nvSpPr>
        <p:spPr>
          <a:xfrm>
            <a:off x="407865" y="285862"/>
            <a:ext cx="4350567" cy="429767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작업 프로그램</a:t>
            </a:r>
          </a:p>
        </p:txBody>
      </p:sp>
      <p:sp>
        <p:nvSpPr>
          <p:cNvPr id="16" name="내용 개체 틀 2"/>
          <p:cNvSpPr>
            <a:spLocks noGrp="1"/>
          </p:cNvSpPr>
          <p:nvPr>
            <p:ph sz="quarter" idx="14"/>
          </p:nvPr>
        </p:nvSpPr>
        <p:spPr>
          <a:xfrm>
            <a:off x="6031807" y="431974"/>
            <a:ext cx="4350567" cy="321940"/>
          </a:xfrm>
        </p:spPr>
        <p:txBody>
          <a:bodyPr>
            <a:normAutofit lnSpcReduction="10000"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보호구의 사용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486158" y="1109598"/>
            <a:ext cx="9613069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공기호흡기의 구조</a:t>
            </a: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212" y="1690018"/>
            <a:ext cx="8640960" cy="487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8513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1"/>
          <p:cNvSpPr>
            <a:spLocks noGrp="1"/>
          </p:cNvSpPr>
          <p:nvPr>
            <p:ph sz="quarter" idx="13"/>
          </p:nvPr>
        </p:nvSpPr>
        <p:spPr>
          <a:xfrm>
            <a:off x="407865" y="285862"/>
            <a:ext cx="4350567" cy="429767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작업 프로그램</a:t>
            </a:r>
          </a:p>
        </p:txBody>
      </p:sp>
      <p:sp>
        <p:nvSpPr>
          <p:cNvPr id="16" name="내용 개체 틀 2"/>
          <p:cNvSpPr>
            <a:spLocks noGrp="1"/>
          </p:cNvSpPr>
          <p:nvPr>
            <p:ph sz="quarter" idx="14"/>
          </p:nvPr>
        </p:nvSpPr>
        <p:spPr>
          <a:xfrm>
            <a:off x="6031807" y="431974"/>
            <a:ext cx="4350567" cy="321940"/>
          </a:xfrm>
        </p:spPr>
        <p:txBody>
          <a:bodyPr>
            <a:normAutofit lnSpcReduction="10000"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보호구의 사용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486158" y="1109598"/>
            <a:ext cx="9613069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공기호흡기의 사용방법</a:t>
            </a: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868" y="1618010"/>
            <a:ext cx="10058400" cy="509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1297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1"/>
          <p:cNvSpPr>
            <a:spLocks noGrp="1"/>
          </p:cNvSpPr>
          <p:nvPr>
            <p:ph sz="quarter" idx="13"/>
          </p:nvPr>
        </p:nvSpPr>
        <p:spPr>
          <a:xfrm>
            <a:off x="407865" y="285862"/>
            <a:ext cx="4350567" cy="429767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작업 프로그램</a:t>
            </a:r>
          </a:p>
        </p:txBody>
      </p:sp>
      <p:sp>
        <p:nvSpPr>
          <p:cNvPr id="16" name="내용 개체 틀 2"/>
          <p:cNvSpPr>
            <a:spLocks noGrp="1"/>
          </p:cNvSpPr>
          <p:nvPr>
            <p:ph sz="quarter" idx="14"/>
          </p:nvPr>
        </p:nvSpPr>
        <p:spPr>
          <a:xfrm>
            <a:off x="6031807" y="431974"/>
            <a:ext cx="4350567" cy="321940"/>
          </a:xfrm>
        </p:spPr>
        <p:txBody>
          <a:bodyPr>
            <a:normAutofit lnSpcReduction="10000"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보호구의 사용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954212" y="1401986"/>
            <a:ext cx="921702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○ </a:t>
            </a:r>
            <a:r>
              <a:rPr lang="ko-KR" altLang="en-US" sz="13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송기마스크</a:t>
            </a:r>
            <a:endParaRPr lang="en-US" altLang="ko-KR" sz="13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</a:t>
            </a:r>
            <a:r>
              <a:rPr lang="ko-KR" altLang="en-US" sz="13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송기마스크는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활동범위에 제한을 받고 있지만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가볍고 유효사용 시간이 길어지므로 일정한 장소에서의 장시간 작업에 </a:t>
            </a:r>
            <a:b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주로 이용한다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endParaRPr lang="ko-KR" altLang="en-US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146994" y="2266082"/>
            <a:ext cx="9672314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1)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전동 송풍기식 호스마스크 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보편적 많이 사용되는 종류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 latinLnBrk="1"/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① 송풍기는 유해가스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악취 및 먼지가 없는 장소에 설치한다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pPr latinLnBrk="1"/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②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전동 송풍기는 장시간 운전하면 필터에 먼지가 끼므로 정기적으로 점검한다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pPr latinLnBrk="1"/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③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전동 송풍기를 사용할 때에는 접속전원이 단절되지 않도록 코드 플러그에 반드시 “</a:t>
            </a:r>
            <a:r>
              <a:rPr lang="ko-KR" altLang="en-US" sz="13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송기마스크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사용 중” 이란 표시를 한다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pPr latinLnBrk="1"/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④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전동 송풍기는 통상적으로 </a:t>
            </a:r>
            <a:r>
              <a:rPr lang="ko-KR" altLang="en-US" sz="13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방폭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구조가 아니므로 폭발하한을 초과할 우려가 있는 장소에서는 사용하지 않는다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pPr latinLnBrk="1"/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⑤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정전 등으로 인해 공기공급이 중단되는 경우에 대비한다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lang="ko-KR" altLang="en-US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146994" y="3778250"/>
            <a:ext cx="9240266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2)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에어라인 마스크</a:t>
            </a:r>
          </a:p>
          <a:p>
            <a:pPr latinLnBrk="1"/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전동 송풍기식에 비하여 상당히 먼 곳까지 </a:t>
            </a:r>
            <a:r>
              <a:rPr lang="ko-KR" altLang="en-US" sz="13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송기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할 수 있으며 </a:t>
            </a:r>
            <a:r>
              <a:rPr lang="ko-KR" altLang="en-US" sz="13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송기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호스가 가늘고 활동하기도 용이하므로 유해가스가 </a:t>
            </a:r>
            <a:b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발생되는 장소에서 주로 사용한다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pPr latinLnBrk="1"/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① 공급되는 공기중의 분진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오일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수분 등을 제거하기 위하여 에어라인에 여과장치를 설치한다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pPr latinLnBrk="1"/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②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정전 등으로 인해 공기공급이 중단되는 경우에 대비한다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954212" y="5362426"/>
            <a:ext cx="9361040" cy="96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○ 안전보호구</a:t>
            </a:r>
            <a:endParaRPr lang="en-US" altLang="ko-KR" sz="13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탱크나 맨홀과 같이 사다리를 사용하여 내부로 내려가야 하는 경우에는 </a:t>
            </a:r>
            <a:r>
              <a:rPr lang="ko-KR" altLang="en-US" sz="13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안전대나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기타 구명밧줄 등을 사용하여 안전을 </a:t>
            </a:r>
            <a:b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확보한다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비상시에 작업자를 피난시키거나 구출하기 위하여 </a:t>
            </a:r>
            <a:r>
              <a:rPr lang="ko-KR" altLang="en-US" sz="13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안전대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사다리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구명밧줄 등 필요한 용구를 준비하고 이것의  </a:t>
            </a:r>
            <a:b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사용방법을 작업자에게 숙지하도록 한다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endParaRPr lang="ko-KR" altLang="en-US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25822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1"/>
          <p:cNvSpPr>
            <a:spLocks noGrp="1"/>
          </p:cNvSpPr>
          <p:nvPr>
            <p:ph sz="quarter" idx="13"/>
          </p:nvPr>
        </p:nvSpPr>
        <p:spPr>
          <a:xfrm>
            <a:off x="407865" y="285862"/>
            <a:ext cx="4350567" cy="429767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작업 프로그램</a:t>
            </a:r>
          </a:p>
        </p:txBody>
      </p:sp>
      <p:sp>
        <p:nvSpPr>
          <p:cNvPr id="16" name="내용 개체 틀 2"/>
          <p:cNvSpPr>
            <a:spLocks noGrp="1"/>
          </p:cNvSpPr>
          <p:nvPr>
            <p:ph sz="quarter" idx="14"/>
          </p:nvPr>
        </p:nvSpPr>
        <p:spPr>
          <a:xfrm>
            <a:off x="6031807" y="431974"/>
            <a:ext cx="4350567" cy="321940"/>
          </a:xfrm>
        </p:spPr>
        <p:txBody>
          <a:bodyPr>
            <a:normAutofit lnSpcReduction="10000"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보호구의 사용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486158" y="1109598"/>
            <a:ext cx="9613069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전동 송풍기의 구조</a:t>
            </a: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20"/>
          <a:stretch/>
        </p:blipFill>
        <p:spPr>
          <a:xfrm>
            <a:off x="1506504" y="1509998"/>
            <a:ext cx="7572375" cy="5675806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6426820" y="6190518"/>
            <a:ext cx="3348372" cy="6776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503" b="89430" l="48176" r="90189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6503" y="1498979"/>
            <a:ext cx="7572375" cy="567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0448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1"/>
          <p:cNvSpPr>
            <a:spLocks noGrp="1"/>
          </p:cNvSpPr>
          <p:nvPr>
            <p:ph sz="quarter" idx="13"/>
          </p:nvPr>
        </p:nvSpPr>
        <p:spPr>
          <a:xfrm>
            <a:off x="407865" y="285862"/>
            <a:ext cx="4350567" cy="429767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작업 프로그램</a:t>
            </a:r>
          </a:p>
        </p:txBody>
      </p:sp>
      <p:sp>
        <p:nvSpPr>
          <p:cNvPr id="16" name="내용 개체 틀 2"/>
          <p:cNvSpPr>
            <a:spLocks noGrp="1"/>
          </p:cNvSpPr>
          <p:nvPr>
            <p:ph sz="quarter" idx="14"/>
          </p:nvPr>
        </p:nvSpPr>
        <p:spPr>
          <a:xfrm>
            <a:off x="6031807" y="431974"/>
            <a:ext cx="4350567" cy="321940"/>
          </a:xfrm>
        </p:spPr>
        <p:txBody>
          <a:bodyPr>
            <a:normAutofit lnSpcReduction="10000"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보호구의 사용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486158" y="1217610"/>
            <a:ext cx="9613069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전동 송풍기의 사용 전 점검 사항 및 사용 방법</a:t>
            </a: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" r="72776" b="75000"/>
          <a:stretch/>
        </p:blipFill>
        <p:spPr>
          <a:xfrm>
            <a:off x="1026220" y="1891340"/>
            <a:ext cx="1666123" cy="1309097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4" t="25758" r="72775" b="50000"/>
          <a:stretch/>
        </p:blipFill>
        <p:spPr>
          <a:xfrm>
            <a:off x="2826420" y="1933990"/>
            <a:ext cx="1666123" cy="1269427"/>
          </a:xfrm>
          <a:prstGeom prst="rect">
            <a:avLst/>
          </a:prstGeom>
        </p:spPr>
      </p:pic>
      <p:pic>
        <p:nvPicPr>
          <p:cNvPr id="29" name="그림 2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" t="50757" r="72775" b="25001"/>
          <a:stretch/>
        </p:blipFill>
        <p:spPr>
          <a:xfrm>
            <a:off x="4652685" y="1933990"/>
            <a:ext cx="1666123" cy="1269427"/>
          </a:xfrm>
          <a:prstGeom prst="rect">
            <a:avLst/>
          </a:prstGeom>
        </p:spPr>
      </p:pic>
      <p:pic>
        <p:nvPicPr>
          <p:cNvPr id="30" name="그림 2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" t="75758" r="72776"/>
          <a:stretch/>
        </p:blipFill>
        <p:spPr>
          <a:xfrm>
            <a:off x="6488889" y="1942045"/>
            <a:ext cx="1666123" cy="1269427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8" t="2119" r="67840" b="25433"/>
          <a:stretch/>
        </p:blipFill>
        <p:spPr>
          <a:xfrm>
            <a:off x="8337301" y="1933991"/>
            <a:ext cx="1653915" cy="1252447"/>
          </a:xfrm>
          <a:prstGeom prst="rect">
            <a:avLst/>
          </a:prstGeom>
        </p:spPr>
      </p:pic>
      <p:sp>
        <p:nvSpPr>
          <p:cNvPr id="3" name="오른쪽 화살표 2"/>
          <p:cNvSpPr/>
          <p:nvPr/>
        </p:nvSpPr>
        <p:spPr>
          <a:xfrm>
            <a:off x="2682404" y="2410098"/>
            <a:ext cx="168393" cy="216024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3" name="오른쪽 화살표 32"/>
          <p:cNvSpPr/>
          <p:nvPr/>
        </p:nvSpPr>
        <p:spPr>
          <a:xfrm>
            <a:off x="4494231" y="2410098"/>
            <a:ext cx="168393" cy="216024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4" name="오른쪽 화살표 33"/>
          <p:cNvSpPr/>
          <p:nvPr/>
        </p:nvSpPr>
        <p:spPr>
          <a:xfrm>
            <a:off x="6318808" y="2410098"/>
            <a:ext cx="168393" cy="216024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5" name="오른쪽 화살표 34"/>
          <p:cNvSpPr/>
          <p:nvPr/>
        </p:nvSpPr>
        <p:spPr>
          <a:xfrm>
            <a:off x="8155012" y="2410098"/>
            <a:ext cx="168393" cy="216024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1146994" y="3965525"/>
            <a:ext cx="9546406" cy="2693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1)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전동 송풍기의 점검사항</a:t>
            </a:r>
          </a:p>
          <a:p>
            <a:pPr latinLnBrk="1"/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① </a:t>
            </a:r>
            <a:r>
              <a:rPr lang="ko-KR" altLang="en-US" sz="13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안면부와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주름호스를 결합</a:t>
            </a: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/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② 주름호스와 </a:t>
            </a:r>
            <a:r>
              <a:rPr lang="ko-KR" altLang="en-US" sz="13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연결구를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결합</a:t>
            </a:r>
          </a:p>
          <a:p>
            <a:pPr latinLnBrk="1"/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③ 유량조절밸브 및 연결호스를 결합</a:t>
            </a:r>
          </a:p>
          <a:p>
            <a:pPr latinLnBrk="1"/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④ 연결호스 및 송풍기를 결합</a:t>
            </a: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/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⑤ 필터를 교환 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필요 시 송풍기 내부필터를 교환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ko-KR" altLang="en-US" sz="16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/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</a:t>
            </a:r>
          </a:p>
          <a:p>
            <a:pPr latinLnBrk="1"/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2)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전동 송풍기의 사용방법</a:t>
            </a:r>
          </a:p>
          <a:p>
            <a:pPr latinLnBrk="1"/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① 송풍기를 켜고 공기가 공급되고 있는지 작동상태를 확인한다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pPr latinLnBrk="1"/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② </a:t>
            </a:r>
            <a:r>
              <a:rPr lang="ko-KR" altLang="en-US" sz="13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장착대를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착용하고 </a:t>
            </a:r>
            <a:r>
              <a:rPr lang="ko-KR" altLang="en-US" sz="13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가슴끈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및 허리끈을 몸에 맞게 조절 한다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lang="ko-KR" altLang="en-US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/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③ 휴대주머니에서 연결호스를 꺼내어 인원수에 맞게 각자 송풍기와 공기조절 </a:t>
            </a:r>
            <a:r>
              <a:rPr lang="ko-KR" altLang="en-US" sz="13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연결부에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조인다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lang="ko-KR" altLang="en-US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/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④ </a:t>
            </a:r>
            <a:r>
              <a:rPr lang="ko-KR" altLang="en-US" sz="13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안면부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착용 시 공기 공급여부를 확인한다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lang="ko-KR" altLang="en-US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/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⑤ 인원수에 맞게 송풍기 후면의 스위치를 조작하여 적당한 </a:t>
            </a:r>
            <a:r>
              <a:rPr lang="ko-KR" altLang="en-US" sz="13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풍량이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되도록 한다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lang="ko-KR" altLang="en-US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17272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1"/>
          <p:cNvSpPr>
            <a:spLocks noGrp="1"/>
          </p:cNvSpPr>
          <p:nvPr>
            <p:ph sz="quarter" idx="13"/>
          </p:nvPr>
        </p:nvSpPr>
        <p:spPr>
          <a:xfrm>
            <a:off x="407865" y="285862"/>
            <a:ext cx="4350567" cy="429767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작업 프로그램</a:t>
            </a:r>
          </a:p>
        </p:txBody>
      </p:sp>
      <p:sp>
        <p:nvSpPr>
          <p:cNvPr id="16" name="내용 개체 틀 2"/>
          <p:cNvSpPr>
            <a:spLocks noGrp="1"/>
          </p:cNvSpPr>
          <p:nvPr>
            <p:ph sz="quarter" idx="14"/>
          </p:nvPr>
        </p:nvSpPr>
        <p:spPr>
          <a:xfrm>
            <a:off x="6031807" y="431974"/>
            <a:ext cx="4350567" cy="321940"/>
          </a:xfrm>
        </p:spPr>
        <p:txBody>
          <a:bodyPr>
            <a:normAutofit lnSpcReduction="10000"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응급처치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378148" y="933934"/>
            <a:ext cx="928903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10. 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응급처치</a:t>
            </a:r>
            <a:endParaRPr lang="en-US" altLang="ko-KR" sz="13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78148" y="1204424"/>
            <a:ext cx="10009112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응급 재해 발생시 병원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119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구조대와 연락할 수 있는 비상연락체계를 다음과 같이 구성한다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pPr latinLnBrk="1">
              <a:spcBef>
                <a:spcPts val="600"/>
              </a:spcBef>
            </a:pP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6887784"/>
              </p:ext>
            </p:extLst>
          </p:nvPr>
        </p:nvGraphicFramePr>
        <p:xfrm>
          <a:off x="868202" y="2197315"/>
          <a:ext cx="8654962" cy="3942798"/>
        </p:xfrm>
        <a:graphic>
          <a:graphicData uri="http://schemas.openxmlformats.org/drawingml/2006/table">
            <a:tbl>
              <a:tblPr/>
              <a:tblGrid>
                <a:gridCol w="1107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907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4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60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56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69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17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0667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추진팀</a:t>
                      </a: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연락처</a:t>
                      </a:r>
                    </a:p>
                  </a:txBody>
                  <a:tcPr marL="17907" marR="17907" marT="17907" marB="17907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인근병원 연락처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구조대 연락처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유관기관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74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프로그램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총괄자</a:t>
                      </a:r>
                      <a:endParaRPr lang="en-US" altLang="ko-KR" sz="1200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센터장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아무개</a:t>
                      </a:r>
                      <a:endParaRPr lang="en-US" altLang="ko-KR" sz="12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(010-xxxx-xxxx)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서울병원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02-xxxx-xxxx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긴급전화 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119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노동관서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 err="1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Xxxx-xxxx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74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프로그램 관리자</a:t>
                      </a:r>
                    </a:p>
                  </a:txBody>
                  <a:tcPr marL="17907" marR="17907" marT="17907" marB="17907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  <a:endParaRPr lang="en-US" altLang="ko-KR" sz="12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ctr" defTabSz="914446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(010-xxxx-xxxx)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74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관리감독자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  <a:endParaRPr lang="en-US" altLang="ko-KR" sz="12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(010-xxxx-xxxx)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명동병원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46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02-xxxx-xxxx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관 내</a:t>
                      </a: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소방서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46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02-xxxx</a:t>
                      </a:r>
                    </a:p>
                    <a:p>
                      <a:pPr marL="0" marR="0" lvl="0" indent="0" algn="ctr" defTabSz="914446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-xxxx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안전보건공단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 err="1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Xxxx-xxxx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74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관리감독자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  <a:endParaRPr lang="en-US" altLang="ko-KR" sz="12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(010-xxxx-xxxx)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874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관리감독자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  <a:endParaRPr lang="en-US" altLang="ko-KR" sz="12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(010-xxxx-xxxx)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○○병원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경찰서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112 or</a:t>
                      </a: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02-xxxx-xxxx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74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기타 관련자</a:t>
                      </a:r>
                    </a:p>
                  </a:txBody>
                  <a:tcPr marL="17907" marR="17907" marT="17907" marB="17907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332867" y="1919014"/>
            <a:ext cx="31902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lang="ko-KR" altLang="en-US" sz="12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당사 보고는 </a:t>
            </a:r>
            <a:r>
              <a:rPr lang="en-US" altLang="ko-KR" sz="12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‘</a:t>
            </a:r>
            <a:r>
              <a:rPr lang="ko-KR" altLang="en-US" sz="12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사고보고체계</a:t>
            </a:r>
            <a:r>
              <a:rPr lang="en-US" altLang="ko-KR" sz="12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’</a:t>
            </a:r>
            <a:r>
              <a:rPr lang="ko-KR" altLang="en-US" sz="12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 따라 보고실시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486158" y="1185962"/>
            <a:ext cx="9613069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10.1 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응급비상연락체계</a:t>
            </a: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710568" y="6310143"/>
            <a:ext cx="9136632" cy="4924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만약 응급 재해가 발생하면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구축된 비상연락망에 따라 병원 또는 구조대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3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추진팀에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신속히 연락하고 재해자에 대해서는 구조대가 </a:t>
            </a:r>
            <a:b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도착하기 전까지 주위 사람의 도움을 받아 인공호흡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3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심페소생술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등 적절한 응급처치를 실시한다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 rot="20412881" flipH="1">
            <a:off x="3641367" y="5089909"/>
            <a:ext cx="2762593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센터에 맞게 수정</a:t>
            </a:r>
          </a:p>
        </p:txBody>
      </p:sp>
    </p:spTree>
    <p:extLst>
      <p:ext uri="{BB962C8B-B14F-4D97-AF65-F5344CB8AC3E}">
        <p14:creationId xmlns:p14="http://schemas.microsoft.com/office/powerpoint/2010/main" val="24324403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1"/>
          <p:cNvSpPr>
            <a:spLocks noGrp="1"/>
          </p:cNvSpPr>
          <p:nvPr>
            <p:ph sz="quarter" idx="13"/>
          </p:nvPr>
        </p:nvSpPr>
        <p:spPr>
          <a:xfrm>
            <a:off x="407865" y="285862"/>
            <a:ext cx="4350567" cy="429767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작업 프로그램</a:t>
            </a:r>
          </a:p>
        </p:txBody>
      </p:sp>
      <p:sp>
        <p:nvSpPr>
          <p:cNvPr id="16" name="내용 개체 틀 2"/>
          <p:cNvSpPr>
            <a:spLocks noGrp="1"/>
          </p:cNvSpPr>
          <p:nvPr>
            <p:ph sz="quarter" idx="14"/>
          </p:nvPr>
        </p:nvSpPr>
        <p:spPr>
          <a:xfrm>
            <a:off x="6031807" y="431974"/>
            <a:ext cx="4350567" cy="321940"/>
          </a:xfrm>
        </p:spPr>
        <p:txBody>
          <a:bodyPr>
            <a:normAutofit lnSpcReduction="10000"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응급처치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378148" y="1041946"/>
            <a:ext cx="10009112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10.2 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응급처치 시 관찰사항</a:t>
            </a:r>
            <a:endParaRPr lang="en-US" altLang="ko-KR" sz="13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: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응급처치 시에는 다음의 사항을 주의 깊게 관찰하고 그 내용을 의사에게 정확히 전달하여 치료에 참고하도록 한다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9653038"/>
              </p:ext>
            </p:extLst>
          </p:nvPr>
        </p:nvGraphicFramePr>
        <p:xfrm>
          <a:off x="882204" y="1439080"/>
          <a:ext cx="9937104" cy="381533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937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5334">
                <a:tc>
                  <a:txBody>
                    <a:bodyPr/>
                    <a:lstStyle/>
                    <a:p>
                      <a:pPr marL="459740" marR="100330" indent="-45974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16527780" algn="l"/>
                          <a:tab pos="-16019780" algn="l"/>
                          <a:tab pos="-15511780" algn="l"/>
                          <a:tab pos="-15003780" algn="l"/>
                          <a:tab pos="-14495780" algn="l"/>
                          <a:tab pos="-13987780" algn="l"/>
                          <a:tab pos="-13479780" algn="l"/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</a:tabLst>
                      </a:pPr>
                      <a:endParaRPr lang="ko-KR" altLang="en-US" sz="600" kern="0" spc="-50" dirty="0"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marL="459740" marR="100330" indent="-45974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16527780" algn="l"/>
                          <a:tab pos="-16019780" algn="l"/>
                          <a:tab pos="-15511780" algn="l"/>
                          <a:tab pos="-15003780" algn="l"/>
                          <a:tab pos="-14495780" algn="l"/>
                          <a:tab pos="-13987780" algn="l"/>
                          <a:tab pos="-13479780" algn="l"/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</a:tabLst>
                      </a:pPr>
                      <a:r>
                        <a:rPr lang="en-US" altLang="ko-KR" sz="1200" kern="0" spc="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-</a:t>
                      </a:r>
                      <a:r>
                        <a:rPr lang="ko-KR" altLang="en-US" sz="1200" kern="0" spc="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200" kern="0" spc="-10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의식이 있는지 확인한다</a:t>
                      </a:r>
                      <a:r>
                        <a:rPr lang="en-US" altLang="ko-KR" sz="1200" kern="0" spc="-10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.</a:t>
                      </a:r>
                      <a:endParaRPr lang="ko-KR" altLang="en-US" sz="2000" kern="0" spc="-100" dirty="0"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marL="323850" marR="100330" indent="-32385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-</a:t>
                      </a:r>
                      <a:r>
                        <a:rPr lang="ko-KR" altLang="en-US" sz="1200" kern="0" spc="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200" kern="0" spc="-7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호흡하고 있는지 확인한다</a:t>
                      </a:r>
                      <a:r>
                        <a:rPr lang="en-US" altLang="ko-KR" sz="1200" kern="0" spc="-7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. </a:t>
                      </a:r>
                      <a:r>
                        <a:rPr lang="ko-KR" altLang="en-US" sz="1200" kern="0" spc="-7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호흡이 정지되어 있으면 머리를 뒤로 젖히거나 아래턱을 밀어내어 기도를 열어주고 다시 확인</a:t>
                      </a:r>
                      <a:r>
                        <a:rPr lang="ko-KR" altLang="en-US" sz="1200" kern="0" spc="-3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한다</a:t>
                      </a:r>
                      <a:r>
                        <a:rPr lang="en-US" altLang="ko-KR" sz="1200" kern="0" spc="-3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. </a:t>
                      </a:r>
                      <a:endParaRPr lang="ko-KR" altLang="en-US" sz="1200" kern="0" spc="0" dirty="0"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marL="459740" marR="100330" indent="-45974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-</a:t>
                      </a:r>
                      <a:r>
                        <a:rPr lang="ko-KR" altLang="en-US" sz="1200" kern="0" spc="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출혈의 유무를 살펴본다</a:t>
                      </a:r>
                      <a:r>
                        <a:rPr lang="en-US" altLang="ko-KR" sz="1200" kern="0" spc="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.</a:t>
                      </a:r>
                      <a:endParaRPr lang="ko-KR" altLang="en-US" sz="1000" kern="0" spc="0" dirty="0"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marL="323850" marR="100330" indent="-32385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-</a:t>
                      </a:r>
                      <a:r>
                        <a:rPr lang="ko-KR" altLang="en-US" sz="1200" kern="0" spc="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200" kern="0" spc="-4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맥을 짚어본다</a:t>
                      </a:r>
                      <a:r>
                        <a:rPr lang="en-US" altLang="ko-KR" sz="1200" kern="0" spc="-4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. </a:t>
                      </a:r>
                      <a:r>
                        <a:rPr lang="ko-KR" altLang="en-US" sz="1200" kern="0" spc="-4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맥박이 뛰지 않는다고 느낄 때는 동공을 살펴본다</a:t>
                      </a:r>
                      <a:r>
                        <a:rPr lang="en-US" altLang="ko-KR" sz="1200" kern="0" spc="-4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. </a:t>
                      </a:r>
                      <a:r>
                        <a:rPr lang="ko-KR" altLang="en-US" sz="1200" kern="0" spc="-4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동공이 </a:t>
                      </a:r>
                      <a:r>
                        <a:rPr lang="ko-KR" altLang="en-US" sz="1200" kern="0" spc="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크게 </a:t>
                      </a:r>
                      <a:r>
                        <a:rPr lang="ko-KR" altLang="en-US" sz="1200" kern="0" spc="-4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벌어져 있으면 위험하고 동공의 크기가 좌우 틀리면 뇌에 이상이 있는 경우</a:t>
                      </a:r>
                      <a:r>
                        <a:rPr lang="ko-KR" altLang="en-US" sz="1200" kern="0" spc="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임</a:t>
                      </a:r>
                      <a:endParaRPr lang="ko-KR" altLang="en-US" sz="1000" kern="0" spc="0" dirty="0"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marL="459740" marR="100330" indent="-45974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-</a:t>
                      </a:r>
                      <a:r>
                        <a:rPr lang="ko-KR" altLang="en-US" sz="1200" kern="0" spc="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손발이 움직이는가를 본다</a:t>
                      </a:r>
                      <a:r>
                        <a:rPr lang="en-US" altLang="ko-KR" sz="1200" kern="0" spc="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.</a:t>
                      </a:r>
                      <a:endParaRPr lang="ko-KR" altLang="en-US" sz="1000" kern="0" spc="0" dirty="0"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marL="323850" marR="100330" indent="-32385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-</a:t>
                      </a:r>
                      <a:r>
                        <a:rPr lang="ko-KR" altLang="en-US" sz="1200" kern="0" spc="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200" kern="0" spc="-4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얼굴과 피부색</a:t>
                      </a:r>
                      <a:r>
                        <a:rPr lang="en-US" altLang="ko-KR" sz="1200" kern="0" spc="-4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200" kern="0" spc="-4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체온을 살펴본다</a:t>
                      </a:r>
                      <a:r>
                        <a:rPr lang="en-US" altLang="ko-KR" sz="1200" kern="0" spc="-4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. </a:t>
                      </a:r>
                      <a:r>
                        <a:rPr lang="ko-KR" altLang="en-US" sz="1200" kern="0" spc="-4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혀</a:t>
                      </a:r>
                      <a:r>
                        <a:rPr lang="en-US" altLang="ko-KR" sz="1200" kern="0" spc="-4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200" kern="0" spc="-4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입술</a:t>
                      </a:r>
                      <a:r>
                        <a:rPr lang="en-US" altLang="ko-KR" sz="1200" kern="0" spc="-4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200" kern="0" spc="-4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피부 등이 푸르스름한 색 또는 흑</a:t>
                      </a:r>
                      <a:r>
                        <a:rPr lang="ko-KR" altLang="en-US" sz="1200" kern="0" spc="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색이 되고 손톱은 암자색이 되었는지 살펴본다</a:t>
                      </a:r>
                      <a:r>
                        <a:rPr lang="en-US" altLang="ko-KR" sz="1200" kern="0" spc="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.</a:t>
                      </a:r>
                      <a:endParaRPr lang="ko-KR" altLang="en-US" sz="1000" kern="0" spc="0" dirty="0"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marL="459740" marR="100330" indent="-45974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-</a:t>
                      </a:r>
                      <a:r>
                        <a:rPr lang="ko-KR" altLang="en-US" sz="1200" kern="0" spc="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재해자의 체온을 유지하도록 보온한다</a:t>
                      </a:r>
                      <a:r>
                        <a:rPr lang="en-US" altLang="ko-KR" sz="1200" kern="0" spc="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. </a:t>
                      </a:r>
                      <a:endParaRPr lang="ko-KR" altLang="en-US" sz="1000" kern="0" spc="0" dirty="0"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marL="459740" marR="100330" indent="-45974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-</a:t>
                      </a:r>
                      <a:r>
                        <a:rPr lang="ko-KR" altLang="en-US" sz="1200" kern="0" spc="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협력자를 구한다</a:t>
                      </a:r>
                      <a:r>
                        <a:rPr lang="en-US" altLang="ko-KR" sz="1200" kern="0" spc="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.</a:t>
                      </a:r>
                      <a:endParaRPr lang="ko-KR" altLang="en-US" sz="1000" kern="0" spc="0" dirty="0"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marL="323850" marR="100330" indent="-32385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-</a:t>
                      </a:r>
                      <a:r>
                        <a:rPr lang="ko-KR" altLang="en-US" sz="1200" kern="0" spc="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재해자를 운반할 때는 서두르지 말고 재해자의 마음을 가라앉히고 되도록 재해자의 상처를 건드리지 않도록 주의하여 운반한다</a:t>
                      </a:r>
                      <a:r>
                        <a:rPr lang="en-US" altLang="ko-KR" sz="1200" kern="0" spc="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.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17907" marR="17907" marT="17907" marB="1790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모서리가 둥근 직사각형 14"/>
          <p:cNvSpPr/>
          <p:nvPr/>
        </p:nvSpPr>
        <p:spPr>
          <a:xfrm>
            <a:off x="1227204" y="5129255"/>
            <a:ext cx="1832931" cy="37146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의식</a:t>
            </a:r>
            <a:r>
              <a:rPr lang="en-US" altLang="ko-KR" sz="12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12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호흡 확인</a:t>
            </a:r>
          </a:p>
        </p:txBody>
      </p:sp>
      <p:cxnSp>
        <p:nvCxnSpPr>
          <p:cNvPr id="17" name="직선 화살표 연결선 16"/>
          <p:cNvCxnSpPr>
            <a:stCxn id="15" idx="2"/>
            <a:endCxn id="19" idx="0"/>
          </p:cNvCxnSpPr>
          <p:nvPr/>
        </p:nvCxnSpPr>
        <p:spPr>
          <a:xfrm>
            <a:off x="2143670" y="5500723"/>
            <a:ext cx="0" cy="214121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/>
          <p:cNvSpPr/>
          <p:nvPr/>
        </p:nvSpPr>
        <p:spPr>
          <a:xfrm>
            <a:off x="378148" y="4750358"/>
            <a:ext cx="2376264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10.3 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응급처치 요령</a:t>
            </a:r>
            <a:endParaRPr lang="en-US" altLang="ko-KR" sz="13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1227204" y="5714844"/>
            <a:ext cx="1832931" cy="37146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구조 요청</a:t>
            </a:r>
            <a:r>
              <a:rPr lang="en-US" altLang="ko-KR" sz="12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(119,</a:t>
            </a:r>
            <a:r>
              <a:rPr lang="ko-KR" altLang="en-US" sz="12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병원 등</a:t>
            </a:r>
            <a:r>
              <a:rPr lang="en-US" altLang="ko-KR" sz="12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ko-KR" altLang="en-US" sz="1200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1227204" y="6281383"/>
            <a:ext cx="1832931" cy="37146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응급처치 실시</a:t>
            </a:r>
          </a:p>
        </p:txBody>
      </p:sp>
      <p:cxnSp>
        <p:nvCxnSpPr>
          <p:cNvPr id="23" name="직선 화살표 연결선 22"/>
          <p:cNvCxnSpPr>
            <a:stCxn id="19" idx="2"/>
            <a:endCxn id="20" idx="0"/>
          </p:cNvCxnSpPr>
          <p:nvPr/>
        </p:nvCxnSpPr>
        <p:spPr>
          <a:xfrm>
            <a:off x="2143670" y="6086312"/>
            <a:ext cx="0" cy="195071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023394" y="6256355"/>
            <a:ext cx="3024336" cy="53860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latinLnBrk="1">
              <a:spcBef>
                <a:spcPts val="600"/>
              </a:spcBef>
              <a:defRPr sz="1400" b="1"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-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호흡이 없는 경우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인공호흡</a:t>
            </a:r>
            <a:endParaRPr lang="en-US" altLang="ko-KR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-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호흡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맥박이 없는 경우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심폐소생술</a:t>
            </a:r>
          </a:p>
        </p:txBody>
      </p:sp>
      <p:pic>
        <p:nvPicPr>
          <p:cNvPr id="25" name="_x344190640" descr="EMB0000116cba61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83"/>
          <a:stretch/>
        </p:blipFill>
        <p:spPr bwMode="auto">
          <a:xfrm>
            <a:off x="5850756" y="4930378"/>
            <a:ext cx="2894013" cy="1955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96309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1"/>
          <p:cNvSpPr>
            <a:spLocks noGrp="1"/>
          </p:cNvSpPr>
          <p:nvPr>
            <p:ph sz="quarter" idx="13"/>
          </p:nvPr>
        </p:nvSpPr>
        <p:spPr>
          <a:xfrm>
            <a:off x="407865" y="285862"/>
            <a:ext cx="4350567" cy="429767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작업 프로그램</a:t>
            </a:r>
          </a:p>
        </p:txBody>
      </p:sp>
      <p:sp>
        <p:nvSpPr>
          <p:cNvPr id="16" name="내용 개체 틀 2"/>
          <p:cNvSpPr>
            <a:spLocks noGrp="1"/>
          </p:cNvSpPr>
          <p:nvPr>
            <p:ph sz="quarter" idx="14"/>
          </p:nvPr>
        </p:nvSpPr>
        <p:spPr>
          <a:xfrm>
            <a:off x="6031807" y="431974"/>
            <a:ext cx="4350567" cy="321940"/>
          </a:xfrm>
        </p:spPr>
        <p:txBody>
          <a:bodyPr>
            <a:normAutofit lnSpcReduction="10000"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응급처치</a:t>
            </a:r>
          </a:p>
        </p:txBody>
      </p: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180" y="1354534"/>
            <a:ext cx="4248000" cy="5630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9212" y="1329978"/>
            <a:ext cx="4356000" cy="5666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extBox 25"/>
          <p:cNvSpPr txBox="1"/>
          <p:nvPr/>
        </p:nvSpPr>
        <p:spPr>
          <a:xfrm>
            <a:off x="629030" y="1108621"/>
            <a:ext cx="370967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○ 인공호흡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맥박은 뛰나 호흡이 없는 경우에 실시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ko-KR" altLang="en-US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574985" y="1108621"/>
            <a:ext cx="386516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○ 심폐소생술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호흡과 맥박이 모두 없는 경우에 실시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896319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1"/>
          <p:cNvSpPr>
            <a:spLocks noGrp="1"/>
          </p:cNvSpPr>
          <p:nvPr>
            <p:ph sz="quarter" idx="13"/>
          </p:nvPr>
        </p:nvSpPr>
        <p:spPr>
          <a:xfrm>
            <a:off x="407865" y="285862"/>
            <a:ext cx="4350567" cy="429767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작업 프로그램</a:t>
            </a:r>
          </a:p>
        </p:txBody>
      </p:sp>
      <p:sp>
        <p:nvSpPr>
          <p:cNvPr id="16" name="내용 개체 틀 2"/>
          <p:cNvSpPr>
            <a:spLocks noGrp="1"/>
          </p:cNvSpPr>
          <p:nvPr>
            <p:ph sz="quarter" idx="14"/>
          </p:nvPr>
        </p:nvSpPr>
        <p:spPr>
          <a:xfrm>
            <a:off x="6031807" y="431974"/>
            <a:ext cx="4350567" cy="321940"/>
          </a:xfrm>
        </p:spPr>
        <p:txBody>
          <a:bodyPr>
            <a:normAutofit lnSpcReduction="10000"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교육훈련의 실시 </a:t>
            </a:r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and </a:t>
            </a:r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안전보건상의 조치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361936" y="1039768"/>
            <a:ext cx="928903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11. 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교육훈련의 실시</a:t>
            </a:r>
            <a:endParaRPr lang="en-US" altLang="ko-KR" sz="13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78148" y="1329978"/>
            <a:ext cx="10009112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작업 시마다 관리감독자는 작업자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감시인 등을 대상으로 작업 전 수시안전교육을 실시한다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pPr latinLnBrk="1">
              <a:spcBef>
                <a:spcPts val="600"/>
              </a:spcBef>
            </a:pP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937846"/>
              </p:ext>
            </p:extLst>
          </p:nvPr>
        </p:nvGraphicFramePr>
        <p:xfrm>
          <a:off x="414660" y="1906042"/>
          <a:ext cx="2195736" cy="37083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195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질식재해예방 대책 수립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직사각형 13"/>
          <p:cNvSpPr/>
          <p:nvPr/>
        </p:nvSpPr>
        <p:spPr>
          <a:xfrm>
            <a:off x="378148" y="2446102"/>
            <a:ext cx="9289032" cy="1954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65" indent="-285765" latinLnBrk="1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유해가스의 종류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유해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위험성</a:t>
            </a: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" panose="05000000000000000000" pitchFamily="2" charset="2"/>
            </a:endParaRPr>
          </a:p>
          <a:p>
            <a:pPr marL="285765" indent="-285765" latinLnBrk="1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산소 및 유해가스의 농도 측정방법</a:t>
            </a: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" panose="05000000000000000000" pitchFamily="2" charset="2"/>
            </a:endParaRPr>
          </a:p>
          <a:p>
            <a:pPr marL="285765" indent="-285765" latinLnBrk="1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공기호흡기 등 보호구의 사용방법 및 보수점검요령</a:t>
            </a: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" panose="05000000000000000000" pitchFamily="2" charset="2"/>
            </a:endParaRPr>
          </a:p>
          <a:p>
            <a:pPr marL="285765" indent="-285765" latinLnBrk="1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ko-KR" altLang="en-US" sz="13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공정별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 표준작업요령</a:t>
            </a: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" panose="05000000000000000000" pitchFamily="2" charset="2"/>
            </a:endParaRPr>
          </a:p>
          <a:p>
            <a:pPr marL="285765" indent="-285765" latinLnBrk="1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사고발생 시의 대처요령</a:t>
            </a: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" panose="05000000000000000000" pitchFamily="2" charset="2"/>
            </a:endParaRPr>
          </a:p>
          <a:p>
            <a:pPr marL="285765" indent="-285765" latinLnBrk="1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응급처치요령</a:t>
            </a: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" panose="05000000000000000000" pitchFamily="2" charset="2"/>
            </a:endParaRPr>
          </a:p>
          <a:p>
            <a:pPr marL="285765" indent="-285765" latinLnBrk="1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기타 안전보건상의 조치</a:t>
            </a: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" panose="05000000000000000000" pitchFamily="2" charset="2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61936" y="4648266"/>
            <a:ext cx="928903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12. 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기타 안전보건상의 조치</a:t>
            </a:r>
            <a:endParaRPr lang="en-US" altLang="ko-KR" sz="13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486158" y="4923118"/>
            <a:ext cx="9896216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1)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통상적으로 출입할 필요가 없는 밀폐공간에 대해서는 잠금 장치를 채워서 출입을 제한한다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2)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청소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보수 등 밀폐공간에서 행하여지는 작업을 발주하는 경우에는 도급인에게 밀폐공간 출입 작업에 관한 주의사항을 주지하는 동시에 동 </a:t>
            </a: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프로그램에 규정된 조치를 발주조건에 명시한다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866901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1"/>
          <p:cNvSpPr>
            <a:spLocks noGrp="1"/>
          </p:cNvSpPr>
          <p:nvPr>
            <p:ph sz="quarter" idx="13"/>
          </p:nvPr>
        </p:nvSpPr>
        <p:spPr>
          <a:xfrm>
            <a:off x="407865" y="285862"/>
            <a:ext cx="4350567" cy="429767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작업 프로그램</a:t>
            </a:r>
          </a:p>
        </p:txBody>
      </p:sp>
      <p:sp>
        <p:nvSpPr>
          <p:cNvPr id="16" name="내용 개체 틀 2"/>
          <p:cNvSpPr>
            <a:spLocks noGrp="1"/>
          </p:cNvSpPr>
          <p:nvPr>
            <p:ph sz="quarter" idx="14"/>
          </p:nvPr>
        </p:nvSpPr>
        <p:spPr>
          <a:xfrm>
            <a:off x="6031807" y="431974"/>
            <a:ext cx="4350567" cy="321940"/>
          </a:xfrm>
        </p:spPr>
        <p:txBody>
          <a:bodyPr>
            <a:normAutofit lnSpcReduction="10000"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프로그램의 평가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361936" y="1039768"/>
            <a:ext cx="928903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13. 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프로그램의 평가</a:t>
            </a:r>
            <a:endParaRPr lang="en-US" altLang="ko-KR" sz="13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78148" y="1329978"/>
            <a:ext cx="1000911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프로그램 수행결과에 대하여 적정성을 주기적으로 평가하고 필요 시 적절한 조치를 한다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3176384"/>
              </p:ext>
            </p:extLst>
          </p:nvPr>
        </p:nvGraphicFramePr>
        <p:xfrm>
          <a:off x="414660" y="3958270"/>
          <a:ext cx="9792580" cy="7315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792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프로그램에 대한 평가는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[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별첨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2]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프로그램 평가표를 활용하여 평가하고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전체 평가결과에 대한 판정은 우수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,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양호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,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보통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미흡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불량의 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5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단계로 구분하며 판정기준은 아래와 같이 한다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.</a:t>
                      </a:r>
                    </a:p>
                    <a:p>
                      <a:pPr algn="l" latinLnBrk="1"/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=&gt; 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매년 말 평가 결과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평가표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작성 후 비치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직사각형 16"/>
          <p:cNvSpPr/>
          <p:nvPr/>
        </p:nvSpPr>
        <p:spPr>
          <a:xfrm>
            <a:off x="486158" y="1870038"/>
            <a:ext cx="9896216" cy="1954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1)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통상적으로 출입할 필요가 없는 밀폐공간에 대해서는 잠금 장치를 채워서 출입을 제한한다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2)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청소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보수 등 밀폐공간에서 행하여지는 작업을 발주하는 경우에는 외주업체에 밀폐공간 출입 작업에 관한 주의사항을 주지하는 동시에</a:t>
            </a: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</a:t>
            </a:r>
            <a:r>
              <a:rPr lang="ko-KR" altLang="en-US" sz="13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동 프로그램을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공유 한다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   </a:t>
            </a: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3)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환기대책수립의 적합성</a:t>
            </a: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4)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공기호흡기 등 보호구의 선정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사용 및 유지관리의 적정성</a:t>
            </a: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5)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응급처치체계 적정여부</a:t>
            </a: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6)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근로자에 대한 교육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훈련의 적정성 등</a:t>
            </a: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614474"/>
              </p:ext>
            </p:extLst>
          </p:nvPr>
        </p:nvGraphicFramePr>
        <p:xfrm>
          <a:off x="810196" y="4868058"/>
          <a:ext cx="8388932" cy="1764414"/>
        </p:xfrm>
        <a:graphic>
          <a:graphicData uri="http://schemas.openxmlformats.org/drawingml/2006/table">
            <a:tbl>
              <a:tblPr/>
              <a:tblGrid>
                <a:gridCol w="27963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6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63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739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평가결과</a:t>
                      </a:r>
                    </a:p>
                  </a:txBody>
                  <a:tcPr marL="17907" marR="17907" marT="17907" marB="17907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점수범위</a:t>
                      </a:r>
                    </a:p>
                  </a:txBody>
                  <a:tcPr marL="17907" marR="17907" marT="17907" marB="179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평가결과의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“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ㅇ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”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판정수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87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우수</a:t>
                      </a: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90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 이상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 이상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78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양호</a:t>
                      </a: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80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 이상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~ 90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 미만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18~19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87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보통</a:t>
                      </a: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70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 이상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~ 80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 미만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16~17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687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미흡</a:t>
                      </a: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 이상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~70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 미만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14~15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687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불량</a:t>
                      </a: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 미만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13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 이하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1438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1"/>
          <p:cNvSpPr>
            <a:spLocks noGrp="1"/>
          </p:cNvSpPr>
          <p:nvPr>
            <p:ph sz="quarter" idx="13"/>
          </p:nvPr>
        </p:nvSpPr>
        <p:spPr>
          <a:xfrm>
            <a:off x="407864" y="285862"/>
            <a:ext cx="4938837" cy="429767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별첨</a:t>
            </a:r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1. </a:t>
            </a:r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 작업 분류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198127" y="1185963"/>
            <a:ext cx="10333149" cy="57708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228612" indent="-228612" latinLnBrk="1">
              <a:spcBef>
                <a:spcPts val="600"/>
              </a:spcBef>
              <a:buAutoNum type="arabicPeriod"/>
            </a:pP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다음의 지층에 접하거나 통하는 우물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 </a:t>
            </a:r>
            <a:r>
              <a:rPr lang="ko-KR" altLang="en-US" sz="11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수직갱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  터널  </a:t>
            </a:r>
            <a:r>
              <a:rPr lang="ko-KR" altLang="en-US" sz="11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잠함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  피트 또는 그밖에 이와 유사한 것의 내부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 2" panose="05020102010507070707" pitchFamily="18" charset="2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  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가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.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상층에 물이 통과하지 않는 지층이 있는 </a:t>
            </a:r>
            <a:r>
              <a:rPr lang="ko-KR" altLang="en-US" sz="11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역암층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 중 함수 또는 용수가 없거나 적은 부분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 2" panose="05020102010507070707" pitchFamily="18" charset="2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  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나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.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제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1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철 </a:t>
            </a:r>
            <a:r>
              <a:rPr lang="ko-KR" altLang="en-US" sz="11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염류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 또는 제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1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망간 </a:t>
            </a:r>
            <a:r>
              <a:rPr lang="ko-KR" altLang="en-US" sz="11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염류를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 함유하는 지층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 2" panose="05020102010507070707" pitchFamily="18" charset="2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  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다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.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메탄  </a:t>
            </a:r>
            <a:r>
              <a:rPr lang="ko-KR" altLang="en-US" sz="11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에탄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 또는 부탄을 함유하는 지층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 2" panose="05020102010507070707" pitchFamily="18" charset="2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  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라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.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탄산수를 용출하고 있거나 용출할 우려가 있는 지층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 2" panose="05020102010507070707" pitchFamily="18" charset="2"/>
            </a:endParaRPr>
          </a:p>
          <a:p>
            <a:pPr marL="228612" indent="-228612" latinLnBrk="1">
              <a:spcBef>
                <a:spcPts val="600"/>
              </a:spcBef>
              <a:buAutoNum type="arabicPeriod" startAt="2"/>
            </a:pP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장기간 사용하지 않은 우물 등의 내부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 2" panose="05020102010507070707" pitchFamily="18" charset="2"/>
            </a:endParaRPr>
          </a:p>
          <a:p>
            <a:pPr marL="228612" indent="-228612" latinLnBrk="1">
              <a:spcBef>
                <a:spcPts val="600"/>
              </a:spcBef>
              <a:buAutoNum type="arabicPeriod" startAt="2"/>
            </a:pP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케이블  가스관 또는 지하에 부설되어 있는 </a:t>
            </a:r>
            <a:r>
              <a:rPr lang="ko-KR" altLang="en-US" sz="11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매설물을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 수용하기 위하여 지하에 부설한 </a:t>
            </a:r>
            <a:r>
              <a:rPr lang="ko-KR" altLang="en-US" sz="11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암거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  맨홀 또는 피트의 내부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 2" panose="05020102010507070707" pitchFamily="18" charset="2"/>
            </a:endParaRPr>
          </a:p>
          <a:p>
            <a:pPr marL="228612" indent="-228612" latinLnBrk="1">
              <a:spcBef>
                <a:spcPts val="600"/>
              </a:spcBef>
              <a:buAutoNum type="arabicPeriod" startAt="2"/>
            </a:pP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빗물  하천의 유수 또는 용수가 있거나 있었던 통  </a:t>
            </a:r>
            <a:r>
              <a:rPr lang="ko-KR" altLang="en-US" sz="11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암거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  맨홀 또는 피트의 내부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 2" panose="05020102010507070707" pitchFamily="18" charset="2"/>
            </a:endParaRPr>
          </a:p>
          <a:p>
            <a:pPr marL="228612" indent="-228612" latinLnBrk="1">
              <a:spcBef>
                <a:spcPts val="600"/>
              </a:spcBef>
              <a:buAutoNum type="arabicPeriod" startAt="2"/>
            </a:pP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바닷물이 있거나 있었던 </a:t>
            </a:r>
            <a:r>
              <a:rPr lang="ko-KR" altLang="en-US" sz="11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열교환기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  관  </a:t>
            </a:r>
            <a:r>
              <a:rPr lang="ko-KR" altLang="en-US" sz="11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암거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  맨홀  둑 또는 피트의 내부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 2" panose="05020102010507070707" pitchFamily="18" charset="2"/>
            </a:endParaRPr>
          </a:p>
          <a:p>
            <a:pPr marL="228612" indent="-228612" latinLnBrk="1">
              <a:spcBef>
                <a:spcPts val="600"/>
              </a:spcBef>
              <a:buAutoNum type="arabicPeriod" startAt="2"/>
            </a:pP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장기간 밀폐된 강재의 보일러  탱크  </a:t>
            </a:r>
            <a:r>
              <a:rPr lang="ko-KR" altLang="en-US" sz="11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반응탑이나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 그 밖에 그 내벽이 산화하기 쉬운 시설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(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그 내벽이 </a:t>
            </a:r>
            <a:r>
              <a:rPr lang="ko-KR" altLang="en-US" sz="11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스테인리스강으로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 된 것 또는 그 내벽의 산화를 방지하기 위하여 필요한 조치가 되어 있는 것은 제외한다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)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의 내부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 2" panose="05020102010507070707" pitchFamily="18" charset="2"/>
            </a:endParaRPr>
          </a:p>
          <a:p>
            <a:pPr marL="228612" indent="-228612" latinLnBrk="1">
              <a:spcBef>
                <a:spcPts val="600"/>
              </a:spcBef>
              <a:buAutoNum type="arabicPeriod" startAt="2"/>
            </a:pP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석탄  </a:t>
            </a:r>
            <a:r>
              <a:rPr lang="ko-KR" altLang="en-US" sz="11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아탄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  </a:t>
            </a:r>
            <a:r>
              <a:rPr lang="ko-KR" altLang="en-US" sz="11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황화광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  강재  원목  건성유  </a:t>
            </a:r>
            <a:r>
              <a:rPr lang="ko-KR" altLang="en-US" sz="11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어유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 또는 그 밖의 공기 중의 산소를 흡수하는 물질이 들어 있는 탱크 또는 </a:t>
            </a:r>
            <a:r>
              <a:rPr lang="ko-KR" altLang="en-US" sz="11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호퍼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(hopper)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등의 저장시설이나 선창의 내부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 2" panose="05020102010507070707" pitchFamily="18" charset="2"/>
            </a:endParaRPr>
          </a:p>
          <a:p>
            <a:pPr marL="228612" indent="-228612" latinLnBrk="1">
              <a:spcBef>
                <a:spcPts val="600"/>
              </a:spcBef>
              <a:buAutoNum type="arabicPeriod" startAt="2"/>
            </a:pP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천장  바닥 또는 벽이 건성유를 함유하는 페인트로 도장되어 그 페인트가 건조되기 전에 밀폐된 지하실  창고 또는 탱크 등 통풍이 불충분한 시설의 내부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 2" panose="05020102010507070707" pitchFamily="18" charset="2"/>
            </a:endParaRPr>
          </a:p>
          <a:p>
            <a:pPr marL="228612" indent="-228612" latinLnBrk="1">
              <a:spcBef>
                <a:spcPts val="600"/>
              </a:spcBef>
              <a:buAutoNum type="arabicPeriod" startAt="2"/>
            </a:pP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곡물 또는 사료의 저장용 창고 또는 피트의 내부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,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과일의 숙성용 창고 또는 피트의 내부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,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종자의 발아용 창고 또는 피트의 내부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, </a:t>
            </a:r>
            <a:r>
              <a:rPr lang="ko-KR" altLang="en-US" sz="11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버섯류의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 재배를 위하여 사용하고 있는 </a:t>
            </a:r>
            <a:r>
              <a:rPr lang="ko-KR" altLang="en-US" sz="11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사일로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(silo),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그 밖에 곡물 또는 사료종자를 적재한 선창의 내부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 2" panose="05020102010507070707" pitchFamily="18" charset="2"/>
            </a:endParaRPr>
          </a:p>
          <a:p>
            <a:pPr marL="228612" indent="-228612" latinLnBrk="1">
              <a:spcBef>
                <a:spcPts val="600"/>
              </a:spcBef>
              <a:buAutoNum type="arabicPeriod" startAt="2"/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간장  주류  효모 그 밖에 발효하는 물품이 들어 있거나 들어 있었던 탱크  창고 또는 양조주의 내부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 2" panose="05020102010507070707" pitchFamily="18" charset="2"/>
            </a:endParaRPr>
          </a:p>
          <a:p>
            <a:pPr marL="228612" indent="-228612" latinLnBrk="1">
              <a:spcBef>
                <a:spcPts val="600"/>
              </a:spcBef>
              <a:buAutoNum type="arabicPeriod" startAt="2"/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분뇨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,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오염된 흙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,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썩은 물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,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폐수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,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오수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,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그 밖에 부패하거나 분해되기 쉬운 물질이 들어있는 정화조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 </a:t>
            </a:r>
            <a:r>
              <a:rPr lang="ko-KR" altLang="en-US" sz="11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침전조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  </a:t>
            </a:r>
            <a:r>
              <a:rPr lang="ko-KR" altLang="en-US" sz="11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집수조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  탱크  </a:t>
            </a:r>
            <a:r>
              <a:rPr lang="ko-KR" altLang="en-US" sz="11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암거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  맨홀  관 또는 피트의  내부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 2" panose="05020102010507070707" pitchFamily="18" charset="2"/>
            </a:endParaRPr>
          </a:p>
          <a:p>
            <a:pPr marL="228612" indent="-228612" latinLnBrk="1">
              <a:spcBef>
                <a:spcPts val="600"/>
              </a:spcBef>
              <a:buAutoNum type="arabicPeriod" startAt="2"/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드라이아이스를 사용하는 냉장고  </a:t>
            </a:r>
            <a:r>
              <a:rPr lang="ko-KR" altLang="en-US" sz="11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냉동고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  냉동화물자동차 또는 냉동컨테이너의 내부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 2" panose="05020102010507070707" pitchFamily="18" charset="2"/>
            </a:endParaRPr>
          </a:p>
          <a:p>
            <a:pPr marL="228612" indent="-228612" latinLnBrk="1">
              <a:spcBef>
                <a:spcPts val="600"/>
              </a:spcBef>
              <a:buAutoNum type="arabicPeriod" startAt="2"/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헬륨  </a:t>
            </a:r>
            <a:r>
              <a:rPr lang="ko-KR" altLang="en-US" sz="11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아르곤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  질소  프레온 </a:t>
            </a:r>
            <a:r>
              <a:rPr lang="ko-KR" altLang="en-US" sz="110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 이산화탄소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또는 그 밖의 불활성기체가 들어 있거나 있었던 보일러  탱크 또는 </a:t>
            </a:r>
            <a:r>
              <a:rPr lang="ko-KR" altLang="en-US" sz="11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반응탑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 등 시설의 내부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 2" panose="05020102010507070707" pitchFamily="18" charset="2"/>
            </a:endParaRPr>
          </a:p>
          <a:p>
            <a:pPr marL="228612" indent="-228612" latinLnBrk="1">
              <a:spcBef>
                <a:spcPts val="600"/>
              </a:spcBef>
              <a:buAutoNum type="arabicPeriod" startAt="2"/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산소농도가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18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퍼센트 미만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23.5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퍼센트 이상</a:t>
            </a:r>
            <a:r>
              <a:rPr lang="en-US" altLang="ko-KR" sz="110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, </a:t>
            </a:r>
            <a:r>
              <a:rPr lang="ko-KR" altLang="en-US" sz="110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이산화탄소농도가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1.5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퍼센트 이상</a:t>
            </a:r>
            <a:r>
              <a:rPr lang="en-US" altLang="ko-KR" sz="110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, </a:t>
            </a:r>
            <a:r>
              <a:rPr lang="ko-KR" altLang="en-US" sz="110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일산화탄소 농도가 </a:t>
            </a:r>
            <a:r>
              <a:rPr lang="en-US" altLang="ko-KR" sz="110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30ppm </a:t>
            </a:r>
            <a:r>
              <a:rPr lang="ko-KR" altLang="en-US" sz="110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이상</a:t>
            </a:r>
            <a:r>
              <a:rPr lang="en-US" altLang="ko-KR" sz="110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 </a:t>
            </a:r>
            <a:r>
              <a:rPr lang="ko-KR" altLang="en-US" sz="110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또는 황화수소농도가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10ppm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이상인 장소의 내부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 2" panose="05020102010507070707" pitchFamily="18" charset="2"/>
            </a:endParaRPr>
          </a:p>
          <a:p>
            <a:pPr marL="228612" indent="-228612" latinLnBrk="1">
              <a:spcBef>
                <a:spcPts val="600"/>
              </a:spcBef>
              <a:buAutoNum type="arabicPeriod" startAt="2"/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갈탄  목탄  연탄난로를 사용하는 콘크리트 양생장소 및 가설숙소 내부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 2" panose="05020102010507070707" pitchFamily="18" charset="2"/>
            </a:endParaRPr>
          </a:p>
          <a:p>
            <a:pPr marL="228612" indent="-228612" latinLnBrk="1">
              <a:spcBef>
                <a:spcPts val="600"/>
              </a:spcBef>
              <a:buAutoNum type="arabicPeriod" startAt="2"/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화학물질이 들어있던 반응기 및 탱크의 내부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 2" panose="05020102010507070707" pitchFamily="18" charset="2"/>
            </a:endParaRPr>
          </a:p>
          <a:p>
            <a:pPr marL="228612" indent="-228612" latinLnBrk="1">
              <a:spcBef>
                <a:spcPts val="600"/>
              </a:spcBef>
              <a:buAutoNum type="arabicPeriod" startAt="2"/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유해가스가 들어있던 배관이나 </a:t>
            </a:r>
            <a:r>
              <a:rPr lang="ko-KR" altLang="en-US" sz="11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집진기의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2" panose="05020102010507070707" pitchFamily="18" charset="2"/>
              </a:rPr>
              <a:t> 내부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 2" panose="05020102010507070707" pitchFamily="18" charset="2"/>
            </a:endParaRPr>
          </a:p>
          <a:p>
            <a:pPr marL="228612" indent="-228612" latinLnBrk="1">
              <a:spcBef>
                <a:spcPts val="600"/>
              </a:spcBef>
              <a:buAutoNum type="arabicPeriod" startAt="2"/>
            </a:pPr>
            <a:r>
              <a:rPr lang="en-US" altLang="ko-KR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근로자가 상주하지 않는 공간으로서 출입이 제한되어 있는 장소의 내부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126120" y="857570"/>
            <a:ext cx="928903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밀폐공간</a:t>
            </a: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</a:t>
            </a: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618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 제</a:t>
            </a: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호 관련</a:t>
            </a: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657842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1"/>
          <p:cNvSpPr>
            <a:spLocks noGrp="1"/>
          </p:cNvSpPr>
          <p:nvPr>
            <p:ph sz="quarter" idx="13"/>
          </p:nvPr>
        </p:nvSpPr>
        <p:spPr>
          <a:xfrm>
            <a:off x="407864" y="285862"/>
            <a:ext cx="4938837" cy="429767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별첨</a:t>
            </a:r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2. </a:t>
            </a:r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밀폐작업 프로그램 평가표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4412" y="969938"/>
            <a:ext cx="4671520" cy="6228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0303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1"/>
          <p:cNvSpPr>
            <a:spLocks noGrp="1"/>
          </p:cNvSpPr>
          <p:nvPr>
            <p:ph sz="quarter" idx="13"/>
          </p:nvPr>
        </p:nvSpPr>
        <p:spPr>
          <a:xfrm>
            <a:off x="407864" y="285862"/>
            <a:ext cx="4938837" cy="429767"/>
          </a:xfrm>
        </p:spPr>
        <p:txBody>
          <a:bodyPr>
            <a:normAutofit/>
          </a:bodyPr>
          <a:lstStyle/>
          <a:p>
            <a:r>
              <a:rPr lang="ko-KR" altLang="en-US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별첨</a:t>
            </a:r>
            <a:r>
              <a:rPr lang="en-US" altLang="ko-KR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3. </a:t>
            </a:r>
            <a:r>
              <a:rPr lang="ko-KR" altLang="en-US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밀폐작업 출입 관리대장</a:t>
            </a:r>
            <a:endParaRPr lang="ko-KR" altLang="en-US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4D5F2E4-12D7-47CB-A5ED-4560AC4CB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66" y="1654014"/>
            <a:ext cx="10459268" cy="3649083"/>
          </a:xfrm>
          <a:prstGeom prst="rect">
            <a:avLst/>
          </a:prstGeom>
        </p:spPr>
      </p:pic>
      <p:graphicFrame>
        <p:nvGraphicFramePr>
          <p:cNvPr id="4" name="개체 3">
            <a:extLst>
              <a:ext uri="{FF2B5EF4-FFF2-40B4-BE49-F238E27FC236}">
                <a16:creationId xmlns:a16="http://schemas.microsoft.com/office/drawing/2014/main" id="{3FF50DF6-140F-480D-BE48-7D80D6641E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7796619"/>
              </p:ext>
            </p:extLst>
          </p:nvPr>
        </p:nvGraphicFramePr>
        <p:xfrm>
          <a:off x="9307140" y="6154514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Worksheet" showAsIcon="1" r:id="rId4" imgW="914400" imgH="771525" progId="Excel.Sheet.12">
                  <p:embed/>
                </p:oleObj>
              </mc:Choice>
              <mc:Fallback>
                <p:oleObj name="Worksheet" showAsIcon="1" r:id="rId4" imgW="914400" imgH="77152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307140" y="6154514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38413925"/>
      </p:ext>
    </p:extLst>
  </p:cSld>
  <p:clrMapOvr>
    <a:masterClrMapping/>
  </p:clrMapOvr>
</p:sld>
</file>

<file path=ppt/theme/theme1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23659</TotalTime>
  <Words>4415</Words>
  <Application>Microsoft Office PowerPoint</Application>
  <PresentationFormat>사용자 지정</PresentationFormat>
  <Paragraphs>807</Paragraphs>
  <Slides>34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3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34</vt:i4>
      </vt:variant>
    </vt:vector>
  </HeadingPairs>
  <TitlesOfParts>
    <vt:vector size="50" baseType="lpstr">
      <vt:lpstr>LG스마트체 Regular</vt:lpstr>
      <vt:lpstr>LG스마트체 SemiBold</vt:lpstr>
      <vt:lpstr>Cambria Math</vt:lpstr>
      <vt:lpstr>Arial</vt:lpstr>
      <vt:lpstr>LG스마트체2.0 Regular</vt:lpstr>
      <vt:lpstr>Wingdings 2</vt:lpstr>
      <vt:lpstr>맑은 고딕</vt:lpstr>
      <vt:lpstr>LG스마트체2.0 Bold</vt:lpstr>
      <vt:lpstr>굴림</vt:lpstr>
      <vt:lpstr>LG스마트체2.0 SemiBold</vt:lpstr>
      <vt:lpstr>Wingdings</vt:lpstr>
      <vt:lpstr>1_디자인 사용자 지정</vt:lpstr>
      <vt:lpstr>디자인 사용자 지정</vt:lpstr>
      <vt:lpstr>2_디자인 사용자 지정</vt:lpstr>
      <vt:lpstr>Worksheet</vt:lpstr>
      <vt:lpstr>Microsoft Excel 워크시트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PI TFT</dc:creator>
  <cp:lastModifiedBy>Administrator</cp:lastModifiedBy>
  <cp:revision>1058</cp:revision>
  <cp:lastPrinted>2019-08-27T04:46:23Z</cp:lastPrinted>
  <dcterms:created xsi:type="dcterms:W3CDTF">2014-09-22T05:44:49Z</dcterms:created>
  <dcterms:modified xsi:type="dcterms:W3CDTF">2024-12-20T07:47:05Z</dcterms:modified>
</cp:coreProperties>
</file>